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74" r:id="rId4"/>
    <p:sldId id="275"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4" d="100"/>
          <a:sy n="154" d="100"/>
        </p:scale>
        <p:origin x="155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8214C2-D4F3-45B0-8B29-C0EBBE7B5F47}"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E0452-2469-4611-B5CE-032B48C36372}" type="slidenum">
              <a:rPr lang="zh-CN" altLang="en-US" smtClean="0"/>
              <a:t>‹#›</a:t>
            </a:fld>
            <a:endParaRPr lang="zh-CN" altLang="en-US"/>
          </a:p>
        </p:txBody>
      </p:sp>
    </p:spTree>
    <p:extLst>
      <p:ext uri="{BB962C8B-B14F-4D97-AF65-F5344CB8AC3E}">
        <p14:creationId xmlns:p14="http://schemas.microsoft.com/office/powerpoint/2010/main" val="3218141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260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Rectangle 1"/>
          <p:cNvSpPr/>
          <p:nvPr/>
        </p:nvSpPr>
        <p:spPr>
          <a:xfrm>
            <a:off x="0" y="2011680"/>
            <a:ext cx="9144000" cy="1828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35024"/>
            <a:ext cx="8229600" cy="731520"/>
          </a:xfrm>
          <a:prstGeom prst="rect">
            <a:avLst/>
          </a:prstGeom>
          <a:noFill/>
        </p:spPr>
        <p:txBody>
          <a:bodyPr wrap="square">
            <a:spAutoFit/>
          </a:bodyPr>
          <a:lstStyle/>
          <a:p>
            <a:pPr algn="l">
              <a:defRPr sz="4000" b="1">
                <a:solidFill>
                  <a:srgbClr val="FFFFFF"/>
                </a:solidFill>
                <a:latin typeface="Arial"/>
              </a:defRPr>
            </a:pPr>
            <a:r>
              <a:rPr dirty="0" err="1"/>
              <a:t>微境剧场</a:t>
            </a:r>
            <a:r>
              <a:rPr lang="en-US" dirty="0"/>
              <a:t>             </a:t>
            </a:r>
            <a:r>
              <a:rPr lang="en-US" dirty="0" err="1">
                <a:latin typeface="Times New Roman" panose="02020603050405020304" pitchFamily="18" charset="0"/>
                <a:cs typeface="Times New Roman" panose="02020603050405020304" pitchFamily="18" charset="0"/>
              </a:rPr>
              <a:t>W</a:t>
            </a:r>
            <a:r>
              <a:rPr lang="en-US" altLang="zh-CN" dirty="0" err="1">
                <a:latin typeface="Times New Roman" panose="02020603050405020304" pitchFamily="18" charset="0"/>
                <a:cs typeface="Times New Roman" panose="02020603050405020304" pitchFamily="18" charset="0"/>
              </a:rPr>
              <a:t>eiJing</a:t>
            </a:r>
            <a:r>
              <a:rPr lang="en-US" altLang="zh-CN" dirty="0">
                <a:latin typeface="Times New Roman" panose="02020603050405020304" pitchFamily="18" charset="0"/>
                <a:cs typeface="Times New Roman" panose="02020603050405020304" pitchFamily="18" charset="0"/>
              </a:rPr>
              <a:t> Theater</a:t>
            </a:r>
            <a:endParaRPr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88775" y="2106459"/>
            <a:ext cx="8229600" cy="1200329"/>
          </a:xfrm>
          <a:prstGeom prst="rect">
            <a:avLst/>
          </a:prstGeom>
          <a:noFill/>
        </p:spPr>
        <p:txBody>
          <a:bodyPr wrap="square">
            <a:spAutoFit/>
          </a:bodyPr>
          <a:lstStyle/>
          <a:p>
            <a:pPr>
              <a:defRPr sz="3600" b="1">
                <a:solidFill>
                  <a:srgbClr val="1C7293"/>
                </a:solidFill>
                <a:latin typeface="Arial"/>
              </a:defRPr>
            </a:pPr>
            <a:r>
              <a:rPr lang="zh-CN" altLang="en-US" dirty="0"/>
              <a:t>基于文心大模型的桌面微缩剧场多智能体演绎系统</a:t>
            </a:r>
            <a:endParaRPr dirty="0"/>
          </a:p>
        </p:txBody>
      </p:sp>
      <p:sp>
        <p:nvSpPr>
          <p:cNvPr id="5" name="TextBox 4"/>
          <p:cNvSpPr txBox="1"/>
          <p:nvPr/>
        </p:nvSpPr>
        <p:spPr>
          <a:xfrm>
            <a:off x="457200" y="3303449"/>
            <a:ext cx="8229600" cy="457200"/>
          </a:xfrm>
          <a:prstGeom prst="rect">
            <a:avLst/>
          </a:prstGeom>
          <a:noFill/>
        </p:spPr>
        <p:txBody>
          <a:bodyPr wrap="none">
            <a:spAutoFit/>
          </a:bodyPr>
          <a:lstStyle/>
          <a:p>
            <a:pPr>
              <a:defRPr sz="1800">
                <a:solidFill>
                  <a:srgbClr val="F0F0F0"/>
                </a:solidFill>
              </a:defRPr>
            </a:pPr>
            <a:r>
              <a:rPr dirty="0" err="1"/>
              <a:t>从创意生成到机器人实时控制的全链路技术方案</a:t>
            </a:r>
            <a:endParaRPr dirty="0"/>
          </a:p>
        </p:txBody>
      </p:sp>
      <p:sp>
        <p:nvSpPr>
          <p:cNvPr id="6" name="Rectangle 5"/>
          <p:cNvSpPr/>
          <p:nvPr/>
        </p:nvSpPr>
        <p:spPr>
          <a:xfrm>
            <a:off x="5943600" y="3474720"/>
            <a:ext cx="2743200" cy="1371600"/>
          </a:xfrm>
          <a:prstGeom prst="rect">
            <a:avLst/>
          </a:prstGeom>
          <a:solidFill>
            <a:srgbClr val="1E3A5A"/>
          </a:solidFill>
          <a:ln w="25400">
            <a:solidFill>
              <a:srgbClr val="1C729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AAAAAA"/>
                </a:solidFill>
              </a:defRPr>
            </a:pPr>
            <a:r>
              <a:t>[IMAGE]</a:t>
            </a:r>
            <a:br/>
            <a:r>
              <a:t>科技感封面图</a:t>
            </a:r>
          </a:p>
        </p:txBody>
      </p:sp>
      <p:pic>
        <p:nvPicPr>
          <p:cNvPr id="11" name="图片 10">
            <a:extLst>
              <a:ext uri="{FF2B5EF4-FFF2-40B4-BE49-F238E27FC236}">
                <a16:creationId xmlns:a16="http://schemas.microsoft.com/office/drawing/2014/main" id="{0710673D-04E8-D39F-4247-7AD44C042C1F}"/>
              </a:ext>
            </a:extLst>
          </p:cNvPr>
          <p:cNvPicPr>
            <a:picLocks noChangeAspect="1"/>
          </p:cNvPicPr>
          <p:nvPr/>
        </p:nvPicPr>
        <p:blipFill>
          <a:blip r:embed="rId2"/>
          <a:stretch>
            <a:fillRect/>
          </a:stretch>
        </p:blipFill>
        <p:spPr>
          <a:xfrm>
            <a:off x="5512158" y="2926080"/>
            <a:ext cx="3449292" cy="19859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项目背景与目标</a:t>
            </a:r>
          </a:p>
        </p:txBody>
      </p:sp>
      <p:sp>
        <p:nvSpPr>
          <p:cNvPr id="3" name="TextBox 2"/>
          <p:cNvSpPr txBox="1"/>
          <p:nvPr/>
        </p:nvSpPr>
        <p:spPr>
          <a:xfrm>
            <a:off x="457200" y="914400"/>
            <a:ext cx="3657600" cy="365760"/>
          </a:xfrm>
          <a:prstGeom prst="rect">
            <a:avLst/>
          </a:prstGeom>
          <a:noFill/>
        </p:spPr>
        <p:txBody>
          <a:bodyPr wrap="none">
            <a:spAutoFit/>
          </a:bodyPr>
          <a:lstStyle/>
          <a:p>
            <a:pPr>
              <a:defRPr sz="2000" b="1">
                <a:solidFill>
                  <a:srgbClr val="1C7293"/>
                </a:solidFill>
              </a:defRPr>
            </a:pPr>
            <a:r>
              <a:t>项目背景</a:t>
            </a:r>
          </a:p>
        </p:txBody>
      </p:sp>
      <p:sp>
        <p:nvSpPr>
          <p:cNvPr id="4" name="TextBox 3"/>
          <p:cNvSpPr txBox="1"/>
          <p:nvPr/>
        </p:nvSpPr>
        <p:spPr>
          <a:xfrm>
            <a:off x="457200" y="1371600"/>
            <a:ext cx="5029200" cy="1097280"/>
          </a:xfrm>
          <a:prstGeom prst="rect">
            <a:avLst/>
          </a:prstGeom>
          <a:noFill/>
        </p:spPr>
        <p:txBody>
          <a:bodyPr wrap="square">
            <a:spAutoFit/>
          </a:bodyPr>
          <a:lstStyle/>
          <a:p>
            <a:pPr algn="l">
              <a:defRPr sz="1300">
                <a:solidFill>
                  <a:srgbClr val="F0F0F0"/>
                </a:solidFill>
                <a:latin typeface="Arial"/>
              </a:defRPr>
            </a:pPr>
            <a:r>
              <a:t>• 微境剧场项目旨在构建一款从创意输入到内容生成再到执行层消费的完整软件中枢</a:t>
            </a:r>
          </a:p>
          <a:p>
            <a:pPr algn="l">
              <a:defRPr sz="1300">
                <a:solidFill>
                  <a:srgbClr val="F0F0F0"/>
                </a:solidFill>
                <a:latin typeface="Arial"/>
              </a:defRPr>
            </a:pPr>
            <a:r>
              <a:t>• 实现桌面微缩剧场的智能演绎，将人工智能与传统机器人控制相结合</a:t>
            </a:r>
          </a:p>
          <a:p>
            <a:pPr algn="l">
              <a:defRPr sz="1300">
                <a:solidFill>
                  <a:srgbClr val="F0F0F0"/>
                </a:solidFill>
                <a:latin typeface="Arial"/>
              </a:defRPr>
            </a:pPr>
            <a:r>
              <a:t>• 核心目标是打造一个端到端的智能创作与执行平台</a:t>
            </a:r>
          </a:p>
        </p:txBody>
      </p:sp>
      <p:sp>
        <p:nvSpPr>
          <p:cNvPr id="5" name="TextBox 4"/>
          <p:cNvSpPr txBox="1"/>
          <p:nvPr/>
        </p:nvSpPr>
        <p:spPr>
          <a:xfrm>
            <a:off x="457200" y="2560320"/>
            <a:ext cx="3657600" cy="365760"/>
          </a:xfrm>
          <a:prstGeom prst="rect">
            <a:avLst/>
          </a:prstGeom>
          <a:noFill/>
        </p:spPr>
        <p:txBody>
          <a:bodyPr wrap="none">
            <a:spAutoFit/>
          </a:bodyPr>
          <a:lstStyle/>
          <a:p>
            <a:pPr>
              <a:defRPr sz="2000" b="1">
                <a:solidFill>
                  <a:srgbClr val="1C7293"/>
                </a:solidFill>
              </a:defRPr>
            </a:pPr>
            <a:r>
              <a:t>四大核心目标</a:t>
            </a:r>
          </a:p>
        </p:txBody>
      </p:sp>
      <p:sp>
        <p:nvSpPr>
          <p:cNvPr id="6" name="Rounded Rectangle 5"/>
          <p:cNvSpPr/>
          <p:nvPr/>
        </p:nvSpPr>
        <p:spPr>
          <a:xfrm>
            <a:off x="457200" y="3017520"/>
            <a:ext cx="393192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3108960"/>
            <a:ext cx="3657600" cy="365760"/>
          </a:xfrm>
          <a:prstGeom prst="rect">
            <a:avLst/>
          </a:prstGeom>
          <a:noFill/>
        </p:spPr>
        <p:txBody>
          <a:bodyPr wrap="none">
            <a:spAutoFit/>
          </a:bodyPr>
          <a:lstStyle/>
          <a:p>
            <a:pPr>
              <a:defRPr sz="1300" b="1">
                <a:solidFill>
                  <a:srgbClr val="FFFFFF"/>
                </a:solidFill>
              </a:defRPr>
            </a:pPr>
            <a:r>
              <a:t>具身智能展示</a:t>
            </a:r>
          </a:p>
        </p:txBody>
      </p:sp>
      <p:sp>
        <p:nvSpPr>
          <p:cNvPr id="8" name="TextBox 7"/>
          <p:cNvSpPr txBox="1"/>
          <p:nvPr/>
        </p:nvSpPr>
        <p:spPr>
          <a:xfrm>
            <a:off x="594360" y="3474720"/>
            <a:ext cx="3657600" cy="457200"/>
          </a:xfrm>
          <a:prstGeom prst="rect">
            <a:avLst/>
          </a:prstGeom>
          <a:noFill/>
        </p:spPr>
        <p:txBody>
          <a:bodyPr wrap="square">
            <a:spAutoFit/>
          </a:bodyPr>
          <a:lstStyle/>
          <a:p>
            <a:pPr>
              <a:defRPr sz="1000">
                <a:solidFill>
                  <a:srgbClr val="F0F0F0"/>
                </a:solidFill>
              </a:defRPr>
            </a:pPr>
            <a:r>
              <a:t>• 将语言角色、结构化剧本转换为机器人可执行的动作序列，实现AI与物理世界的连接</a:t>
            </a:r>
          </a:p>
        </p:txBody>
      </p:sp>
      <p:sp>
        <p:nvSpPr>
          <p:cNvPr id="9" name="Rounded Rectangle 8"/>
          <p:cNvSpPr/>
          <p:nvPr/>
        </p:nvSpPr>
        <p:spPr>
          <a:xfrm>
            <a:off x="4572000" y="3017520"/>
            <a:ext cx="393192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09160" y="3108960"/>
            <a:ext cx="3657600" cy="365760"/>
          </a:xfrm>
          <a:prstGeom prst="rect">
            <a:avLst/>
          </a:prstGeom>
          <a:noFill/>
        </p:spPr>
        <p:txBody>
          <a:bodyPr wrap="none">
            <a:spAutoFit/>
          </a:bodyPr>
          <a:lstStyle/>
          <a:p>
            <a:pPr>
              <a:defRPr sz="1300" b="1">
                <a:solidFill>
                  <a:srgbClr val="FFFFFF"/>
                </a:solidFill>
              </a:defRPr>
            </a:pPr>
            <a:r>
              <a:t>多智能体协作</a:t>
            </a:r>
          </a:p>
        </p:txBody>
      </p:sp>
      <p:sp>
        <p:nvSpPr>
          <p:cNvPr id="11" name="TextBox 10"/>
          <p:cNvSpPr txBox="1"/>
          <p:nvPr/>
        </p:nvSpPr>
        <p:spPr>
          <a:xfrm>
            <a:off x="4709160" y="3474720"/>
            <a:ext cx="3657600" cy="457200"/>
          </a:xfrm>
          <a:prstGeom prst="rect">
            <a:avLst/>
          </a:prstGeom>
          <a:noFill/>
        </p:spPr>
        <p:txBody>
          <a:bodyPr wrap="square">
            <a:spAutoFit/>
          </a:bodyPr>
          <a:lstStyle/>
          <a:p>
            <a:pPr>
              <a:defRPr sz="1000">
                <a:solidFill>
                  <a:srgbClr val="F0F0F0"/>
                </a:solidFill>
              </a:defRPr>
            </a:pPr>
            <a:r>
              <a:t>• 通过 LangChain 体系编排创作访谈、剧本改写、角色提取、分镜拆解等专职 Agent，形成完整的创作流水线</a:t>
            </a:r>
          </a:p>
        </p:txBody>
      </p:sp>
      <p:sp>
        <p:nvSpPr>
          <p:cNvPr id="12" name="Rounded Rectangle 11"/>
          <p:cNvSpPr/>
          <p:nvPr/>
        </p:nvSpPr>
        <p:spPr>
          <a:xfrm>
            <a:off x="457200" y="4114800"/>
            <a:ext cx="393192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4206240"/>
            <a:ext cx="3657600" cy="365760"/>
          </a:xfrm>
          <a:prstGeom prst="rect">
            <a:avLst/>
          </a:prstGeom>
          <a:noFill/>
        </p:spPr>
        <p:txBody>
          <a:bodyPr wrap="none">
            <a:spAutoFit/>
          </a:bodyPr>
          <a:lstStyle/>
          <a:p>
            <a:pPr>
              <a:defRPr sz="1300" b="1">
                <a:solidFill>
                  <a:srgbClr val="FFFFFF"/>
                </a:solidFill>
              </a:defRPr>
            </a:pPr>
            <a:r>
              <a:t>实时控制</a:t>
            </a:r>
          </a:p>
        </p:txBody>
      </p:sp>
      <p:sp>
        <p:nvSpPr>
          <p:cNvPr id="14" name="TextBox 13"/>
          <p:cNvSpPr txBox="1"/>
          <p:nvPr/>
        </p:nvSpPr>
        <p:spPr>
          <a:xfrm>
            <a:off x="594360" y="4572000"/>
            <a:ext cx="3657600" cy="457200"/>
          </a:xfrm>
          <a:prstGeom prst="rect">
            <a:avLst/>
          </a:prstGeom>
          <a:noFill/>
        </p:spPr>
        <p:txBody>
          <a:bodyPr wrap="square">
            <a:spAutoFit/>
          </a:bodyPr>
          <a:lstStyle/>
          <a:p>
            <a:pPr>
              <a:defRPr sz="1000">
                <a:solidFill>
                  <a:srgbClr val="F0F0F0"/>
                </a:solidFill>
              </a:defRPr>
            </a:pPr>
            <a:r>
              <a:t>• 通过局域网 HTTP 实现对机器人的实时角度查询与舵机控制，支持双向数据通信</a:t>
            </a:r>
          </a:p>
        </p:txBody>
      </p:sp>
      <p:sp>
        <p:nvSpPr>
          <p:cNvPr id="15" name="Rounded Rectangle 14"/>
          <p:cNvSpPr/>
          <p:nvPr/>
        </p:nvSpPr>
        <p:spPr>
          <a:xfrm>
            <a:off x="4572000" y="4114800"/>
            <a:ext cx="393192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09160" y="4206240"/>
            <a:ext cx="3657600" cy="365760"/>
          </a:xfrm>
          <a:prstGeom prst="rect">
            <a:avLst/>
          </a:prstGeom>
          <a:noFill/>
        </p:spPr>
        <p:txBody>
          <a:bodyPr wrap="none">
            <a:spAutoFit/>
          </a:bodyPr>
          <a:lstStyle/>
          <a:p>
            <a:pPr>
              <a:defRPr sz="1300" b="1">
                <a:solidFill>
                  <a:srgbClr val="FFFFFF"/>
                </a:solidFill>
              </a:defRPr>
            </a:pPr>
            <a:r>
              <a:t>快速迭代</a:t>
            </a:r>
          </a:p>
        </p:txBody>
      </p:sp>
      <p:sp>
        <p:nvSpPr>
          <p:cNvPr id="17" name="TextBox 16"/>
          <p:cNvSpPr txBox="1"/>
          <p:nvPr/>
        </p:nvSpPr>
        <p:spPr>
          <a:xfrm>
            <a:off x="4709160" y="4572000"/>
            <a:ext cx="3657600" cy="457200"/>
          </a:xfrm>
          <a:prstGeom prst="rect">
            <a:avLst/>
          </a:prstGeom>
          <a:noFill/>
        </p:spPr>
        <p:txBody>
          <a:bodyPr wrap="square">
            <a:spAutoFit/>
          </a:bodyPr>
          <a:lstStyle/>
          <a:p>
            <a:pPr>
              <a:defRPr sz="1000">
                <a:solidFill>
                  <a:srgbClr val="F0F0F0"/>
                </a:solidFill>
              </a:defRPr>
            </a:pPr>
            <a:r>
              <a:t>• 利用 3D 打印技术实现机器人结构的快速原型开发，大幅缩短研发周期</a:t>
            </a:r>
          </a:p>
        </p:txBody>
      </p:sp>
      <p:sp>
        <p:nvSpPr>
          <p:cNvPr id="18" name="Rectangle 17"/>
          <p:cNvSpPr/>
          <p:nvPr/>
        </p:nvSpPr>
        <p:spPr>
          <a:xfrm>
            <a:off x="5883499" y="274320"/>
            <a:ext cx="2743200" cy="1005840"/>
          </a:xfrm>
          <a:prstGeom prst="rect">
            <a:avLst/>
          </a:prstGeom>
          <a:solidFill>
            <a:srgbClr val="1E3A5A"/>
          </a:solidFill>
          <a:ln w="25400">
            <a:solidFill>
              <a:srgbClr val="1C729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AAAAAA"/>
                </a:solidFill>
              </a:defRPr>
            </a:pPr>
            <a:r>
              <a:t>[IMAGE]</a:t>
            </a:r>
            <a:br/>
            <a:r>
              <a:t>具身智能示意图</a:t>
            </a:r>
          </a:p>
        </p:txBody>
      </p:sp>
      <p:pic>
        <p:nvPicPr>
          <p:cNvPr id="20" name="图片 19">
            <a:extLst>
              <a:ext uri="{FF2B5EF4-FFF2-40B4-BE49-F238E27FC236}">
                <a16:creationId xmlns:a16="http://schemas.microsoft.com/office/drawing/2014/main" id="{81289FC9-7C4B-F228-9517-2917016121A4}"/>
              </a:ext>
            </a:extLst>
          </p:cNvPr>
          <p:cNvPicPr>
            <a:picLocks noChangeAspect="1"/>
          </p:cNvPicPr>
          <p:nvPr/>
        </p:nvPicPr>
        <p:blipFill>
          <a:blip r:embed="rId2"/>
          <a:stretch>
            <a:fillRect/>
          </a:stretch>
        </p:blipFill>
        <p:spPr>
          <a:xfrm>
            <a:off x="5475850" y="251311"/>
            <a:ext cx="3558497" cy="21491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sp>
        <p:nvSpPr>
          <p:cNvPr id="3" name="Shape 1"/>
          <p:cNvSpPr/>
          <p:nvPr/>
        </p:nvSpPr>
        <p:spPr>
          <a:xfrm>
            <a:off x="0" y="0"/>
            <a:ext cx="73152" cy="5143500"/>
          </a:xfrm>
          <a:prstGeom prst="rect">
            <a:avLst/>
          </a:prstGeom>
          <a:solidFill>
            <a:srgbClr val="00D4FF"/>
          </a:solidFill>
          <a:ln/>
        </p:spPr>
      </p:sp>
      <p:sp>
        <p:nvSpPr>
          <p:cNvPr id="5" name="Text 3"/>
          <p:cNvSpPr/>
          <p:nvPr/>
        </p:nvSpPr>
        <p:spPr>
          <a:xfrm>
            <a:off x="320040" y="228600"/>
            <a:ext cx="502920" cy="502920"/>
          </a:xfrm>
          <a:prstGeom prst="rect">
            <a:avLst/>
          </a:prstGeom>
          <a:noFill/>
          <a:ln/>
        </p:spPr>
        <p:txBody>
          <a:bodyPr wrap="square" rtlCol="0" anchor="ctr"/>
          <a:lstStyle/>
          <a:p>
            <a:pPr marL="0" indent="0" algn="ctr">
              <a:buNone/>
            </a:pPr>
            <a:endParaRPr lang="en-US" sz="1600" dirty="0"/>
          </a:p>
        </p:txBody>
      </p:sp>
      <p:sp>
        <p:nvSpPr>
          <p:cNvPr id="6" name="Text 4"/>
          <p:cNvSpPr/>
          <p:nvPr/>
        </p:nvSpPr>
        <p:spPr>
          <a:xfrm>
            <a:off x="374904" y="251460"/>
            <a:ext cx="4572000" cy="502920"/>
          </a:xfrm>
          <a:prstGeom prst="rect">
            <a:avLst/>
          </a:prstGeom>
          <a:noFill/>
          <a:ln/>
        </p:spPr>
        <p:txBody>
          <a:bodyPr wrap="square" lIns="0" tIns="0" rIns="0" bIns="0" rtlCol="0" anchor="ctr"/>
          <a:lstStyle/>
          <a:p>
            <a:pPr marL="0" indent="0">
              <a:buNone/>
            </a:pPr>
            <a:r>
              <a:rPr lang="zh-CN" altLang="en-US" sz="2800" b="1">
                <a:solidFill>
                  <a:srgbClr val="FFFFFF"/>
                </a:solidFill>
                <a:latin typeface="Microsoft YaHei" pitchFamily="34" charset="0"/>
                <a:ea typeface="Microsoft YaHei" pitchFamily="34" charset="-122"/>
              </a:rPr>
              <a:t>项目介绍</a:t>
            </a:r>
            <a:endParaRPr lang="en-US" sz="2800" dirty="0"/>
          </a:p>
        </p:txBody>
      </p:sp>
      <p:sp>
        <p:nvSpPr>
          <p:cNvPr id="7" name="Text 5"/>
          <p:cNvSpPr/>
          <p:nvPr/>
        </p:nvSpPr>
        <p:spPr>
          <a:xfrm>
            <a:off x="1005840" y="685800"/>
            <a:ext cx="4572000" cy="320040"/>
          </a:xfrm>
          <a:prstGeom prst="rect">
            <a:avLst/>
          </a:prstGeom>
          <a:noFill/>
          <a:ln/>
        </p:spPr>
        <p:txBody>
          <a:bodyPr wrap="square" lIns="0" tIns="0" rIns="0" bIns="0" rtlCol="0" anchor="ctr"/>
          <a:lstStyle/>
          <a:p>
            <a:pPr marL="0" indent="0">
              <a:buNone/>
            </a:pPr>
            <a:r>
              <a:rPr lang="en-US" sz="1300" dirty="0">
                <a:solidFill>
                  <a:srgbClr val="00D4FF"/>
                </a:solidFill>
                <a:latin typeface="Microsoft YaHei" pitchFamily="34" charset="0"/>
                <a:ea typeface="Microsoft YaHei" pitchFamily="34" charset="-122"/>
                <a:cs typeface="Microsoft YaHei" pitchFamily="34" charset="-120"/>
              </a:rPr>
              <a:t>AI 短剧创作与演绎素材生产工作台</a:t>
            </a:r>
            <a:endParaRPr lang="en-US" sz="1300" dirty="0"/>
          </a:p>
        </p:txBody>
      </p:sp>
      <p:sp>
        <p:nvSpPr>
          <p:cNvPr id="8" name="Shape 6"/>
          <p:cNvSpPr/>
          <p:nvPr/>
        </p:nvSpPr>
        <p:spPr>
          <a:xfrm>
            <a:off x="7132320" y="274320"/>
            <a:ext cx="1645920" cy="1645920"/>
          </a:xfrm>
          <a:prstGeom prst="ellipse">
            <a:avLst/>
          </a:prstGeom>
          <a:solidFill>
            <a:srgbClr val="00D4FF">
              <a:alpha val="10000"/>
            </a:srgbClr>
          </a:solidFill>
          <a:ln w="19050">
            <a:solidFill>
              <a:srgbClr val="00D4FF"/>
            </a:solidFill>
            <a:prstDash val="solid"/>
          </a:ln>
        </p:spPr>
      </p:sp>
      <p:sp>
        <p:nvSpPr>
          <p:cNvPr id="9" name="Shape 7"/>
          <p:cNvSpPr/>
          <p:nvPr/>
        </p:nvSpPr>
        <p:spPr>
          <a:xfrm>
            <a:off x="7589520" y="731520"/>
            <a:ext cx="731520" cy="731520"/>
          </a:xfrm>
          <a:prstGeom prst="ellipse">
            <a:avLst/>
          </a:prstGeom>
          <a:solidFill>
            <a:srgbClr val="FF6B35">
              <a:alpha val="15000"/>
            </a:srgbClr>
          </a:solidFill>
          <a:ln w="12700">
            <a:solidFill>
              <a:srgbClr val="FF6B35"/>
            </a:solidFill>
            <a:prstDash val="solid"/>
          </a:ln>
        </p:spPr>
      </p:sp>
      <p:sp>
        <p:nvSpPr>
          <p:cNvPr id="10" name="Shape 8"/>
          <p:cNvSpPr/>
          <p:nvPr/>
        </p:nvSpPr>
        <p:spPr>
          <a:xfrm>
            <a:off x="320040" y="1143000"/>
            <a:ext cx="8503920" cy="13716"/>
          </a:xfrm>
          <a:prstGeom prst="rect">
            <a:avLst/>
          </a:prstGeom>
          <a:solidFill>
            <a:srgbClr val="334155"/>
          </a:solidFill>
          <a:ln/>
        </p:spPr>
      </p:sp>
      <p:sp>
        <p:nvSpPr>
          <p:cNvPr id="11" name="Shape 9"/>
          <p:cNvSpPr/>
          <p:nvPr/>
        </p:nvSpPr>
        <p:spPr>
          <a:xfrm>
            <a:off x="320040" y="1325880"/>
            <a:ext cx="8503920" cy="1188720"/>
          </a:xfrm>
          <a:prstGeom prst="rect">
            <a:avLst/>
          </a:prstGeom>
          <a:solidFill>
            <a:srgbClr val="1A2642"/>
          </a:solidFill>
          <a:ln w="6350">
            <a:solidFill>
              <a:srgbClr val="334155"/>
            </a:solidFill>
            <a:prstDash val="solid"/>
          </a:ln>
        </p:spPr>
      </p:sp>
      <p:sp>
        <p:nvSpPr>
          <p:cNvPr id="12" name="Text 10"/>
          <p:cNvSpPr/>
          <p:nvPr/>
        </p:nvSpPr>
        <p:spPr>
          <a:xfrm>
            <a:off x="488852" y="1339596"/>
            <a:ext cx="1828800" cy="320040"/>
          </a:xfrm>
          <a:prstGeom prst="rect">
            <a:avLst/>
          </a:prstGeom>
          <a:noFill/>
          <a:ln/>
        </p:spPr>
        <p:txBody>
          <a:bodyPr wrap="square" lIns="0" tIns="0" rIns="0" bIns="0" rtlCol="0" anchor="ctr"/>
          <a:lstStyle/>
          <a:p>
            <a:pPr marL="0" indent="0">
              <a:buNone/>
            </a:pPr>
            <a:r>
              <a:rPr lang="en-US" sz="1200" b="1">
                <a:solidFill>
                  <a:srgbClr val="00D4FF"/>
                </a:solidFill>
                <a:latin typeface="Microsoft YaHei" pitchFamily="34" charset="0"/>
                <a:ea typeface="Microsoft YaHei" pitchFamily="34" charset="-122"/>
                <a:cs typeface="Microsoft YaHei" pitchFamily="34" charset="-120"/>
              </a:rPr>
              <a:t> 简介</a:t>
            </a:r>
            <a:endParaRPr lang="en-US" sz="1200" dirty="0"/>
          </a:p>
        </p:txBody>
      </p:sp>
      <p:sp>
        <p:nvSpPr>
          <p:cNvPr id="13" name="Text 11"/>
          <p:cNvSpPr/>
          <p:nvPr/>
        </p:nvSpPr>
        <p:spPr>
          <a:xfrm>
            <a:off x="512064" y="1577340"/>
            <a:ext cx="8229600" cy="640080"/>
          </a:xfrm>
          <a:prstGeom prst="rect">
            <a:avLst/>
          </a:prstGeom>
          <a:noFill/>
          <a:ln/>
        </p:spPr>
        <p:txBody>
          <a:bodyPr wrap="square" lIns="0" tIns="0" rIns="0" bIns="0" rtlCol="0" anchor="ctr"/>
          <a:lstStyle/>
          <a:p>
            <a:pPr marL="0" indent="0">
              <a:buNone/>
            </a:pPr>
            <a:r>
              <a:rPr lang="en-US" sz="1000">
                <a:solidFill>
                  <a:srgbClr val="94A3B8"/>
                </a:solidFill>
                <a:latin typeface="Microsoft YaHei" pitchFamily="34" charset="0"/>
                <a:ea typeface="Microsoft YaHei" pitchFamily="34" charset="-122"/>
                <a:cs typeface="Microsoft YaHei" pitchFamily="34" charset="-120"/>
              </a:rPr>
              <a:t>       </a:t>
            </a:r>
            <a:r>
              <a:rPr lang="en-US" sz="1000">
                <a:solidFill>
                  <a:schemeClr val="bg1"/>
                </a:solidFill>
                <a:latin typeface="Microsoft YaHei" pitchFamily="34" charset="0"/>
                <a:ea typeface="Microsoft YaHei" pitchFamily="34" charset="-122"/>
                <a:cs typeface="Microsoft YaHei" pitchFamily="34" charset="-120"/>
              </a:rPr>
              <a:t>微境剧场是面向桌面微缩剧场的 </a:t>
            </a:r>
            <a:r>
              <a:rPr lang="en-US" sz="1000" dirty="0">
                <a:solidFill>
                  <a:schemeClr val="bg1"/>
                </a:solidFill>
                <a:latin typeface="Microsoft YaHei" pitchFamily="34" charset="0"/>
                <a:ea typeface="Microsoft YaHei" pitchFamily="34" charset="-122"/>
                <a:cs typeface="Microsoft YaHei" pitchFamily="34" charset="-120"/>
              </a:rPr>
              <a:t>AI 短剧创作与演绎素材生产工作台。以 LangChain 多智能体编排为核心，以 SQLite 结构化数据为底座，以图片与音频生成服务为输出能力，以前端分阶段工作台为交互界面，最终为外部机器人或 Unity 仿真执行层提供高质量、可编辑、可追踪的演绎资产。系统支持从主题创意输入到多模态素材输出的完整内容生产链，兼具创意性与可落地性。</a:t>
            </a:r>
            <a:endParaRPr lang="en-US" sz="1000" dirty="0">
              <a:solidFill>
                <a:schemeClr val="bg1"/>
              </a:solidFill>
            </a:endParaRPr>
          </a:p>
        </p:txBody>
      </p:sp>
      <p:sp>
        <p:nvSpPr>
          <p:cNvPr id="14" name="Shape 12"/>
          <p:cNvSpPr/>
          <p:nvPr/>
        </p:nvSpPr>
        <p:spPr>
          <a:xfrm>
            <a:off x="502920" y="2286000"/>
            <a:ext cx="1554480" cy="292608"/>
          </a:xfrm>
          <a:prstGeom prst="roundRect">
            <a:avLst>
              <a:gd name="adj" fmla="val 15625"/>
            </a:avLst>
          </a:prstGeom>
          <a:solidFill>
            <a:srgbClr val="00D4FF">
              <a:alpha val="15000"/>
            </a:srgbClr>
          </a:solidFill>
          <a:ln w="6350">
            <a:solidFill>
              <a:srgbClr val="00D4FF"/>
            </a:solidFill>
            <a:prstDash val="solid"/>
          </a:ln>
        </p:spPr>
      </p:sp>
      <p:sp>
        <p:nvSpPr>
          <p:cNvPr id="15" name="Text 13"/>
          <p:cNvSpPr/>
          <p:nvPr/>
        </p:nvSpPr>
        <p:spPr>
          <a:xfrm>
            <a:off x="502920" y="2286000"/>
            <a:ext cx="1554480" cy="292608"/>
          </a:xfrm>
          <a:prstGeom prst="rect">
            <a:avLst/>
          </a:prstGeom>
          <a:noFill/>
          <a:ln/>
        </p:spPr>
        <p:txBody>
          <a:bodyPr wrap="square" rtlCol="0" anchor="ctr"/>
          <a:lstStyle/>
          <a:p>
            <a:pPr marL="0" indent="0" algn="ctr">
              <a:buNone/>
            </a:pPr>
            <a:r>
              <a:rPr lang="en-US" sz="800" dirty="0">
                <a:solidFill>
                  <a:srgbClr val="00D4FF"/>
                </a:solidFill>
                <a:latin typeface="Microsoft YaHei" pitchFamily="34" charset="0"/>
                <a:ea typeface="Microsoft YaHei" pitchFamily="34" charset="-122"/>
                <a:cs typeface="Microsoft YaHei" pitchFamily="34" charset="-120"/>
              </a:rPr>
              <a:t>LangChain 多Agent</a:t>
            </a:r>
            <a:endParaRPr lang="en-US" sz="800" dirty="0"/>
          </a:p>
        </p:txBody>
      </p:sp>
      <p:sp>
        <p:nvSpPr>
          <p:cNvPr id="16" name="Shape 14"/>
          <p:cNvSpPr/>
          <p:nvPr/>
        </p:nvSpPr>
        <p:spPr>
          <a:xfrm>
            <a:off x="2194560" y="2286000"/>
            <a:ext cx="1554480" cy="292608"/>
          </a:xfrm>
          <a:prstGeom prst="roundRect">
            <a:avLst>
              <a:gd name="adj" fmla="val 15625"/>
            </a:avLst>
          </a:prstGeom>
          <a:solidFill>
            <a:srgbClr val="00D4FF">
              <a:alpha val="15000"/>
            </a:srgbClr>
          </a:solidFill>
          <a:ln w="6350">
            <a:solidFill>
              <a:srgbClr val="00D4FF"/>
            </a:solidFill>
            <a:prstDash val="solid"/>
          </a:ln>
        </p:spPr>
      </p:sp>
      <p:sp>
        <p:nvSpPr>
          <p:cNvPr id="17" name="Text 15"/>
          <p:cNvSpPr/>
          <p:nvPr/>
        </p:nvSpPr>
        <p:spPr>
          <a:xfrm>
            <a:off x="2194560" y="2286000"/>
            <a:ext cx="1554480" cy="292608"/>
          </a:xfrm>
          <a:prstGeom prst="rect">
            <a:avLst/>
          </a:prstGeom>
          <a:noFill/>
          <a:ln/>
        </p:spPr>
        <p:txBody>
          <a:bodyPr wrap="square" rtlCol="0" anchor="ctr"/>
          <a:lstStyle/>
          <a:p>
            <a:pPr marL="0" indent="0" algn="ctr">
              <a:buNone/>
            </a:pPr>
            <a:r>
              <a:rPr lang="en-US" sz="800" dirty="0">
                <a:solidFill>
                  <a:srgbClr val="00D4FF"/>
                </a:solidFill>
                <a:latin typeface="Microsoft YaHei" pitchFamily="34" charset="0"/>
                <a:ea typeface="Microsoft YaHei" pitchFamily="34" charset="-122"/>
                <a:cs typeface="Microsoft YaHei" pitchFamily="34" charset="-120"/>
              </a:rPr>
              <a:t>结构化生产</a:t>
            </a:r>
            <a:endParaRPr lang="en-US" sz="800" dirty="0"/>
          </a:p>
        </p:txBody>
      </p:sp>
      <p:sp>
        <p:nvSpPr>
          <p:cNvPr id="18" name="Shape 16"/>
          <p:cNvSpPr/>
          <p:nvPr/>
        </p:nvSpPr>
        <p:spPr>
          <a:xfrm>
            <a:off x="3886200" y="2286000"/>
            <a:ext cx="1554480" cy="292608"/>
          </a:xfrm>
          <a:prstGeom prst="roundRect">
            <a:avLst>
              <a:gd name="adj" fmla="val 15625"/>
            </a:avLst>
          </a:prstGeom>
          <a:solidFill>
            <a:srgbClr val="00D4FF">
              <a:alpha val="15000"/>
            </a:srgbClr>
          </a:solidFill>
          <a:ln w="6350">
            <a:solidFill>
              <a:srgbClr val="00D4FF"/>
            </a:solidFill>
            <a:prstDash val="solid"/>
          </a:ln>
        </p:spPr>
      </p:sp>
      <p:sp>
        <p:nvSpPr>
          <p:cNvPr id="19" name="Text 17"/>
          <p:cNvSpPr/>
          <p:nvPr/>
        </p:nvSpPr>
        <p:spPr>
          <a:xfrm>
            <a:off x="3886200" y="2286000"/>
            <a:ext cx="1554480" cy="292608"/>
          </a:xfrm>
          <a:prstGeom prst="rect">
            <a:avLst/>
          </a:prstGeom>
          <a:noFill/>
          <a:ln/>
        </p:spPr>
        <p:txBody>
          <a:bodyPr wrap="square" rtlCol="0" anchor="ctr"/>
          <a:lstStyle/>
          <a:p>
            <a:pPr marL="0" indent="0" algn="ctr">
              <a:buNone/>
            </a:pPr>
            <a:r>
              <a:rPr lang="en-US" sz="800" dirty="0">
                <a:solidFill>
                  <a:srgbClr val="00D4FF"/>
                </a:solidFill>
                <a:latin typeface="Microsoft YaHei" pitchFamily="34" charset="0"/>
                <a:ea typeface="Microsoft YaHei" pitchFamily="34" charset="-122"/>
                <a:cs typeface="Microsoft YaHei" pitchFamily="34" charset="-120"/>
              </a:rPr>
              <a:t>多模态素材</a:t>
            </a:r>
            <a:endParaRPr lang="en-US" sz="800" dirty="0"/>
          </a:p>
        </p:txBody>
      </p:sp>
      <p:sp>
        <p:nvSpPr>
          <p:cNvPr id="20" name="Shape 18"/>
          <p:cNvSpPr/>
          <p:nvPr/>
        </p:nvSpPr>
        <p:spPr>
          <a:xfrm>
            <a:off x="5577840" y="2286000"/>
            <a:ext cx="1554480" cy="292608"/>
          </a:xfrm>
          <a:prstGeom prst="roundRect">
            <a:avLst>
              <a:gd name="adj" fmla="val 15625"/>
            </a:avLst>
          </a:prstGeom>
          <a:solidFill>
            <a:srgbClr val="00D4FF">
              <a:alpha val="15000"/>
            </a:srgbClr>
          </a:solidFill>
          <a:ln w="6350">
            <a:solidFill>
              <a:srgbClr val="00D4FF"/>
            </a:solidFill>
            <a:prstDash val="solid"/>
          </a:ln>
        </p:spPr>
      </p:sp>
      <p:sp>
        <p:nvSpPr>
          <p:cNvPr id="21" name="Text 19"/>
          <p:cNvSpPr/>
          <p:nvPr/>
        </p:nvSpPr>
        <p:spPr>
          <a:xfrm>
            <a:off x="5577840" y="2286000"/>
            <a:ext cx="1554480" cy="292608"/>
          </a:xfrm>
          <a:prstGeom prst="rect">
            <a:avLst/>
          </a:prstGeom>
          <a:noFill/>
          <a:ln/>
        </p:spPr>
        <p:txBody>
          <a:bodyPr wrap="square" rtlCol="0" anchor="ctr"/>
          <a:lstStyle/>
          <a:p>
            <a:pPr marL="0" indent="0" algn="ctr">
              <a:buNone/>
            </a:pPr>
            <a:r>
              <a:rPr lang="en-US" sz="800" dirty="0">
                <a:solidFill>
                  <a:srgbClr val="00D4FF"/>
                </a:solidFill>
                <a:latin typeface="Microsoft YaHei" pitchFamily="34" charset="0"/>
                <a:ea typeface="Microsoft YaHei" pitchFamily="34" charset="-122"/>
                <a:cs typeface="Microsoft YaHei" pitchFamily="34" charset="-120"/>
              </a:rPr>
              <a:t>前后端分离</a:t>
            </a:r>
            <a:endParaRPr lang="en-US" sz="800" dirty="0"/>
          </a:p>
        </p:txBody>
      </p:sp>
      <p:sp>
        <p:nvSpPr>
          <p:cNvPr id="22" name="Shape 20"/>
          <p:cNvSpPr/>
          <p:nvPr/>
        </p:nvSpPr>
        <p:spPr>
          <a:xfrm>
            <a:off x="7269480" y="2286000"/>
            <a:ext cx="1554480" cy="292608"/>
          </a:xfrm>
          <a:prstGeom prst="roundRect">
            <a:avLst>
              <a:gd name="adj" fmla="val 15625"/>
            </a:avLst>
          </a:prstGeom>
          <a:solidFill>
            <a:srgbClr val="00D4FF">
              <a:alpha val="15000"/>
            </a:srgbClr>
          </a:solidFill>
          <a:ln w="6350">
            <a:solidFill>
              <a:srgbClr val="00D4FF"/>
            </a:solidFill>
            <a:prstDash val="solid"/>
          </a:ln>
        </p:spPr>
      </p:sp>
      <p:sp>
        <p:nvSpPr>
          <p:cNvPr id="23" name="Text 21"/>
          <p:cNvSpPr/>
          <p:nvPr/>
        </p:nvSpPr>
        <p:spPr>
          <a:xfrm>
            <a:off x="7269480" y="2286000"/>
            <a:ext cx="1554480" cy="292608"/>
          </a:xfrm>
          <a:prstGeom prst="rect">
            <a:avLst/>
          </a:prstGeom>
          <a:noFill/>
          <a:ln/>
        </p:spPr>
        <p:txBody>
          <a:bodyPr wrap="square" rtlCol="0" anchor="ctr"/>
          <a:lstStyle/>
          <a:p>
            <a:pPr marL="0" indent="0" algn="ctr">
              <a:buNone/>
            </a:pPr>
            <a:r>
              <a:rPr lang="en-US" sz="800" dirty="0">
                <a:solidFill>
                  <a:srgbClr val="00D4FF"/>
                </a:solidFill>
                <a:latin typeface="Microsoft YaHei" pitchFamily="34" charset="0"/>
                <a:ea typeface="Microsoft YaHei" pitchFamily="34" charset="-122"/>
                <a:cs typeface="Microsoft YaHei" pitchFamily="34" charset="-120"/>
              </a:rPr>
              <a:t>配置驱动</a:t>
            </a:r>
            <a:endParaRPr lang="en-US" sz="800" dirty="0"/>
          </a:p>
        </p:txBody>
      </p:sp>
      <p:sp>
        <p:nvSpPr>
          <p:cNvPr id="24" name="Shape 22"/>
          <p:cNvSpPr/>
          <p:nvPr/>
        </p:nvSpPr>
        <p:spPr>
          <a:xfrm>
            <a:off x="320040" y="2743200"/>
            <a:ext cx="4114800" cy="2148840"/>
          </a:xfrm>
          <a:prstGeom prst="rect">
            <a:avLst/>
          </a:prstGeom>
          <a:solidFill>
            <a:srgbClr val="1A2642"/>
          </a:solidFill>
          <a:ln w="6350">
            <a:solidFill>
              <a:srgbClr val="334155"/>
            </a:solidFill>
            <a:prstDash val="solid"/>
          </a:ln>
        </p:spPr>
      </p:sp>
      <p:sp>
        <p:nvSpPr>
          <p:cNvPr id="25" name="Shape 23"/>
          <p:cNvSpPr/>
          <p:nvPr/>
        </p:nvSpPr>
        <p:spPr>
          <a:xfrm>
            <a:off x="320040" y="2743200"/>
            <a:ext cx="54864" cy="2148840"/>
          </a:xfrm>
          <a:prstGeom prst="rect">
            <a:avLst/>
          </a:prstGeom>
          <a:solidFill>
            <a:srgbClr val="00D4FF"/>
          </a:solidFill>
          <a:ln/>
        </p:spPr>
      </p:sp>
      <p:sp>
        <p:nvSpPr>
          <p:cNvPr id="26" name="Text 24"/>
          <p:cNvSpPr/>
          <p:nvPr/>
        </p:nvSpPr>
        <p:spPr>
          <a:xfrm>
            <a:off x="502920" y="2834640"/>
            <a:ext cx="1828800" cy="320040"/>
          </a:xfrm>
          <a:prstGeom prst="rect">
            <a:avLst/>
          </a:prstGeom>
          <a:noFill/>
          <a:ln/>
        </p:spPr>
        <p:txBody>
          <a:bodyPr wrap="square" lIns="0" tIns="0" rIns="0" bIns="0" rtlCol="0" anchor="ctr"/>
          <a:lstStyle/>
          <a:p>
            <a:pPr marL="0" indent="0">
              <a:buNone/>
            </a:pPr>
            <a:r>
              <a:rPr lang="en-US" sz="1200" b="1" dirty="0">
                <a:solidFill>
                  <a:srgbClr val="00D4FF"/>
                </a:solidFill>
                <a:latin typeface="Microsoft YaHei" pitchFamily="34" charset="0"/>
                <a:ea typeface="Microsoft YaHei" pitchFamily="34" charset="-122"/>
                <a:cs typeface="Microsoft YaHei" pitchFamily="34" charset="-120"/>
              </a:rPr>
              <a:t>技术架构</a:t>
            </a:r>
            <a:endParaRPr lang="en-US" sz="1200" dirty="0"/>
          </a:p>
        </p:txBody>
      </p:sp>
      <p:sp>
        <p:nvSpPr>
          <p:cNvPr id="27" name="Text 25"/>
          <p:cNvSpPr/>
          <p:nvPr/>
        </p:nvSpPr>
        <p:spPr>
          <a:xfrm>
            <a:off x="502920" y="3200400"/>
            <a:ext cx="3840480" cy="1645920"/>
          </a:xfrm>
          <a:prstGeom prst="rect">
            <a:avLst/>
          </a:prstGeom>
          <a:noFill/>
          <a:ln/>
        </p:spPr>
        <p:txBody>
          <a:bodyPr wrap="square" lIns="0" tIns="0" rIns="0" bIns="0" rtlCol="0" anchor="ctr"/>
          <a:lstStyle/>
          <a:p>
            <a:pPr marL="0" indent="0">
              <a:buNone/>
            </a:pPr>
            <a:r>
              <a:rPr lang="en-US" sz="900" b="1" dirty="0">
                <a:solidFill>
                  <a:srgbClr val="FFFFFF"/>
                </a:solidFill>
                <a:latin typeface="Microsoft YaHei" pitchFamily="34" charset="0"/>
                <a:ea typeface="Microsoft YaHei" pitchFamily="34" charset="-122"/>
                <a:cs typeface="Microsoft YaHei" pitchFamily="34" charset="-120"/>
              </a:rPr>
              <a:t>前端工作台</a:t>
            </a:r>
            <a:endParaRPr lang="en-US" sz="900" dirty="0"/>
          </a:p>
          <a:p>
            <a:pPr marL="0" indent="0">
              <a:buNone/>
            </a:pPr>
            <a:r>
              <a:rPr lang="en-US" sz="900" dirty="0">
                <a:solidFill>
                  <a:srgbClr val="94A3B8"/>
                </a:solidFill>
                <a:latin typeface="Microsoft YaHei" pitchFamily="34" charset="0"/>
                <a:ea typeface="Microsoft YaHei" pitchFamily="34" charset="-122"/>
                <a:cs typeface="Microsoft YaHei" pitchFamily="34" charset="-120"/>
              </a:rPr>
              <a:t>Nuxt 3 + Vue 3 + TypeScript，负责项目管理、分阶段内容生产控制、AI配置中心</a:t>
            </a:r>
            <a:endParaRPr lang="en-US" sz="900" dirty="0"/>
          </a:p>
          <a:p>
            <a:pPr marL="0" indent="0">
              <a:buNone/>
            </a:pPr>
            <a:endParaRPr lang="en-US" sz="900" dirty="0"/>
          </a:p>
          <a:p>
            <a:pPr marL="0" indent="0">
              <a:buNone/>
            </a:pPr>
            <a:r>
              <a:rPr lang="en-US" sz="900" b="1" dirty="0">
                <a:solidFill>
                  <a:srgbClr val="FFFFFF"/>
                </a:solidFill>
                <a:latin typeface="Microsoft YaHei" pitchFamily="34" charset="0"/>
                <a:ea typeface="Microsoft YaHei" pitchFamily="34" charset="-122"/>
                <a:cs typeface="Microsoft YaHei" pitchFamily="34" charset="-120"/>
              </a:rPr>
              <a:t>后端服务层</a:t>
            </a:r>
            <a:endParaRPr lang="en-US" sz="900" dirty="0"/>
          </a:p>
          <a:p>
            <a:pPr marL="0" indent="0">
              <a:buNone/>
            </a:pPr>
            <a:r>
              <a:rPr lang="en-US" sz="900" dirty="0">
                <a:solidFill>
                  <a:srgbClr val="94A3B8"/>
                </a:solidFill>
                <a:latin typeface="Microsoft YaHei" pitchFamily="34" charset="0"/>
                <a:ea typeface="Microsoft YaHei" pitchFamily="34" charset="-122"/>
                <a:cs typeface="Microsoft YaHei" pitchFamily="34" charset="-120"/>
              </a:rPr>
              <a:t>Hono API + SQLite/Drizzle，轻量高效，支持 RESTful 接口设计</a:t>
            </a:r>
            <a:endParaRPr lang="en-US" sz="900" dirty="0"/>
          </a:p>
          <a:p>
            <a:pPr marL="0" indent="0">
              <a:buNone/>
            </a:pPr>
            <a:endParaRPr lang="en-US" sz="900" dirty="0"/>
          </a:p>
          <a:p>
            <a:pPr marL="0" indent="0">
              <a:buNone/>
            </a:pPr>
            <a:r>
              <a:rPr lang="en-US" sz="900" b="1" dirty="0">
                <a:solidFill>
                  <a:srgbClr val="FFFFFF"/>
                </a:solidFill>
                <a:latin typeface="Microsoft YaHei" pitchFamily="34" charset="0"/>
                <a:ea typeface="Microsoft YaHei" pitchFamily="34" charset="-122"/>
                <a:cs typeface="Microsoft YaHei" pitchFamily="34" charset="-120"/>
              </a:rPr>
              <a:t>智能体编排层</a:t>
            </a:r>
            <a:endParaRPr lang="en-US" sz="900" dirty="0"/>
          </a:p>
          <a:p>
            <a:pPr marL="0" indent="0">
              <a:buNone/>
            </a:pPr>
            <a:r>
              <a:rPr lang="en-US" sz="900" dirty="0">
                <a:solidFill>
                  <a:srgbClr val="94A3B8"/>
                </a:solidFill>
                <a:latin typeface="Microsoft YaHei" pitchFamily="34" charset="0"/>
                <a:ea typeface="Microsoft YaHei" pitchFamily="34" charset="-122"/>
                <a:cs typeface="Microsoft YaHei" pitchFamily="34" charset="-120"/>
              </a:rPr>
              <a:t>LangChain Multi-Agent，6个专职 Agent 分工（创作访谈、剧本改写、角色提取、音色分配、分镜拆解、提示词生成）</a:t>
            </a:r>
            <a:endParaRPr lang="en-US" sz="900" dirty="0"/>
          </a:p>
          <a:p>
            <a:pPr marL="0" indent="0">
              <a:buNone/>
            </a:pPr>
            <a:endParaRPr lang="en-US" sz="900" dirty="0"/>
          </a:p>
          <a:p>
            <a:pPr marL="0" indent="0">
              <a:buNone/>
            </a:pPr>
            <a:r>
              <a:rPr lang="en-US" sz="900" b="1" dirty="0">
                <a:solidFill>
                  <a:srgbClr val="FFFFFF"/>
                </a:solidFill>
                <a:latin typeface="Microsoft YaHei" pitchFamily="34" charset="0"/>
                <a:ea typeface="Microsoft YaHei" pitchFamily="34" charset="-122"/>
                <a:cs typeface="Microsoft YaHei" pitchFamily="34" charset="-120"/>
              </a:rPr>
              <a:t>多模态素材层</a:t>
            </a:r>
            <a:endParaRPr lang="en-US" sz="900" dirty="0"/>
          </a:p>
          <a:p>
            <a:pPr marL="0" indent="0">
              <a:buNone/>
            </a:pPr>
            <a:r>
              <a:rPr lang="en-US" sz="900" dirty="0">
                <a:solidFill>
                  <a:srgbClr val="94A3B8"/>
                </a:solidFill>
                <a:latin typeface="Microsoft YaHei" pitchFamily="34" charset="0"/>
                <a:ea typeface="Microsoft YaHei" pitchFamily="34" charset="-122"/>
                <a:cs typeface="Microsoft YaHei" pitchFamily="34" charset="-120"/>
              </a:rPr>
              <a:t>支持文心、MiniMax 等多服务商，图片生成（同步/异步）、TTS音频生成</a:t>
            </a:r>
            <a:endParaRPr lang="en-US" sz="900" dirty="0"/>
          </a:p>
        </p:txBody>
      </p:sp>
      <p:sp>
        <p:nvSpPr>
          <p:cNvPr id="28" name="Shape 26"/>
          <p:cNvSpPr/>
          <p:nvPr/>
        </p:nvSpPr>
        <p:spPr>
          <a:xfrm>
            <a:off x="4572000" y="2743200"/>
            <a:ext cx="4251960" cy="2148840"/>
          </a:xfrm>
          <a:prstGeom prst="rect">
            <a:avLst/>
          </a:prstGeom>
          <a:solidFill>
            <a:srgbClr val="1A2642"/>
          </a:solidFill>
          <a:ln w="6350">
            <a:solidFill>
              <a:srgbClr val="334155"/>
            </a:solidFill>
            <a:prstDash val="solid"/>
          </a:ln>
        </p:spPr>
      </p:sp>
      <p:sp>
        <p:nvSpPr>
          <p:cNvPr id="29" name="Shape 27"/>
          <p:cNvSpPr/>
          <p:nvPr/>
        </p:nvSpPr>
        <p:spPr>
          <a:xfrm>
            <a:off x="4572000" y="2743200"/>
            <a:ext cx="54864" cy="2148840"/>
          </a:xfrm>
          <a:prstGeom prst="rect">
            <a:avLst/>
          </a:prstGeom>
          <a:solidFill>
            <a:srgbClr val="FF6B35"/>
          </a:solidFill>
          <a:ln/>
        </p:spPr>
      </p:sp>
      <p:sp>
        <p:nvSpPr>
          <p:cNvPr id="30" name="Text 28"/>
          <p:cNvSpPr/>
          <p:nvPr/>
        </p:nvSpPr>
        <p:spPr>
          <a:xfrm>
            <a:off x="4754880" y="2834640"/>
            <a:ext cx="1828800" cy="320040"/>
          </a:xfrm>
          <a:prstGeom prst="rect">
            <a:avLst/>
          </a:prstGeom>
          <a:noFill/>
          <a:ln/>
        </p:spPr>
        <p:txBody>
          <a:bodyPr wrap="square" lIns="0" tIns="0" rIns="0" bIns="0" rtlCol="0" anchor="ctr"/>
          <a:lstStyle/>
          <a:p>
            <a:pPr marL="0" indent="0">
              <a:buNone/>
            </a:pPr>
            <a:r>
              <a:rPr lang="en-US" sz="1200" b="1" dirty="0">
                <a:solidFill>
                  <a:srgbClr val="FF6B35"/>
                </a:solidFill>
                <a:latin typeface="Microsoft YaHei" pitchFamily="34" charset="0"/>
                <a:ea typeface="Microsoft YaHei" pitchFamily="34" charset="-122"/>
                <a:cs typeface="Microsoft YaHei" pitchFamily="34" charset="-120"/>
              </a:rPr>
              <a:t>核心优势</a:t>
            </a:r>
            <a:endParaRPr lang="en-US" sz="1200" dirty="0"/>
          </a:p>
        </p:txBody>
      </p:sp>
      <p:sp>
        <p:nvSpPr>
          <p:cNvPr id="31" name="Text 29"/>
          <p:cNvSpPr/>
          <p:nvPr/>
        </p:nvSpPr>
        <p:spPr>
          <a:xfrm>
            <a:off x="4754880" y="3200400"/>
            <a:ext cx="3931920" cy="1645920"/>
          </a:xfrm>
          <a:prstGeom prst="rect">
            <a:avLst/>
          </a:prstGeom>
          <a:noFill/>
          <a:ln/>
        </p:spPr>
        <p:txBody>
          <a:bodyPr wrap="square" lIns="0" tIns="0" rIns="0" bIns="0" rtlCol="0" anchor="ctr"/>
          <a:lstStyle/>
          <a:p>
            <a:pPr marL="0" indent="0">
              <a:buNone/>
            </a:pPr>
            <a:r>
              <a:rPr lang="en-US" sz="900" b="1" dirty="0">
                <a:solidFill>
                  <a:srgbClr val="FFFFFF"/>
                </a:solidFill>
                <a:latin typeface="Microsoft YaHei" pitchFamily="34" charset="0"/>
                <a:ea typeface="Microsoft YaHei" pitchFamily="34" charset="-122"/>
                <a:cs typeface="Microsoft YaHei" pitchFamily="34" charset="-120"/>
              </a:rPr>
              <a:t>• 创作访谈式前置策划</a:t>
            </a:r>
            <a:endParaRPr lang="en-US" sz="900" dirty="0"/>
          </a:p>
          <a:p>
            <a:pPr marL="0" indent="0">
              <a:buNone/>
            </a:pPr>
            <a:r>
              <a:rPr lang="en-US" sz="900" dirty="0">
                <a:solidFill>
                  <a:srgbClr val="94A3B8"/>
                </a:solidFill>
                <a:latin typeface="Microsoft YaHei" pitchFamily="34" charset="0"/>
                <a:ea typeface="Microsoft YaHei" pitchFamily="34" charset="-122"/>
                <a:cs typeface="Microsoft YaHei" pitchFamily="34" charset="-120"/>
              </a:rPr>
              <a:t>  系统充当'创作访谈师'，通过多轮追问将模糊创意沉淀为完整设定</a:t>
            </a:r>
            <a:endParaRPr lang="en-US" sz="900" dirty="0"/>
          </a:p>
          <a:p>
            <a:pPr marL="0" indent="0">
              <a:buNone/>
            </a:pPr>
            <a:endParaRPr lang="en-US" sz="900" dirty="0"/>
          </a:p>
          <a:p>
            <a:pPr marL="0" indent="0">
              <a:buNone/>
            </a:pPr>
            <a:r>
              <a:rPr lang="en-US" sz="900" b="1" dirty="0">
                <a:solidFill>
                  <a:srgbClr val="FFFFFF"/>
                </a:solidFill>
                <a:latin typeface="Microsoft YaHei" pitchFamily="34" charset="0"/>
                <a:ea typeface="Microsoft YaHei" pitchFamily="34" charset="-122"/>
                <a:cs typeface="Microsoft YaHei" pitchFamily="34" charset="-120"/>
              </a:rPr>
              <a:t>• 剧集级配置锁定</a:t>
            </a:r>
            <a:endParaRPr lang="en-US" sz="900" dirty="0"/>
          </a:p>
          <a:p>
            <a:pPr marL="0" indent="0">
              <a:buNone/>
            </a:pPr>
            <a:r>
              <a:rPr lang="en-US" sz="900" dirty="0">
                <a:solidFill>
                  <a:srgbClr val="94A3B8"/>
                </a:solidFill>
                <a:latin typeface="Microsoft YaHei" pitchFamily="34" charset="0"/>
                <a:ea typeface="Microsoft YaHei" pitchFamily="34" charset="-122"/>
                <a:cs typeface="Microsoft YaHei" pitchFamily="34" charset="-120"/>
              </a:rPr>
              <a:t>  每集绑定统一图片/音频配置，保证同集素材风格一致性</a:t>
            </a:r>
            <a:endParaRPr lang="en-US" sz="900" dirty="0"/>
          </a:p>
          <a:p>
            <a:pPr marL="0" indent="0">
              <a:buNone/>
            </a:pPr>
            <a:endParaRPr lang="en-US" sz="900" dirty="0"/>
          </a:p>
          <a:p>
            <a:pPr marL="0" indent="0">
              <a:buNone/>
            </a:pPr>
            <a:r>
              <a:rPr lang="en-US" sz="900" b="1" dirty="0">
                <a:solidFill>
                  <a:srgbClr val="FFFFFF"/>
                </a:solidFill>
                <a:latin typeface="Microsoft YaHei" pitchFamily="34" charset="0"/>
                <a:ea typeface="Microsoft YaHei" pitchFamily="34" charset="-122"/>
                <a:cs typeface="Microsoft YaHei" pitchFamily="34" charset="-120"/>
              </a:rPr>
              <a:t>• 宫格图工作流</a:t>
            </a:r>
            <a:endParaRPr lang="en-US" sz="900" dirty="0"/>
          </a:p>
          <a:p>
            <a:pPr marL="0" indent="0">
              <a:buNone/>
            </a:pPr>
            <a:r>
              <a:rPr lang="en-US" sz="900" dirty="0">
                <a:solidFill>
                  <a:srgbClr val="94A3B8"/>
                </a:solidFill>
                <a:latin typeface="Microsoft YaHei" pitchFamily="34" charset="0"/>
                <a:ea typeface="Microsoft YaHei" pitchFamily="34" charset="-122"/>
                <a:cs typeface="Microsoft YaHei" pitchFamily="34" charset="-120"/>
              </a:rPr>
              <a:t>  批量生成风格统一的镜头参考图，首尾帧控制一致性</a:t>
            </a:r>
            <a:endParaRPr lang="en-US" sz="900" dirty="0"/>
          </a:p>
          <a:p>
            <a:pPr marL="0" indent="0">
              <a:buNone/>
            </a:pPr>
            <a:endParaRPr lang="en-US" sz="900" dirty="0"/>
          </a:p>
          <a:p>
            <a:pPr marL="0" indent="0">
              <a:buNone/>
            </a:pPr>
            <a:r>
              <a:rPr lang="en-US" sz="900" b="1" dirty="0">
                <a:solidFill>
                  <a:srgbClr val="FFFFFF"/>
                </a:solidFill>
                <a:latin typeface="Microsoft YaHei" pitchFamily="34" charset="0"/>
                <a:ea typeface="Microsoft YaHei" pitchFamily="34" charset="-122"/>
                <a:cs typeface="Microsoft YaHei" pitchFamily="34" charset="-120"/>
              </a:rPr>
              <a:t>• 14项设计亮点</a:t>
            </a:r>
            <a:endParaRPr lang="en-US" sz="900" dirty="0"/>
          </a:p>
          <a:p>
            <a:pPr marL="0" indent="0">
              <a:buNone/>
            </a:pPr>
            <a:r>
              <a:rPr lang="en-US" sz="900" dirty="0">
                <a:solidFill>
                  <a:srgbClr val="94A3B8"/>
                </a:solidFill>
                <a:latin typeface="Microsoft YaHei" pitchFamily="34" charset="0"/>
                <a:ea typeface="Microsoft YaHei" pitchFamily="34" charset="-122"/>
                <a:cs typeface="Microsoft YaHei" pitchFamily="34" charset="-120"/>
              </a:rPr>
              <a:t>  双层创作范围、Skill Pack机制、角色/场景去重、异步任务轮询等</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sp>
        <p:nvSpPr>
          <p:cNvPr id="3" name="Shape 1"/>
          <p:cNvSpPr/>
          <p:nvPr/>
        </p:nvSpPr>
        <p:spPr>
          <a:xfrm>
            <a:off x="0" y="0"/>
            <a:ext cx="73152" cy="5143500"/>
          </a:xfrm>
          <a:prstGeom prst="rect">
            <a:avLst/>
          </a:prstGeom>
          <a:solidFill>
            <a:srgbClr val="00D4FF"/>
          </a:solidFill>
          <a:ln/>
        </p:spPr>
      </p:sp>
      <p:sp>
        <p:nvSpPr>
          <p:cNvPr id="6" name="Text 4"/>
          <p:cNvSpPr/>
          <p:nvPr/>
        </p:nvSpPr>
        <p:spPr>
          <a:xfrm>
            <a:off x="320040" y="228600"/>
            <a:ext cx="4572000" cy="502920"/>
          </a:xfrm>
          <a:prstGeom prst="rect">
            <a:avLst/>
          </a:prstGeom>
          <a:noFill/>
          <a:ln/>
        </p:spPr>
        <p:txBody>
          <a:bodyPr wrap="square" lIns="0" tIns="0" rIns="0" bIns="0" rtlCol="0" anchor="ctr"/>
          <a:lstStyle/>
          <a:p>
            <a:r>
              <a:rPr lang="zh-CN" altLang="en-US" sz="2800" b="1">
                <a:solidFill>
                  <a:srgbClr val="FFFFFF"/>
                </a:solidFill>
                <a:latin typeface="Microsoft YaHei" pitchFamily="34" charset="0"/>
                <a:ea typeface="Microsoft YaHei" pitchFamily="34" charset="-122"/>
              </a:rPr>
              <a:t>项目介绍</a:t>
            </a:r>
            <a:endParaRPr lang="en-US" altLang="zh-CN" sz="2800" dirty="0"/>
          </a:p>
        </p:txBody>
      </p:sp>
      <p:sp>
        <p:nvSpPr>
          <p:cNvPr id="7" name="Text 5"/>
          <p:cNvSpPr/>
          <p:nvPr/>
        </p:nvSpPr>
        <p:spPr>
          <a:xfrm>
            <a:off x="1005840" y="685800"/>
            <a:ext cx="4572000" cy="320040"/>
          </a:xfrm>
          <a:prstGeom prst="rect">
            <a:avLst/>
          </a:prstGeom>
          <a:noFill/>
          <a:ln/>
        </p:spPr>
        <p:txBody>
          <a:bodyPr wrap="square" lIns="0" tIns="0" rIns="0" bIns="0" rtlCol="0" anchor="ctr"/>
          <a:lstStyle/>
          <a:p>
            <a:pPr marL="0" indent="0">
              <a:buNone/>
            </a:pPr>
            <a:r>
              <a:rPr lang="en-US" sz="1300" dirty="0">
                <a:solidFill>
                  <a:srgbClr val="00D4FF"/>
                </a:solidFill>
                <a:latin typeface="Microsoft YaHei" pitchFamily="34" charset="0"/>
                <a:ea typeface="Microsoft YaHei" pitchFamily="34" charset="-122"/>
                <a:cs typeface="Microsoft YaHei" pitchFamily="34" charset="-120"/>
              </a:rPr>
              <a:t>多智能体协作与统一JSON导出</a:t>
            </a:r>
            <a:endParaRPr lang="en-US" sz="1300" dirty="0"/>
          </a:p>
        </p:txBody>
      </p:sp>
      <p:sp>
        <p:nvSpPr>
          <p:cNvPr id="8" name="Shape 6"/>
          <p:cNvSpPr/>
          <p:nvPr/>
        </p:nvSpPr>
        <p:spPr>
          <a:xfrm>
            <a:off x="7132320" y="274320"/>
            <a:ext cx="1645920" cy="1645920"/>
          </a:xfrm>
          <a:prstGeom prst="ellipse">
            <a:avLst/>
          </a:prstGeom>
          <a:solidFill>
            <a:srgbClr val="8B5CF6">
              <a:alpha val="10000"/>
            </a:srgbClr>
          </a:solidFill>
          <a:ln w="19050">
            <a:solidFill>
              <a:srgbClr val="8B5CF6"/>
            </a:solidFill>
            <a:prstDash val="solid"/>
          </a:ln>
        </p:spPr>
      </p:sp>
      <p:sp>
        <p:nvSpPr>
          <p:cNvPr id="9" name="Shape 7"/>
          <p:cNvSpPr/>
          <p:nvPr/>
        </p:nvSpPr>
        <p:spPr>
          <a:xfrm>
            <a:off x="7589520" y="731520"/>
            <a:ext cx="731520" cy="731520"/>
          </a:xfrm>
          <a:prstGeom prst="ellipse">
            <a:avLst/>
          </a:prstGeom>
          <a:solidFill>
            <a:srgbClr val="00D4FF">
              <a:alpha val="15000"/>
            </a:srgbClr>
          </a:solidFill>
          <a:ln w="12700">
            <a:solidFill>
              <a:srgbClr val="00D4FF"/>
            </a:solidFill>
            <a:prstDash val="solid"/>
          </a:ln>
        </p:spPr>
      </p:sp>
      <p:sp>
        <p:nvSpPr>
          <p:cNvPr id="10" name="Shape 8"/>
          <p:cNvSpPr/>
          <p:nvPr/>
        </p:nvSpPr>
        <p:spPr>
          <a:xfrm>
            <a:off x="320040" y="1143000"/>
            <a:ext cx="8503920" cy="13716"/>
          </a:xfrm>
          <a:prstGeom prst="rect">
            <a:avLst/>
          </a:prstGeom>
          <a:solidFill>
            <a:srgbClr val="334155"/>
          </a:solidFill>
          <a:ln/>
        </p:spPr>
      </p:sp>
      <p:sp>
        <p:nvSpPr>
          <p:cNvPr id="11" name="Shape 9"/>
          <p:cNvSpPr/>
          <p:nvPr/>
        </p:nvSpPr>
        <p:spPr>
          <a:xfrm>
            <a:off x="320040" y="1325880"/>
            <a:ext cx="8503920" cy="1828800"/>
          </a:xfrm>
          <a:prstGeom prst="rect">
            <a:avLst/>
          </a:prstGeom>
          <a:solidFill>
            <a:srgbClr val="1A2642"/>
          </a:solidFill>
          <a:ln w="6350">
            <a:solidFill>
              <a:srgbClr val="334155"/>
            </a:solidFill>
            <a:prstDash val="solid"/>
          </a:ln>
        </p:spPr>
      </p:sp>
      <p:sp>
        <p:nvSpPr>
          <p:cNvPr id="12" name="Shape 10"/>
          <p:cNvSpPr/>
          <p:nvPr/>
        </p:nvSpPr>
        <p:spPr>
          <a:xfrm>
            <a:off x="320040" y="1325880"/>
            <a:ext cx="54864" cy="1828800"/>
          </a:xfrm>
          <a:prstGeom prst="rect">
            <a:avLst/>
          </a:prstGeom>
          <a:solidFill>
            <a:srgbClr val="00D4FF"/>
          </a:solidFill>
          <a:ln/>
        </p:spPr>
      </p:sp>
      <p:sp>
        <p:nvSpPr>
          <p:cNvPr id="13" name="Text 11"/>
          <p:cNvSpPr/>
          <p:nvPr/>
        </p:nvSpPr>
        <p:spPr>
          <a:xfrm>
            <a:off x="502920" y="1417320"/>
            <a:ext cx="4572000" cy="320040"/>
          </a:xfrm>
          <a:prstGeom prst="rect">
            <a:avLst/>
          </a:prstGeom>
          <a:noFill/>
          <a:ln/>
        </p:spPr>
        <p:txBody>
          <a:bodyPr wrap="square" lIns="0" tIns="0" rIns="0" bIns="0" rtlCol="0" anchor="ctr"/>
          <a:lstStyle/>
          <a:p>
            <a:pPr marL="0" indent="0">
              <a:buNone/>
            </a:pPr>
            <a:r>
              <a:rPr lang="en-US" sz="1200" b="1" dirty="0">
                <a:solidFill>
                  <a:srgbClr val="00D4FF"/>
                </a:solidFill>
                <a:latin typeface="Microsoft YaHei" pitchFamily="34" charset="0"/>
                <a:ea typeface="Microsoft YaHei" pitchFamily="34" charset="-122"/>
                <a:cs typeface="Microsoft YaHei" pitchFamily="34" charset="-120"/>
              </a:rPr>
              <a:t>多智能体协作流程（6个专职Agent）</a:t>
            </a:r>
            <a:endParaRPr lang="en-US" sz="1200" dirty="0"/>
          </a:p>
        </p:txBody>
      </p:sp>
      <p:sp>
        <p:nvSpPr>
          <p:cNvPr id="14" name="Shape 12"/>
          <p:cNvSpPr/>
          <p:nvPr/>
        </p:nvSpPr>
        <p:spPr>
          <a:xfrm>
            <a:off x="548640" y="1783080"/>
            <a:ext cx="1188720" cy="822960"/>
          </a:xfrm>
          <a:prstGeom prst="roundRect">
            <a:avLst>
              <a:gd name="adj" fmla="val 6667"/>
            </a:avLst>
          </a:prstGeom>
          <a:solidFill>
            <a:srgbClr val="243351"/>
          </a:solidFill>
          <a:ln w="10160">
            <a:solidFill>
              <a:srgbClr val="00D4FF"/>
            </a:solidFill>
            <a:prstDash val="solid"/>
          </a:ln>
        </p:spPr>
      </p:sp>
      <p:sp>
        <p:nvSpPr>
          <p:cNvPr id="15" name="Text 13"/>
          <p:cNvSpPr/>
          <p:nvPr/>
        </p:nvSpPr>
        <p:spPr>
          <a:xfrm>
            <a:off x="548640" y="1783080"/>
            <a:ext cx="1188720" cy="50292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creative</a:t>
            </a:r>
            <a:endParaRPr lang="en-US" sz="800" dirty="0"/>
          </a:p>
          <a:p>
            <a:pPr marL="0" indent="0" algn="ctr">
              <a:buNone/>
            </a:pPr>
            <a:r>
              <a:rPr lang="en-US" sz="800" b="1" dirty="0">
                <a:solidFill>
                  <a:srgbClr val="00D4FF"/>
                </a:solidFill>
                <a:latin typeface="Consolas" pitchFamily="34" charset="0"/>
                <a:ea typeface="Consolas" pitchFamily="34" charset="-122"/>
                <a:cs typeface="Consolas" pitchFamily="34" charset="-120"/>
              </a:rPr>
              <a:t>interviewer</a:t>
            </a:r>
            <a:endParaRPr lang="en-US" sz="800" dirty="0"/>
          </a:p>
        </p:txBody>
      </p:sp>
      <p:sp>
        <p:nvSpPr>
          <p:cNvPr id="16" name="Text 14"/>
          <p:cNvSpPr/>
          <p:nvPr/>
        </p:nvSpPr>
        <p:spPr>
          <a:xfrm>
            <a:off x="548640" y="2240280"/>
            <a:ext cx="1188720" cy="365760"/>
          </a:xfrm>
          <a:prstGeom prst="rect">
            <a:avLst/>
          </a:prstGeom>
          <a:noFill/>
          <a:ln/>
        </p:spPr>
        <p:txBody>
          <a:bodyPr wrap="square" rtlCol="0" anchor="t"/>
          <a:lstStyle/>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创作访谈</a:t>
            </a:r>
            <a:endParaRPr lang="en-US" sz="700" dirty="0">
              <a:solidFill>
                <a:schemeClr val="bg1"/>
              </a:solidFill>
            </a:endParaRPr>
          </a:p>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补齐设定</a:t>
            </a:r>
            <a:endParaRPr lang="en-US" sz="700" dirty="0">
              <a:solidFill>
                <a:schemeClr val="bg1"/>
              </a:solidFill>
            </a:endParaRPr>
          </a:p>
        </p:txBody>
      </p:sp>
      <p:sp>
        <p:nvSpPr>
          <p:cNvPr id="17" name="Text 15"/>
          <p:cNvSpPr/>
          <p:nvPr/>
        </p:nvSpPr>
        <p:spPr>
          <a:xfrm>
            <a:off x="1737360" y="2011680"/>
            <a:ext cx="182880" cy="274320"/>
          </a:xfrm>
          <a:prstGeom prst="rect">
            <a:avLst/>
          </a:prstGeom>
          <a:noFill/>
          <a:ln/>
        </p:spPr>
        <p:txBody>
          <a:bodyPr wrap="square" rtlCol="0" anchor="ctr"/>
          <a:lstStyle/>
          <a:p>
            <a:pPr marL="0" indent="0" algn="ctr">
              <a:buNone/>
            </a:pPr>
            <a:r>
              <a:rPr lang="en-US" sz="1400" dirty="0">
                <a:solidFill>
                  <a:srgbClr val="FF6B35"/>
                </a:solidFill>
              </a:rPr>
              <a:t>→</a:t>
            </a:r>
            <a:endParaRPr lang="en-US" sz="1400" dirty="0"/>
          </a:p>
        </p:txBody>
      </p:sp>
      <p:sp>
        <p:nvSpPr>
          <p:cNvPr id="18" name="Shape 16"/>
          <p:cNvSpPr/>
          <p:nvPr/>
        </p:nvSpPr>
        <p:spPr>
          <a:xfrm>
            <a:off x="1920240" y="1783080"/>
            <a:ext cx="1188720" cy="822960"/>
          </a:xfrm>
          <a:prstGeom prst="roundRect">
            <a:avLst>
              <a:gd name="adj" fmla="val 6667"/>
            </a:avLst>
          </a:prstGeom>
          <a:solidFill>
            <a:srgbClr val="243351"/>
          </a:solidFill>
          <a:ln w="10160">
            <a:solidFill>
              <a:srgbClr val="00D4FF"/>
            </a:solidFill>
            <a:prstDash val="solid"/>
          </a:ln>
        </p:spPr>
      </p:sp>
      <p:sp>
        <p:nvSpPr>
          <p:cNvPr id="19" name="Text 17"/>
          <p:cNvSpPr/>
          <p:nvPr/>
        </p:nvSpPr>
        <p:spPr>
          <a:xfrm>
            <a:off x="1920240" y="1783080"/>
            <a:ext cx="1188720" cy="50292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script</a:t>
            </a:r>
            <a:endParaRPr lang="en-US" sz="800" dirty="0"/>
          </a:p>
          <a:p>
            <a:pPr marL="0" indent="0" algn="ctr">
              <a:buNone/>
            </a:pPr>
            <a:r>
              <a:rPr lang="en-US" sz="800" b="1" dirty="0">
                <a:solidFill>
                  <a:srgbClr val="00D4FF"/>
                </a:solidFill>
                <a:latin typeface="Consolas" pitchFamily="34" charset="0"/>
                <a:ea typeface="Consolas" pitchFamily="34" charset="-122"/>
                <a:cs typeface="Consolas" pitchFamily="34" charset="-120"/>
              </a:rPr>
              <a:t>rewriter</a:t>
            </a:r>
            <a:endParaRPr lang="en-US" sz="800" dirty="0"/>
          </a:p>
        </p:txBody>
      </p:sp>
      <p:sp>
        <p:nvSpPr>
          <p:cNvPr id="20" name="Text 18"/>
          <p:cNvSpPr/>
          <p:nvPr/>
        </p:nvSpPr>
        <p:spPr>
          <a:xfrm>
            <a:off x="1920240" y="2240280"/>
            <a:ext cx="1188720" cy="365760"/>
          </a:xfrm>
          <a:prstGeom prst="rect">
            <a:avLst/>
          </a:prstGeom>
          <a:noFill/>
          <a:ln/>
        </p:spPr>
        <p:txBody>
          <a:bodyPr wrap="square" rtlCol="0" anchor="t"/>
          <a:lstStyle/>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剧本改写</a:t>
            </a:r>
            <a:endParaRPr lang="en-US" sz="700" dirty="0">
              <a:solidFill>
                <a:schemeClr val="bg1"/>
              </a:solidFill>
            </a:endParaRPr>
          </a:p>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动作语义</a:t>
            </a:r>
            <a:endParaRPr lang="en-US" sz="700" dirty="0">
              <a:solidFill>
                <a:schemeClr val="bg1"/>
              </a:solidFill>
            </a:endParaRPr>
          </a:p>
        </p:txBody>
      </p:sp>
      <p:sp>
        <p:nvSpPr>
          <p:cNvPr id="21" name="Text 19"/>
          <p:cNvSpPr/>
          <p:nvPr/>
        </p:nvSpPr>
        <p:spPr>
          <a:xfrm>
            <a:off x="3108960" y="2011680"/>
            <a:ext cx="182880" cy="274320"/>
          </a:xfrm>
          <a:prstGeom prst="rect">
            <a:avLst/>
          </a:prstGeom>
          <a:noFill/>
          <a:ln/>
        </p:spPr>
        <p:txBody>
          <a:bodyPr wrap="square" rtlCol="0" anchor="ctr"/>
          <a:lstStyle/>
          <a:p>
            <a:pPr marL="0" indent="0" algn="ctr">
              <a:buNone/>
            </a:pPr>
            <a:r>
              <a:rPr lang="en-US" sz="1400" dirty="0">
                <a:solidFill>
                  <a:srgbClr val="FF6B35"/>
                </a:solidFill>
              </a:rPr>
              <a:t>→</a:t>
            </a:r>
            <a:endParaRPr lang="en-US" sz="1400" dirty="0"/>
          </a:p>
        </p:txBody>
      </p:sp>
      <p:sp>
        <p:nvSpPr>
          <p:cNvPr id="22" name="Shape 20"/>
          <p:cNvSpPr/>
          <p:nvPr/>
        </p:nvSpPr>
        <p:spPr>
          <a:xfrm>
            <a:off x="3291840" y="1783080"/>
            <a:ext cx="1188720" cy="822960"/>
          </a:xfrm>
          <a:prstGeom prst="roundRect">
            <a:avLst>
              <a:gd name="adj" fmla="val 6667"/>
            </a:avLst>
          </a:prstGeom>
          <a:solidFill>
            <a:srgbClr val="243351"/>
          </a:solidFill>
          <a:ln w="10160">
            <a:solidFill>
              <a:srgbClr val="00D4FF"/>
            </a:solidFill>
            <a:prstDash val="solid"/>
          </a:ln>
        </p:spPr>
      </p:sp>
      <p:sp>
        <p:nvSpPr>
          <p:cNvPr id="23" name="Text 21"/>
          <p:cNvSpPr/>
          <p:nvPr/>
        </p:nvSpPr>
        <p:spPr>
          <a:xfrm>
            <a:off x="3291840" y="1783080"/>
            <a:ext cx="1188720" cy="50292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extractor</a:t>
            </a:r>
            <a:endParaRPr lang="en-US" sz="800" dirty="0"/>
          </a:p>
        </p:txBody>
      </p:sp>
      <p:sp>
        <p:nvSpPr>
          <p:cNvPr id="24" name="Text 22"/>
          <p:cNvSpPr/>
          <p:nvPr/>
        </p:nvSpPr>
        <p:spPr>
          <a:xfrm>
            <a:off x="3291840" y="2240280"/>
            <a:ext cx="1188720" cy="365760"/>
          </a:xfrm>
          <a:prstGeom prst="rect">
            <a:avLst/>
          </a:prstGeom>
          <a:noFill/>
          <a:ln/>
        </p:spPr>
        <p:txBody>
          <a:bodyPr wrap="square" rtlCol="0" anchor="t"/>
          <a:lstStyle/>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角色场景</a:t>
            </a:r>
            <a:endParaRPr lang="en-US" sz="700" dirty="0">
              <a:solidFill>
                <a:schemeClr val="bg1"/>
              </a:solidFill>
            </a:endParaRPr>
          </a:p>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提取去重</a:t>
            </a:r>
            <a:endParaRPr lang="en-US" sz="700" dirty="0">
              <a:solidFill>
                <a:schemeClr val="bg1"/>
              </a:solidFill>
            </a:endParaRPr>
          </a:p>
        </p:txBody>
      </p:sp>
      <p:sp>
        <p:nvSpPr>
          <p:cNvPr id="25" name="Text 23"/>
          <p:cNvSpPr/>
          <p:nvPr/>
        </p:nvSpPr>
        <p:spPr>
          <a:xfrm>
            <a:off x="4480560" y="2011680"/>
            <a:ext cx="182880" cy="274320"/>
          </a:xfrm>
          <a:prstGeom prst="rect">
            <a:avLst/>
          </a:prstGeom>
          <a:noFill/>
          <a:ln/>
        </p:spPr>
        <p:txBody>
          <a:bodyPr wrap="square" rtlCol="0" anchor="ctr"/>
          <a:lstStyle/>
          <a:p>
            <a:pPr marL="0" indent="0" algn="ctr">
              <a:buNone/>
            </a:pPr>
            <a:r>
              <a:rPr lang="en-US" sz="1400" dirty="0">
                <a:solidFill>
                  <a:srgbClr val="FF6B35"/>
                </a:solidFill>
              </a:rPr>
              <a:t>→</a:t>
            </a:r>
            <a:endParaRPr lang="en-US" sz="1400" dirty="0"/>
          </a:p>
        </p:txBody>
      </p:sp>
      <p:sp>
        <p:nvSpPr>
          <p:cNvPr id="26" name="Shape 24"/>
          <p:cNvSpPr/>
          <p:nvPr/>
        </p:nvSpPr>
        <p:spPr>
          <a:xfrm>
            <a:off x="4663440" y="1783080"/>
            <a:ext cx="1188720" cy="822960"/>
          </a:xfrm>
          <a:prstGeom prst="roundRect">
            <a:avLst>
              <a:gd name="adj" fmla="val 6667"/>
            </a:avLst>
          </a:prstGeom>
          <a:solidFill>
            <a:srgbClr val="243351"/>
          </a:solidFill>
          <a:ln w="10160">
            <a:solidFill>
              <a:srgbClr val="00D4FF"/>
            </a:solidFill>
            <a:prstDash val="solid"/>
          </a:ln>
        </p:spPr>
      </p:sp>
      <p:sp>
        <p:nvSpPr>
          <p:cNvPr id="27" name="Text 25"/>
          <p:cNvSpPr/>
          <p:nvPr/>
        </p:nvSpPr>
        <p:spPr>
          <a:xfrm>
            <a:off x="4663440" y="1783080"/>
            <a:ext cx="1188720" cy="50292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voice</a:t>
            </a:r>
            <a:endParaRPr lang="en-US" sz="800" dirty="0"/>
          </a:p>
          <a:p>
            <a:pPr marL="0" indent="0" algn="ctr">
              <a:buNone/>
            </a:pPr>
            <a:r>
              <a:rPr lang="en-US" sz="800" b="1" dirty="0">
                <a:solidFill>
                  <a:srgbClr val="00D4FF"/>
                </a:solidFill>
                <a:latin typeface="Consolas" pitchFamily="34" charset="0"/>
                <a:ea typeface="Consolas" pitchFamily="34" charset="-122"/>
                <a:cs typeface="Consolas" pitchFamily="34" charset="-120"/>
              </a:rPr>
              <a:t>assigner</a:t>
            </a:r>
            <a:endParaRPr lang="en-US" sz="800" dirty="0"/>
          </a:p>
        </p:txBody>
      </p:sp>
      <p:sp>
        <p:nvSpPr>
          <p:cNvPr id="28" name="Text 26"/>
          <p:cNvSpPr/>
          <p:nvPr/>
        </p:nvSpPr>
        <p:spPr>
          <a:xfrm>
            <a:off x="4663440" y="2240280"/>
            <a:ext cx="1188720" cy="365760"/>
          </a:xfrm>
          <a:prstGeom prst="rect">
            <a:avLst/>
          </a:prstGeom>
          <a:noFill/>
          <a:ln/>
        </p:spPr>
        <p:txBody>
          <a:bodyPr wrap="square" rtlCol="0" anchor="t"/>
          <a:lstStyle/>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音色分配</a:t>
            </a:r>
            <a:endParaRPr lang="en-US" sz="700" dirty="0">
              <a:solidFill>
                <a:schemeClr val="bg1"/>
              </a:solidFill>
            </a:endParaRPr>
          </a:p>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角色映射</a:t>
            </a:r>
            <a:endParaRPr lang="en-US" sz="700" dirty="0">
              <a:solidFill>
                <a:schemeClr val="bg1"/>
              </a:solidFill>
            </a:endParaRPr>
          </a:p>
        </p:txBody>
      </p:sp>
      <p:sp>
        <p:nvSpPr>
          <p:cNvPr id="29" name="Text 27"/>
          <p:cNvSpPr/>
          <p:nvPr/>
        </p:nvSpPr>
        <p:spPr>
          <a:xfrm>
            <a:off x="5852160" y="2011680"/>
            <a:ext cx="182880" cy="274320"/>
          </a:xfrm>
          <a:prstGeom prst="rect">
            <a:avLst/>
          </a:prstGeom>
          <a:noFill/>
          <a:ln/>
        </p:spPr>
        <p:txBody>
          <a:bodyPr wrap="square" rtlCol="0" anchor="ctr"/>
          <a:lstStyle/>
          <a:p>
            <a:pPr marL="0" indent="0" algn="ctr">
              <a:buNone/>
            </a:pPr>
            <a:r>
              <a:rPr lang="en-US" sz="1400" dirty="0">
                <a:solidFill>
                  <a:srgbClr val="FF6B35"/>
                </a:solidFill>
              </a:rPr>
              <a:t>→</a:t>
            </a:r>
            <a:endParaRPr lang="en-US" sz="1400" dirty="0"/>
          </a:p>
        </p:txBody>
      </p:sp>
      <p:sp>
        <p:nvSpPr>
          <p:cNvPr id="30" name="Shape 28"/>
          <p:cNvSpPr/>
          <p:nvPr/>
        </p:nvSpPr>
        <p:spPr>
          <a:xfrm>
            <a:off x="6035040" y="1783080"/>
            <a:ext cx="1188720" cy="822960"/>
          </a:xfrm>
          <a:prstGeom prst="roundRect">
            <a:avLst>
              <a:gd name="adj" fmla="val 6667"/>
            </a:avLst>
          </a:prstGeom>
          <a:solidFill>
            <a:srgbClr val="243351"/>
          </a:solidFill>
          <a:ln w="10160">
            <a:solidFill>
              <a:srgbClr val="00D4FF"/>
            </a:solidFill>
            <a:prstDash val="solid"/>
          </a:ln>
        </p:spPr>
      </p:sp>
      <p:sp>
        <p:nvSpPr>
          <p:cNvPr id="31" name="Text 29"/>
          <p:cNvSpPr/>
          <p:nvPr/>
        </p:nvSpPr>
        <p:spPr>
          <a:xfrm>
            <a:off x="6035040" y="1783080"/>
            <a:ext cx="1188720" cy="50292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storyboard</a:t>
            </a:r>
            <a:endParaRPr lang="en-US" sz="800" dirty="0"/>
          </a:p>
          <a:p>
            <a:pPr marL="0" indent="0" algn="ctr">
              <a:buNone/>
            </a:pPr>
            <a:r>
              <a:rPr lang="en-US" sz="800" b="1" dirty="0">
                <a:solidFill>
                  <a:srgbClr val="00D4FF"/>
                </a:solidFill>
                <a:latin typeface="Consolas" pitchFamily="34" charset="0"/>
                <a:ea typeface="Consolas" pitchFamily="34" charset="-122"/>
                <a:cs typeface="Consolas" pitchFamily="34" charset="-120"/>
              </a:rPr>
              <a:t>breaker</a:t>
            </a:r>
            <a:endParaRPr lang="en-US" sz="800" dirty="0"/>
          </a:p>
        </p:txBody>
      </p:sp>
      <p:sp>
        <p:nvSpPr>
          <p:cNvPr id="32" name="Text 30"/>
          <p:cNvSpPr/>
          <p:nvPr/>
        </p:nvSpPr>
        <p:spPr>
          <a:xfrm>
            <a:off x="6035040" y="2240280"/>
            <a:ext cx="1188720" cy="365760"/>
          </a:xfrm>
          <a:prstGeom prst="rect">
            <a:avLst/>
          </a:prstGeom>
          <a:noFill/>
          <a:ln/>
        </p:spPr>
        <p:txBody>
          <a:bodyPr wrap="square" rtlCol="0" anchor="t"/>
          <a:lstStyle/>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分镜拆解</a:t>
            </a:r>
            <a:endParaRPr lang="en-US" sz="700" dirty="0">
              <a:solidFill>
                <a:schemeClr val="bg1"/>
              </a:solidFill>
            </a:endParaRPr>
          </a:p>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镜头语义</a:t>
            </a:r>
            <a:endParaRPr lang="en-US" sz="700" dirty="0">
              <a:solidFill>
                <a:schemeClr val="bg1"/>
              </a:solidFill>
            </a:endParaRPr>
          </a:p>
        </p:txBody>
      </p:sp>
      <p:sp>
        <p:nvSpPr>
          <p:cNvPr id="33" name="Text 31"/>
          <p:cNvSpPr/>
          <p:nvPr/>
        </p:nvSpPr>
        <p:spPr>
          <a:xfrm>
            <a:off x="7223760" y="2011680"/>
            <a:ext cx="182880" cy="274320"/>
          </a:xfrm>
          <a:prstGeom prst="rect">
            <a:avLst/>
          </a:prstGeom>
          <a:noFill/>
          <a:ln/>
        </p:spPr>
        <p:txBody>
          <a:bodyPr wrap="square" rtlCol="0" anchor="ctr"/>
          <a:lstStyle/>
          <a:p>
            <a:pPr marL="0" indent="0" algn="ctr">
              <a:buNone/>
            </a:pPr>
            <a:r>
              <a:rPr lang="en-US" sz="1400" dirty="0">
                <a:solidFill>
                  <a:srgbClr val="FF6B35"/>
                </a:solidFill>
              </a:rPr>
              <a:t>→</a:t>
            </a:r>
            <a:endParaRPr lang="en-US" sz="1400" dirty="0"/>
          </a:p>
        </p:txBody>
      </p:sp>
      <p:sp>
        <p:nvSpPr>
          <p:cNvPr id="34" name="Shape 32"/>
          <p:cNvSpPr/>
          <p:nvPr/>
        </p:nvSpPr>
        <p:spPr>
          <a:xfrm>
            <a:off x="7406640" y="1783080"/>
            <a:ext cx="1188720" cy="822960"/>
          </a:xfrm>
          <a:prstGeom prst="roundRect">
            <a:avLst>
              <a:gd name="adj" fmla="val 6667"/>
            </a:avLst>
          </a:prstGeom>
          <a:solidFill>
            <a:srgbClr val="243351"/>
          </a:solidFill>
          <a:ln w="10160">
            <a:solidFill>
              <a:srgbClr val="00D4FF"/>
            </a:solidFill>
            <a:prstDash val="solid"/>
          </a:ln>
        </p:spPr>
      </p:sp>
      <p:sp>
        <p:nvSpPr>
          <p:cNvPr id="35" name="Text 33"/>
          <p:cNvSpPr/>
          <p:nvPr/>
        </p:nvSpPr>
        <p:spPr>
          <a:xfrm>
            <a:off x="7406640" y="1783080"/>
            <a:ext cx="1188720" cy="502920"/>
          </a:xfrm>
          <a:prstGeom prst="rect">
            <a:avLst/>
          </a:prstGeom>
          <a:noFill/>
          <a:ln/>
        </p:spPr>
        <p:txBody>
          <a:bodyPr wrap="square"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grid</a:t>
            </a:r>
            <a:endParaRPr lang="en-US" sz="800" dirty="0"/>
          </a:p>
          <a:p>
            <a:pPr marL="0" indent="0" algn="ctr">
              <a:buNone/>
            </a:pPr>
            <a:r>
              <a:rPr lang="en-US" sz="800" b="1" dirty="0">
                <a:solidFill>
                  <a:srgbClr val="00D4FF"/>
                </a:solidFill>
                <a:latin typeface="Consolas" pitchFamily="34" charset="0"/>
                <a:ea typeface="Consolas" pitchFamily="34" charset="-122"/>
                <a:cs typeface="Consolas" pitchFamily="34" charset="-120"/>
              </a:rPr>
              <a:t>prompt</a:t>
            </a:r>
            <a:endParaRPr lang="en-US" sz="800" dirty="0"/>
          </a:p>
        </p:txBody>
      </p:sp>
      <p:sp>
        <p:nvSpPr>
          <p:cNvPr id="36" name="Text 34"/>
          <p:cNvSpPr/>
          <p:nvPr/>
        </p:nvSpPr>
        <p:spPr>
          <a:xfrm>
            <a:off x="7406640" y="2240280"/>
            <a:ext cx="1188720" cy="365760"/>
          </a:xfrm>
          <a:prstGeom prst="rect">
            <a:avLst/>
          </a:prstGeom>
          <a:noFill/>
          <a:ln/>
        </p:spPr>
        <p:txBody>
          <a:bodyPr wrap="square" rtlCol="0" anchor="t"/>
          <a:lstStyle/>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宫格提示词</a:t>
            </a:r>
            <a:endParaRPr lang="en-US" sz="700" dirty="0">
              <a:solidFill>
                <a:schemeClr val="bg1"/>
              </a:solidFill>
            </a:endParaRPr>
          </a:p>
          <a:p>
            <a:pPr marL="0" indent="0" algn="ctr">
              <a:buNone/>
            </a:pPr>
            <a:r>
              <a:rPr lang="en-US" sz="700" dirty="0">
                <a:solidFill>
                  <a:schemeClr val="bg1"/>
                </a:solidFill>
                <a:latin typeface="Microsoft YaHei" pitchFamily="34" charset="0"/>
                <a:ea typeface="Microsoft YaHei" pitchFamily="34" charset="-122"/>
                <a:cs typeface="Microsoft YaHei" pitchFamily="34" charset="-120"/>
              </a:rPr>
              <a:t>批量参考</a:t>
            </a:r>
            <a:endParaRPr lang="en-US" sz="700" dirty="0">
              <a:solidFill>
                <a:schemeClr val="bg1"/>
              </a:solidFill>
            </a:endParaRPr>
          </a:p>
        </p:txBody>
      </p:sp>
      <p:sp>
        <p:nvSpPr>
          <p:cNvPr id="37" name="Text 35"/>
          <p:cNvSpPr/>
          <p:nvPr/>
        </p:nvSpPr>
        <p:spPr>
          <a:xfrm>
            <a:off x="502920" y="2697480"/>
            <a:ext cx="8229600" cy="365760"/>
          </a:xfrm>
          <a:prstGeom prst="rect">
            <a:avLst/>
          </a:prstGeom>
          <a:noFill/>
          <a:ln/>
        </p:spPr>
        <p:txBody>
          <a:bodyPr wrap="square" lIns="0" tIns="0" rIns="0" bIns="0" rtlCol="0" anchor="ctr"/>
          <a:lstStyle/>
          <a:p>
            <a:pPr marL="0" indent="0">
              <a:buNone/>
            </a:pPr>
            <a:r>
              <a:rPr lang="en-US" sz="900" dirty="0">
                <a:solidFill>
                  <a:schemeClr val="bg1"/>
                </a:solidFill>
                <a:latin typeface="Microsoft YaHei" pitchFamily="34" charset="0"/>
                <a:ea typeface="Microsoft YaHei" pitchFamily="34" charset="-122"/>
                <a:cs typeface="Microsoft YaHei" pitchFamily="34" charset="-120"/>
              </a:rPr>
              <a:t>通过 LangChain Tool Calling 实现业务封装，结构化输出与状态管理，支持多轮迭代与人工确认节点</a:t>
            </a:r>
            <a:endParaRPr lang="en-US" sz="900" dirty="0">
              <a:solidFill>
                <a:schemeClr val="bg1"/>
              </a:solidFill>
            </a:endParaRPr>
          </a:p>
        </p:txBody>
      </p:sp>
      <p:sp>
        <p:nvSpPr>
          <p:cNvPr id="38" name="Shape 36"/>
          <p:cNvSpPr/>
          <p:nvPr/>
        </p:nvSpPr>
        <p:spPr>
          <a:xfrm>
            <a:off x="320040" y="3291840"/>
            <a:ext cx="4114800" cy="1600200"/>
          </a:xfrm>
          <a:prstGeom prst="rect">
            <a:avLst/>
          </a:prstGeom>
          <a:solidFill>
            <a:srgbClr val="1A2642"/>
          </a:solidFill>
          <a:ln w="6350">
            <a:solidFill>
              <a:srgbClr val="334155"/>
            </a:solidFill>
            <a:prstDash val="solid"/>
          </a:ln>
        </p:spPr>
      </p:sp>
      <p:sp>
        <p:nvSpPr>
          <p:cNvPr id="39" name="Shape 37"/>
          <p:cNvSpPr/>
          <p:nvPr/>
        </p:nvSpPr>
        <p:spPr>
          <a:xfrm>
            <a:off x="320040" y="3291840"/>
            <a:ext cx="54864" cy="1600200"/>
          </a:xfrm>
          <a:prstGeom prst="rect">
            <a:avLst/>
          </a:prstGeom>
          <a:solidFill>
            <a:srgbClr val="FF6B35"/>
          </a:solidFill>
          <a:ln/>
        </p:spPr>
      </p:sp>
      <p:sp>
        <p:nvSpPr>
          <p:cNvPr id="40" name="Text 38"/>
          <p:cNvSpPr/>
          <p:nvPr/>
        </p:nvSpPr>
        <p:spPr>
          <a:xfrm>
            <a:off x="502920" y="3383280"/>
            <a:ext cx="2743200" cy="320040"/>
          </a:xfrm>
          <a:prstGeom prst="rect">
            <a:avLst/>
          </a:prstGeom>
          <a:noFill/>
          <a:ln/>
        </p:spPr>
        <p:txBody>
          <a:bodyPr wrap="square" lIns="0" tIns="0" rIns="0" bIns="0" rtlCol="0" anchor="ctr"/>
          <a:lstStyle/>
          <a:p>
            <a:pPr marL="0" indent="0">
              <a:buNone/>
            </a:pPr>
            <a:r>
              <a:rPr lang="en-US" sz="1200" b="1" dirty="0">
                <a:solidFill>
                  <a:srgbClr val="FF6B35"/>
                </a:solidFill>
                <a:latin typeface="Microsoft YaHei" pitchFamily="34" charset="0"/>
                <a:ea typeface="Microsoft YaHei" pitchFamily="34" charset="-122"/>
                <a:cs typeface="Microsoft YaHei" pitchFamily="34" charset="-120"/>
              </a:rPr>
              <a:t>Unity JSON 剧本导出</a:t>
            </a:r>
            <a:endParaRPr lang="en-US" sz="1200" dirty="0"/>
          </a:p>
        </p:txBody>
      </p:sp>
      <p:sp>
        <p:nvSpPr>
          <p:cNvPr id="41" name="Text 39"/>
          <p:cNvSpPr/>
          <p:nvPr/>
        </p:nvSpPr>
        <p:spPr>
          <a:xfrm>
            <a:off x="502920" y="3703320"/>
            <a:ext cx="3840480" cy="1143000"/>
          </a:xfrm>
          <a:prstGeom prst="rect">
            <a:avLst/>
          </a:prstGeom>
          <a:noFill/>
          <a:ln/>
        </p:spPr>
        <p:txBody>
          <a:bodyPr wrap="square" lIns="0" tIns="0" rIns="0" bIns="0" rtlCol="0" anchor="ctr"/>
          <a:lstStyle/>
          <a:p>
            <a:pPr marL="0" indent="0">
              <a:buNone/>
            </a:pPr>
            <a:r>
              <a:rPr lang="en-US" sz="800" b="1" dirty="0">
                <a:solidFill>
                  <a:srgbClr val="FFFFFF"/>
                </a:solidFill>
                <a:latin typeface="Microsoft YaHei" pitchFamily="34" charset="0"/>
                <a:ea typeface="Microsoft YaHei" pitchFamily="34" charset="-122"/>
                <a:cs typeface="Microsoft YaHei" pitchFamily="34" charset="-120"/>
              </a:rPr>
              <a:t>核心字段：</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 project - 项目信息、剧集、引擎版本</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 characters - 角色ID、名称、音色信息</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 scenes - 场景ID、地点、时间、氛围</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 storyboards - 镜头编号、动作、对白、时长</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 timeline - 镜头总数、总时长、帧率</a:t>
            </a:r>
            <a:endParaRPr lang="en-US" sz="800" dirty="0"/>
          </a:p>
          <a:p>
            <a:pPr marL="0" indent="0">
              <a:buNone/>
            </a:pPr>
            <a:endParaRPr lang="en-US" sz="800" dirty="0"/>
          </a:p>
          <a:p>
            <a:pPr marL="0" indent="0">
              <a:buNone/>
            </a:pPr>
            <a:r>
              <a:rPr lang="en-US" sz="800" b="1" dirty="0">
                <a:solidFill>
                  <a:srgbClr val="FFFFFF"/>
                </a:solidFill>
                <a:latin typeface="Microsoft YaHei" pitchFamily="34" charset="0"/>
                <a:ea typeface="Microsoft YaHei" pitchFamily="34" charset="-122"/>
                <a:cs typeface="Microsoft YaHei" pitchFamily="34" charset="-120"/>
              </a:rPr>
              <a:t>关键桥接：</a:t>
            </a:r>
            <a:endParaRPr lang="en-US" sz="800" dirty="0"/>
          </a:p>
          <a:p>
            <a:pPr marL="0" indent="0">
              <a:buNone/>
            </a:pPr>
            <a:r>
              <a:rPr lang="en-US" sz="800" dirty="0">
                <a:solidFill>
                  <a:srgbClr val="FF6B35"/>
                </a:solidFill>
                <a:latin typeface="Microsoft YaHei" pitchFamily="34" charset="0"/>
                <a:ea typeface="Microsoft YaHei" pitchFamily="34" charset="-122"/>
                <a:cs typeface="Microsoft YaHei" pitchFamily="34" charset="-120"/>
              </a:rPr>
              <a:t>storyboards.action 字段直接连接剧本动作语义与执行层动作编排</a:t>
            </a:r>
            <a:endParaRPr lang="en-US" sz="800" dirty="0"/>
          </a:p>
        </p:txBody>
      </p:sp>
      <p:sp>
        <p:nvSpPr>
          <p:cNvPr id="42" name="Shape 40"/>
          <p:cNvSpPr/>
          <p:nvPr/>
        </p:nvSpPr>
        <p:spPr>
          <a:xfrm>
            <a:off x="4572000" y="3291840"/>
            <a:ext cx="4251960" cy="1600200"/>
          </a:xfrm>
          <a:prstGeom prst="rect">
            <a:avLst/>
          </a:prstGeom>
          <a:solidFill>
            <a:srgbClr val="1A2642"/>
          </a:solidFill>
          <a:ln w="6350">
            <a:solidFill>
              <a:srgbClr val="334155"/>
            </a:solidFill>
            <a:prstDash val="solid"/>
          </a:ln>
        </p:spPr>
      </p:sp>
      <p:sp>
        <p:nvSpPr>
          <p:cNvPr id="43" name="Shape 41"/>
          <p:cNvSpPr/>
          <p:nvPr/>
        </p:nvSpPr>
        <p:spPr>
          <a:xfrm>
            <a:off x="4572000" y="3291840"/>
            <a:ext cx="54864" cy="1600200"/>
          </a:xfrm>
          <a:prstGeom prst="rect">
            <a:avLst/>
          </a:prstGeom>
          <a:solidFill>
            <a:srgbClr val="8B5CF6"/>
          </a:solidFill>
          <a:ln/>
        </p:spPr>
      </p:sp>
      <p:sp>
        <p:nvSpPr>
          <p:cNvPr id="44" name="Text 42"/>
          <p:cNvSpPr/>
          <p:nvPr/>
        </p:nvSpPr>
        <p:spPr>
          <a:xfrm>
            <a:off x="4754880" y="3383280"/>
            <a:ext cx="2743200" cy="320040"/>
          </a:xfrm>
          <a:prstGeom prst="rect">
            <a:avLst/>
          </a:prstGeom>
          <a:noFill/>
          <a:ln/>
        </p:spPr>
        <p:txBody>
          <a:bodyPr wrap="square" lIns="0" tIns="0" rIns="0" bIns="0" rtlCol="0" anchor="ctr"/>
          <a:lstStyle/>
          <a:p>
            <a:pPr marL="0" indent="0">
              <a:buNone/>
            </a:pPr>
            <a:r>
              <a:rPr lang="en-US" sz="1200" b="1" dirty="0">
                <a:solidFill>
                  <a:srgbClr val="8B5CF6"/>
                </a:solidFill>
                <a:latin typeface="Microsoft YaHei" pitchFamily="34" charset="0"/>
                <a:ea typeface="Microsoft YaHei" pitchFamily="34" charset="-122"/>
                <a:cs typeface="Microsoft YaHei" pitchFamily="34" charset="-120"/>
              </a:rPr>
              <a:t>执行层对接方案</a:t>
            </a:r>
            <a:endParaRPr lang="en-US" sz="1200" dirty="0"/>
          </a:p>
        </p:txBody>
      </p:sp>
      <p:sp>
        <p:nvSpPr>
          <p:cNvPr id="45" name="Text 43"/>
          <p:cNvSpPr/>
          <p:nvPr/>
        </p:nvSpPr>
        <p:spPr>
          <a:xfrm>
            <a:off x="4754880" y="3703320"/>
            <a:ext cx="3931920" cy="1143000"/>
          </a:xfrm>
          <a:prstGeom prst="rect">
            <a:avLst/>
          </a:prstGeom>
          <a:noFill/>
          <a:ln/>
        </p:spPr>
        <p:txBody>
          <a:bodyPr wrap="square" lIns="0" tIns="0" rIns="0" bIns="0" rtlCol="0" anchor="ctr"/>
          <a:lstStyle/>
          <a:p>
            <a:pPr marL="0" indent="0">
              <a:buNone/>
            </a:pPr>
            <a:r>
              <a:rPr lang="en-US" sz="800" b="1" dirty="0">
                <a:solidFill>
                  <a:srgbClr val="FFFFFF"/>
                </a:solidFill>
                <a:latin typeface="Microsoft YaHei" pitchFamily="34" charset="0"/>
                <a:ea typeface="Microsoft YaHei" pitchFamily="34" charset="-122"/>
                <a:cs typeface="Microsoft YaHei" pitchFamily="34" charset="-120"/>
              </a:rPr>
              <a:t>对接流程：</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剧本分镜素材 → 组装统一JSON → HTTP端口推送 → Unity/机器人执行</a:t>
            </a:r>
            <a:endParaRPr lang="en-US" sz="800" dirty="0"/>
          </a:p>
          <a:p>
            <a:pPr marL="0" indent="0">
              <a:buNone/>
            </a:pPr>
            <a:endParaRPr lang="en-US" sz="800" dirty="0"/>
          </a:p>
          <a:p>
            <a:pPr marL="0" indent="0">
              <a:buNone/>
            </a:pPr>
            <a:r>
              <a:rPr lang="en-US" sz="800" b="1" dirty="0">
                <a:solidFill>
                  <a:srgbClr val="FFFFFF"/>
                </a:solidFill>
                <a:latin typeface="Microsoft YaHei" pitchFamily="34" charset="0"/>
                <a:ea typeface="Microsoft YaHei" pitchFamily="34" charset="-122"/>
                <a:cs typeface="Microsoft YaHei" pitchFamily="34" charset="-120"/>
              </a:rPr>
              <a:t>支持方式：</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 直接读取数据库或API拉取结构化数据</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 通过素材目录读取图片和音频文件</a:t>
            </a:r>
            <a:endParaRPr lang="en-US" sz="800" dirty="0"/>
          </a:p>
          <a:p>
            <a:pPr marL="0" indent="0">
              <a:buNone/>
            </a:pPr>
            <a:r>
              <a:rPr lang="en-US" sz="800" dirty="0">
                <a:solidFill>
                  <a:srgbClr val="94A3B8"/>
                </a:solidFill>
                <a:latin typeface="Microsoft YaHei" pitchFamily="34" charset="0"/>
                <a:ea typeface="Microsoft YaHei" pitchFamily="34" charset="-122"/>
                <a:cs typeface="Microsoft YaHei" pitchFamily="34" charset="-120"/>
              </a:rPr>
              <a:t>• 中间层将分镜对象映射为动作脚本</a:t>
            </a:r>
            <a:endParaRPr lang="en-US" sz="800" dirty="0"/>
          </a:p>
          <a:p>
            <a:pPr marL="0" indent="0">
              <a:buNone/>
            </a:pPr>
            <a:endParaRPr lang="en-US" sz="800" dirty="0"/>
          </a:p>
          <a:p>
            <a:pPr marL="0" indent="0">
              <a:buNone/>
            </a:pPr>
            <a:r>
              <a:rPr lang="en-US" sz="800" b="1" dirty="0">
                <a:solidFill>
                  <a:srgbClr val="FFFFFF"/>
                </a:solidFill>
                <a:latin typeface="Microsoft YaHei" pitchFamily="34" charset="0"/>
                <a:ea typeface="Microsoft YaHei" pitchFamily="34" charset="-122"/>
                <a:cs typeface="Microsoft YaHei" pitchFamily="34" charset="-120"/>
              </a:rPr>
              <a:t>软件边界：</a:t>
            </a:r>
            <a:endParaRPr lang="en-US" sz="800" dirty="0"/>
          </a:p>
          <a:p>
            <a:pPr marL="0" indent="0">
              <a:buNone/>
            </a:pPr>
            <a:r>
              <a:rPr lang="en-US" sz="800" dirty="0">
                <a:solidFill>
                  <a:srgbClr val="64748B"/>
                </a:solidFill>
                <a:latin typeface="Microsoft YaHei" pitchFamily="34" charset="0"/>
                <a:ea typeface="Microsoft YaHei" pitchFamily="34" charset="-122"/>
                <a:cs typeface="Microsoft YaHei" pitchFamily="34" charset="-120"/>
              </a:rPr>
              <a:t>本系统负责认知与素材生产层，执行层（机器人控制、Unity仿真）由外部系统承担</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整体系统架构</a:t>
            </a:r>
          </a:p>
        </p:txBody>
      </p:sp>
      <p:sp>
        <p:nvSpPr>
          <p:cNvPr id="3" name="TextBox 2"/>
          <p:cNvSpPr txBox="1"/>
          <p:nvPr/>
        </p:nvSpPr>
        <p:spPr>
          <a:xfrm>
            <a:off x="457200" y="914400"/>
            <a:ext cx="8229600" cy="457200"/>
          </a:xfrm>
          <a:prstGeom prst="rect">
            <a:avLst/>
          </a:prstGeom>
          <a:noFill/>
        </p:spPr>
        <p:txBody>
          <a:bodyPr wrap="none">
            <a:spAutoFit/>
          </a:bodyPr>
          <a:lstStyle/>
          <a:p>
            <a:pPr>
              <a:defRPr sz="1400">
                <a:solidFill>
                  <a:srgbClr val="F0F0F0"/>
                </a:solidFill>
              </a:defRPr>
            </a:pPr>
            <a:r>
              <a:t>整个系统可以划分为三个紧密配合的层次，各层之间通过标准化接口进行数据交互：</a:t>
            </a:r>
          </a:p>
        </p:txBody>
      </p:sp>
      <p:sp>
        <p:nvSpPr>
          <p:cNvPr id="4" name="Rounded Rectangle 3"/>
          <p:cNvSpPr/>
          <p:nvPr/>
        </p:nvSpPr>
        <p:spPr>
          <a:xfrm>
            <a:off x="457200" y="1463040"/>
            <a:ext cx="4286518" cy="1123521"/>
          </a:xfrm>
          <a:prstGeom prst="roundRect">
            <a:avLst/>
          </a:prstGeom>
          <a:solidFill>
            <a:srgbClr val="1E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508760"/>
            <a:ext cx="1828800" cy="365760"/>
          </a:xfrm>
          <a:prstGeom prst="rect">
            <a:avLst/>
          </a:prstGeom>
          <a:noFill/>
        </p:spPr>
        <p:txBody>
          <a:bodyPr wrap="none">
            <a:spAutoFit/>
          </a:bodyPr>
          <a:lstStyle/>
          <a:p>
            <a:pPr>
              <a:defRPr sz="1400" b="1">
                <a:solidFill>
                  <a:srgbClr val="1C7293"/>
                </a:solidFill>
              </a:defRPr>
            </a:pPr>
            <a:r>
              <a:t>软件控制层</a:t>
            </a:r>
          </a:p>
        </p:txBody>
      </p:sp>
      <p:sp>
        <p:nvSpPr>
          <p:cNvPr id="6" name="TextBox 5"/>
          <p:cNvSpPr txBox="1"/>
          <p:nvPr/>
        </p:nvSpPr>
        <p:spPr>
          <a:xfrm>
            <a:off x="548640" y="1805940"/>
            <a:ext cx="5303520" cy="731520"/>
          </a:xfrm>
          <a:prstGeom prst="rect">
            <a:avLst/>
          </a:prstGeom>
          <a:noFill/>
        </p:spPr>
        <p:txBody>
          <a:bodyPr wrap="square">
            <a:spAutoFit/>
          </a:bodyPr>
          <a:lstStyle/>
          <a:p>
            <a:pPr algn="l">
              <a:defRPr sz="1100">
                <a:solidFill>
                  <a:srgbClr val="F0F0F0"/>
                </a:solidFill>
                <a:latin typeface="Arial"/>
              </a:defRPr>
            </a:pPr>
            <a:r>
              <a:rPr dirty="0"/>
              <a:t>• </a:t>
            </a:r>
            <a:r>
              <a:rPr dirty="0" err="1"/>
              <a:t>Python脚本：命令行控制模式，支持批量指令执行</a:t>
            </a:r>
            <a:endParaRPr dirty="0"/>
          </a:p>
          <a:p>
            <a:pPr algn="l">
              <a:defRPr sz="1100">
                <a:solidFill>
                  <a:srgbClr val="F0F0F0"/>
                </a:solidFill>
                <a:latin typeface="Arial"/>
              </a:defRPr>
            </a:pPr>
            <a:r>
              <a:rPr dirty="0"/>
              <a:t>• </a:t>
            </a:r>
            <a:r>
              <a:rPr dirty="0" err="1"/>
              <a:t>Web控制界面：图形化操作，可视化监控机器人状态</a:t>
            </a:r>
            <a:endParaRPr dirty="0"/>
          </a:p>
          <a:p>
            <a:pPr algn="l">
              <a:defRPr sz="1100">
                <a:solidFill>
                  <a:srgbClr val="F0F0F0"/>
                </a:solidFill>
                <a:latin typeface="Arial"/>
              </a:defRPr>
            </a:pPr>
            <a:r>
              <a:rPr dirty="0"/>
              <a:t>• </a:t>
            </a:r>
            <a:r>
              <a:rPr dirty="0" err="1"/>
              <a:t>实时角度控制：角度直传模式，实现精细化控制</a:t>
            </a:r>
            <a:endParaRPr dirty="0"/>
          </a:p>
          <a:p>
            <a:pPr algn="l">
              <a:defRPr sz="1100">
                <a:solidFill>
                  <a:srgbClr val="F0F0F0"/>
                </a:solidFill>
                <a:latin typeface="Arial"/>
              </a:defRPr>
            </a:pPr>
            <a:r>
              <a:rPr dirty="0"/>
              <a:t>• </a:t>
            </a:r>
            <a:r>
              <a:rPr dirty="0" err="1"/>
              <a:t>通信介质：WiFi局域网，采用HTTP协议进行数据传输</a:t>
            </a:r>
            <a:endParaRPr dirty="0"/>
          </a:p>
        </p:txBody>
      </p:sp>
      <p:sp>
        <p:nvSpPr>
          <p:cNvPr id="7" name="Rounded Rectangle 6"/>
          <p:cNvSpPr/>
          <p:nvPr/>
        </p:nvSpPr>
        <p:spPr>
          <a:xfrm>
            <a:off x="457200" y="2678000"/>
            <a:ext cx="4419600" cy="1071039"/>
          </a:xfrm>
          <a:prstGeom prst="roundRect">
            <a:avLst/>
          </a:prstGeom>
          <a:solidFill>
            <a:srgbClr val="1E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697480"/>
            <a:ext cx="1828800" cy="365760"/>
          </a:xfrm>
          <a:prstGeom prst="rect">
            <a:avLst/>
          </a:prstGeom>
          <a:noFill/>
        </p:spPr>
        <p:txBody>
          <a:bodyPr wrap="none">
            <a:spAutoFit/>
          </a:bodyPr>
          <a:lstStyle/>
          <a:p>
            <a:pPr>
              <a:defRPr sz="1400" b="1">
                <a:solidFill>
                  <a:srgbClr val="1C7293"/>
                </a:solidFill>
              </a:defRPr>
            </a:pPr>
            <a:r>
              <a:t>主控芯片层</a:t>
            </a:r>
          </a:p>
        </p:txBody>
      </p:sp>
      <p:sp>
        <p:nvSpPr>
          <p:cNvPr id="9" name="TextBox 8"/>
          <p:cNvSpPr txBox="1"/>
          <p:nvPr/>
        </p:nvSpPr>
        <p:spPr>
          <a:xfrm>
            <a:off x="548640" y="2994660"/>
            <a:ext cx="5303520" cy="731520"/>
          </a:xfrm>
          <a:prstGeom prst="rect">
            <a:avLst/>
          </a:prstGeom>
          <a:noFill/>
        </p:spPr>
        <p:txBody>
          <a:bodyPr wrap="square">
            <a:spAutoFit/>
          </a:bodyPr>
          <a:lstStyle/>
          <a:p>
            <a:pPr algn="l">
              <a:defRPr sz="1100">
                <a:solidFill>
                  <a:srgbClr val="F0F0F0"/>
                </a:solidFill>
                <a:latin typeface="Arial"/>
              </a:defRPr>
            </a:pPr>
            <a:r>
              <a:rPr dirty="0"/>
              <a:t>• 核心芯片：ESP32-C3-WROOM-02，RISC-V架构，240MHz主频</a:t>
            </a:r>
          </a:p>
          <a:p>
            <a:pPr algn="l">
              <a:defRPr sz="1100">
                <a:solidFill>
                  <a:srgbClr val="F0F0F0"/>
                </a:solidFill>
                <a:latin typeface="Arial"/>
              </a:defRPr>
            </a:pPr>
            <a:r>
              <a:rPr dirty="0"/>
              <a:t>• WiFi驱动：支持802.11 b/g/n 2.4GHz无线连接</a:t>
            </a:r>
          </a:p>
          <a:p>
            <a:pPr algn="l">
              <a:defRPr sz="1100">
                <a:solidFill>
                  <a:srgbClr val="F0F0F0"/>
                </a:solidFill>
                <a:latin typeface="Arial"/>
              </a:defRPr>
            </a:pPr>
            <a:r>
              <a:rPr dirty="0"/>
              <a:t>• </a:t>
            </a:r>
            <a:r>
              <a:rPr dirty="0" err="1"/>
              <a:t>HTTP服务器：基于esp_httpd，支持RESTful</a:t>
            </a:r>
            <a:r>
              <a:rPr dirty="0"/>
              <a:t> API</a:t>
            </a:r>
          </a:p>
          <a:p>
            <a:pPr algn="l">
              <a:defRPr sz="1100">
                <a:solidFill>
                  <a:srgbClr val="F0F0F0"/>
                </a:solidFill>
                <a:latin typeface="Arial"/>
              </a:defRPr>
            </a:pPr>
            <a:r>
              <a:rPr dirty="0"/>
              <a:t>• </a:t>
            </a:r>
            <a:r>
              <a:rPr dirty="0" err="1"/>
              <a:t>FreeRTOS：实时操作系统，负责任务调度与舵机控制</a:t>
            </a:r>
            <a:endParaRPr dirty="0"/>
          </a:p>
        </p:txBody>
      </p:sp>
      <p:sp>
        <p:nvSpPr>
          <p:cNvPr id="10" name="Rounded Rectangle 9"/>
          <p:cNvSpPr/>
          <p:nvPr/>
        </p:nvSpPr>
        <p:spPr>
          <a:xfrm>
            <a:off x="457200" y="3840480"/>
            <a:ext cx="5486400" cy="1097280"/>
          </a:xfrm>
          <a:prstGeom prst="roundRect">
            <a:avLst/>
          </a:prstGeom>
          <a:solidFill>
            <a:srgbClr val="1E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886200"/>
            <a:ext cx="1828800" cy="365760"/>
          </a:xfrm>
          <a:prstGeom prst="rect">
            <a:avLst/>
          </a:prstGeom>
          <a:noFill/>
        </p:spPr>
        <p:txBody>
          <a:bodyPr wrap="none">
            <a:spAutoFit/>
          </a:bodyPr>
          <a:lstStyle/>
          <a:p>
            <a:pPr>
              <a:defRPr sz="1400" b="1">
                <a:solidFill>
                  <a:srgbClr val="1C7293"/>
                </a:solidFill>
              </a:defRPr>
            </a:pPr>
            <a:r>
              <a:t>执行机构层</a:t>
            </a:r>
          </a:p>
        </p:txBody>
      </p:sp>
      <p:sp>
        <p:nvSpPr>
          <p:cNvPr id="12" name="TextBox 11"/>
          <p:cNvSpPr txBox="1"/>
          <p:nvPr/>
        </p:nvSpPr>
        <p:spPr>
          <a:xfrm>
            <a:off x="548640" y="4137660"/>
            <a:ext cx="5303520" cy="731520"/>
          </a:xfrm>
          <a:prstGeom prst="rect">
            <a:avLst/>
          </a:prstGeom>
          <a:noFill/>
        </p:spPr>
        <p:txBody>
          <a:bodyPr wrap="square">
            <a:spAutoFit/>
          </a:bodyPr>
          <a:lstStyle/>
          <a:p>
            <a:pPr algn="l">
              <a:defRPr sz="1100">
                <a:solidFill>
                  <a:srgbClr val="F0F0F0"/>
                </a:solidFill>
                <a:latin typeface="Arial"/>
              </a:defRPr>
            </a:pPr>
            <a:r>
              <a:rPr dirty="0"/>
              <a:t>• </a:t>
            </a:r>
            <a:r>
              <a:rPr dirty="0" err="1"/>
              <a:t>前左舵机</a:t>
            </a:r>
            <a:r>
              <a:rPr dirty="0"/>
              <a:t>(FL)：</a:t>
            </a:r>
            <a:r>
              <a:rPr dirty="0" err="1"/>
              <a:t>控制左前腿髋关节前后摆动</a:t>
            </a:r>
            <a:endParaRPr dirty="0"/>
          </a:p>
          <a:p>
            <a:pPr algn="l">
              <a:defRPr sz="1100">
                <a:solidFill>
                  <a:srgbClr val="F0F0F0"/>
                </a:solidFill>
                <a:latin typeface="Arial"/>
              </a:defRPr>
            </a:pPr>
            <a:r>
              <a:rPr dirty="0"/>
              <a:t>• </a:t>
            </a:r>
            <a:r>
              <a:rPr dirty="0" err="1"/>
              <a:t>前右舵机</a:t>
            </a:r>
            <a:r>
              <a:rPr dirty="0"/>
              <a:t>(FR)：</a:t>
            </a:r>
            <a:r>
              <a:rPr dirty="0" err="1"/>
              <a:t>控制右前腿髋关节前后摆动</a:t>
            </a:r>
            <a:endParaRPr dirty="0"/>
          </a:p>
          <a:p>
            <a:pPr algn="l">
              <a:defRPr sz="1100">
                <a:solidFill>
                  <a:srgbClr val="F0F0F0"/>
                </a:solidFill>
                <a:latin typeface="Arial"/>
              </a:defRPr>
            </a:pPr>
            <a:r>
              <a:rPr dirty="0"/>
              <a:t>• </a:t>
            </a:r>
            <a:r>
              <a:rPr dirty="0" err="1"/>
              <a:t>后左舵机</a:t>
            </a:r>
            <a:r>
              <a:rPr dirty="0"/>
              <a:t>(BL)：</a:t>
            </a:r>
            <a:r>
              <a:rPr dirty="0" err="1"/>
              <a:t>控制左后腿髋关节前后摆动</a:t>
            </a:r>
            <a:endParaRPr dirty="0"/>
          </a:p>
          <a:p>
            <a:pPr algn="l">
              <a:defRPr sz="1100">
                <a:solidFill>
                  <a:srgbClr val="F0F0F0"/>
                </a:solidFill>
                <a:latin typeface="Arial"/>
              </a:defRPr>
            </a:pPr>
            <a:r>
              <a:rPr dirty="0"/>
              <a:t>• </a:t>
            </a:r>
            <a:r>
              <a:rPr dirty="0" err="1"/>
              <a:t>后右舵机</a:t>
            </a:r>
            <a:r>
              <a:rPr dirty="0"/>
              <a:t>(BR)：</a:t>
            </a:r>
            <a:r>
              <a:rPr dirty="0" err="1"/>
              <a:t>控制右后腿髋关节前后摆动</a:t>
            </a:r>
            <a:endParaRPr dirty="0"/>
          </a:p>
        </p:txBody>
      </p:sp>
      <p:pic>
        <p:nvPicPr>
          <p:cNvPr id="16" name="图片 15">
            <a:extLst>
              <a:ext uri="{FF2B5EF4-FFF2-40B4-BE49-F238E27FC236}">
                <a16:creationId xmlns:a16="http://schemas.microsoft.com/office/drawing/2014/main" id="{653ACBD6-4EF2-EE50-9096-476922C0CBA0}"/>
              </a:ext>
            </a:extLst>
          </p:cNvPr>
          <p:cNvPicPr>
            <a:picLocks noChangeAspect="1"/>
          </p:cNvPicPr>
          <p:nvPr/>
        </p:nvPicPr>
        <p:blipFill>
          <a:blip r:embed="rId2"/>
          <a:stretch>
            <a:fillRect/>
          </a:stretch>
        </p:blipFill>
        <p:spPr>
          <a:xfrm>
            <a:off x="4950626" y="1444119"/>
            <a:ext cx="4155387" cy="22263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软件主链路</a:t>
            </a:r>
          </a:p>
        </p:txBody>
      </p:sp>
      <p:sp>
        <p:nvSpPr>
          <p:cNvPr id="3" name="TextBox 2"/>
          <p:cNvSpPr txBox="1"/>
          <p:nvPr/>
        </p:nvSpPr>
        <p:spPr>
          <a:xfrm>
            <a:off x="457200" y="914400"/>
            <a:ext cx="8229600" cy="365760"/>
          </a:xfrm>
          <a:prstGeom prst="rect">
            <a:avLst/>
          </a:prstGeom>
          <a:noFill/>
        </p:spPr>
        <p:txBody>
          <a:bodyPr wrap="none">
            <a:spAutoFit/>
          </a:bodyPr>
          <a:lstStyle/>
          <a:p>
            <a:pPr>
              <a:defRPr sz="1400">
                <a:solidFill>
                  <a:srgbClr val="F0F0F0"/>
                </a:solidFill>
              </a:defRPr>
            </a:pPr>
            <a:r>
              <a:t>从用户输入到机器人执行，完整的数据流与处理流程如下：</a:t>
            </a:r>
          </a:p>
        </p:txBody>
      </p:sp>
      <p:sp>
        <p:nvSpPr>
          <p:cNvPr id="4" name="Rounded Rectangle 3"/>
          <p:cNvSpPr/>
          <p:nvPr/>
        </p:nvSpPr>
        <p:spPr>
          <a:xfrm>
            <a:off x="457200" y="1371600"/>
            <a:ext cx="4114800" cy="82296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463040"/>
            <a:ext cx="3840480" cy="365760"/>
          </a:xfrm>
          <a:prstGeom prst="rect">
            <a:avLst/>
          </a:prstGeom>
          <a:noFill/>
        </p:spPr>
        <p:txBody>
          <a:bodyPr wrap="none">
            <a:spAutoFit/>
          </a:bodyPr>
          <a:lstStyle/>
          <a:p>
            <a:pPr>
              <a:defRPr sz="1200" b="1">
                <a:solidFill>
                  <a:srgbClr val="FFFFFF"/>
                </a:solidFill>
              </a:defRPr>
            </a:pPr>
            <a:r>
              <a:t>1. 用户输入</a:t>
            </a:r>
          </a:p>
        </p:txBody>
      </p:sp>
      <p:sp>
        <p:nvSpPr>
          <p:cNvPr id="6" name="TextBox 5"/>
          <p:cNvSpPr txBox="1"/>
          <p:nvPr/>
        </p:nvSpPr>
        <p:spPr>
          <a:xfrm>
            <a:off x="594360" y="1828800"/>
            <a:ext cx="3840480" cy="274320"/>
          </a:xfrm>
          <a:prstGeom prst="rect">
            <a:avLst/>
          </a:prstGeom>
          <a:noFill/>
        </p:spPr>
        <p:txBody>
          <a:bodyPr wrap="square">
            <a:spAutoFit/>
          </a:bodyPr>
          <a:lstStyle/>
          <a:p>
            <a:pPr>
              <a:defRPr sz="1000">
                <a:solidFill>
                  <a:srgbClr val="F0F0F0"/>
                </a:solidFill>
              </a:defRPr>
            </a:pPr>
            <a:r>
              <a:t>• 用户输入主题/灵感/对话，触发创作流程</a:t>
            </a:r>
          </a:p>
        </p:txBody>
      </p:sp>
      <p:sp>
        <p:nvSpPr>
          <p:cNvPr id="7" name="Rounded Rectangle 6"/>
          <p:cNvSpPr/>
          <p:nvPr/>
        </p:nvSpPr>
        <p:spPr>
          <a:xfrm>
            <a:off x="4754880" y="1371600"/>
            <a:ext cx="4114800" cy="82296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92040" y="1463040"/>
            <a:ext cx="3840480" cy="365760"/>
          </a:xfrm>
          <a:prstGeom prst="rect">
            <a:avLst/>
          </a:prstGeom>
          <a:noFill/>
        </p:spPr>
        <p:txBody>
          <a:bodyPr wrap="none">
            <a:spAutoFit/>
          </a:bodyPr>
          <a:lstStyle/>
          <a:p>
            <a:pPr>
              <a:defRPr sz="1200" b="1">
                <a:solidFill>
                  <a:srgbClr val="FFFFFF"/>
                </a:solidFill>
              </a:defRPr>
            </a:pPr>
            <a:r>
              <a:t>2. 创作访谈</a:t>
            </a:r>
          </a:p>
        </p:txBody>
      </p:sp>
      <p:sp>
        <p:nvSpPr>
          <p:cNvPr id="9" name="TextBox 8"/>
          <p:cNvSpPr txBox="1"/>
          <p:nvPr/>
        </p:nvSpPr>
        <p:spPr>
          <a:xfrm>
            <a:off x="4892040" y="1828800"/>
            <a:ext cx="3840480" cy="274320"/>
          </a:xfrm>
          <a:prstGeom prst="rect">
            <a:avLst/>
          </a:prstGeom>
          <a:noFill/>
        </p:spPr>
        <p:txBody>
          <a:bodyPr wrap="square">
            <a:spAutoFit/>
          </a:bodyPr>
          <a:lstStyle/>
          <a:p>
            <a:pPr>
              <a:defRPr sz="1000">
                <a:solidFill>
                  <a:srgbClr val="F0F0F0"/>
                </a:solidFill>
              </a:defRPr>
            </a:pPr>
            <a:r>
              <a:t>• 创作访谈智能体逐步补齐设定，通过多轮问答沉淀结构化信息</a:t>
            </a:r>
          </a:p>
        </p:txBody>
      </p:sp>
      <p:sp>
        <p:nvSpPr>
          <p:cNvPr id="10" name="Rounded Rectangle 9"/>
          <p:cNvSpPr/>
          <p:nvPr/>
        </p:nvSpPr>
        <p:spPr>
          <a:xfrm>
            <a:off x="457200" y="2286000"/>
            <a:ext cx="4114800" cy="82296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377440"/>
            <a:ext cx="3840480" cy="365760"/>
          </a:xfrm>
          <a:prstGeom prst="rect">
            <a:avLst/>
          </a:prstGeom>
          <a:noFill/>
        </p:spPr>
        <p:txBody>
          <a:bodyPr wrap="none">
            <a:spAutoFit/>
          </a:bodyPr>
          <a:lstStyle/>
          <a:p>
            <a:pPr>
              <a:defRPr sz="1200" b="1">
                <a:solidFill>
                  <a:srgbClr val="FFFFFF"/>
                </a:solidFill>
              </a:defRPr>
            </a:pPr>
            <a:r>
              <a:t>3. 剧本改写</a:t>
            </a:r>
          </a:p>
        </p:txBody>
      </p:sp>
      <p:sp>
        <p:nvSpPr>
          <p:cNvPr id="12" name="TextBox 11"/>
          <p:cNvSpPr txBox="1"/>
          <p:nvPr/>
        </p:nvSpPr>
        <p:spPr>
          <a:xfrm>
            <a:off x="594360" y="2743200"/>
            <a:ext cx="3840480" cy="274320"/>
          </a:xfrm>
          <a:prstGeom prst="rect">
            <a:avLst/>
          </a:prstGeom>
          <a:noFill/>
        </p:spPr>
        <p:txBody>
          <a:bodyPr wrap="square">
            <a:spAutoFit/>
          </a:bodyPr>
          <a:lstStyle/>
          <a:p>
            <a:pPr>
              <a:defRPr sz="1000">
                <a:solidFill>
                  <a:srgbClr val="F0F0F0"/>
                </a:solidFill>
              </a:defRPr>
            </a:pPr>
            <a:r>
              <a:t>• 剧本改写智能体生成带动作语义的标准剧本，统一格式规范</a:t>
            </a:r>
          </a:p>
        </p:txBody>
      </p:sp>
      <p:sp>
        <p:nvSpPr>
          <p:cNvPr id="13" name="Rounded Rectangle 12"/>
          <p:cNvSpPr/>
          <p:nvPr/>
        </p:nvSpPr>
        <p:spPr>
          <a:xfrm>
            <a:off x="4754880" y="2286000"/>
            <a:ext cx="4114800" cy="82296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2040" y="2377440"/>
            <a:ext cx="3840480" cy="365760"/>
          </a:xfrm>
          <a:prstGeom prst="rect">
            <a:avLst/>
          </a:prstGeom>
          <a:noFill/>
        </p:spPr>
        <p:txBody>
          <a:bodyPr wrap="none">
            <a:spAutoFit/>
          </a:bodyPr>
          <a:lstStyle/>
          <a:p>
            <a:pPr>
              <a:defRPr sz="1200" b="1">
                <a:solidFill>
                  <a:srgbClr val="FFFFFF"/>
                </a:solidFill>
              </a:defRPr>
            </a:pPr>
            <a:r>
              <a:t>4. 角色提取</a:t>
            </a:r>
          </a:p>
        </p:txBody>
      </p:sp>
      <p:sp>
        <p:nvSpPr>
          <p:cNvPr id="15" name="TextBox 14"/>
          <p:cNvSpPr txBox="1"/>
          <p:nvPr/>
        </p:nvSpPr>
        <p:spPr>
          <a:xfrm>
            <a:off x="4892040" y="2743200"/>
            <a:ext cx="3840480" cy="274320"/>
          </a:xfrm>
          <a:prstGeom prst="rect">
            <a:avLst/>
          </a:prstGeom>
          <a:noFill/>
        </p:spPr>
        <p:txBody>
          <a:bodyPr wrap="square">
            <a:spAutoFit/>
          </a:bodyPr>
          <a:lstStyle/>
          <a:p>
            <a:pPr>
              <a:defRPr sz="1000">
                <a:solidFill>
                  <a:srgbClr val="F0F0F0"/>
                </a:solidFill>
              </a:defRPr>
            </a:pPr>
            <a:r>
              <a:t>• 提取智能体沉淀角色与场景库，自动去重合并同类项</a:t>
            </a:r>
          </a:p>
        </p:txBody>
      </p:sp>
      <p:sp>
        <p:nvSpPr>
          <p:cNvPr id="16" name="Rounded Rectangle 15"/>
          <p:cNvSpPr/>
          <p:nvPr/>
        </p:nvSpPr>
        <p:spPr>
          <a:xfrm>
            <a:off x="457200" y="3200400"/>
            <a:ext cx="4114800" cy="82296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291840"/>
            <a:ext cx="3840480" cy="365760"/>
          </a:xfrm>
          <a:prstGeom prst="rect">
            <a:avLst/>
          </a:prstGeom>
          <a:noFill/>
        </p:spPr>
        <p:txBody>
          <a:bodyPr wrap="none">
            <a:spAutoFit/>
          </a:bodyPr>
          <a:lstStyle/>
          <a:p>
            <a:pPr>
              <a:defRPr sz="1200" b="1">
                <a:solidFill>
                  <a:srgbClr val="FFFFFF"/>
                </a:solidFill>
              </a:defRPr>
            </a:pPr>
            <a:r>
              <a:t>5. 音色分配</a:t>
            </a:r>
          </a:p>
        </p:txBody>
      </p:sp>
      <p:sp>
        <p:nvSpPr>
          <p:cNvPr id="18" name="TextBox 17"/>
          <p:cNvSpPr txBox="1"/>
          <p:nvPr/>
        </p:nvSpPr>
        <p:spPr>
          <a:xfrm>
            <a:off x="594360" y="3657600"/>
            <a:ext cx="3840480" cy="274320"/>
          </a:xfrm>
          <a:prstGeom prst="rect">
            <a:avLst/>
          </a:prstGeom>
          <a:noFill/>
        </p:spPr>
        <p:txBody>
          <a:bodyPr wrap="square">
            <a:spAutoFit/>
          </a:bodyPr>
          <a:lstStyle/>
          <a:p>
            <a:pPr>
              <a:defRPr sz="1000">
                <a:solidFill>
                  <a:srgbClr val="F0F0F0"/>
                </a:solidFill>
              </a:defRPr>
            </a:pPr>
            <a:r>
              <a:t>• 音色分配智能体完成配音资源绑定，建立角色-音色映射</a:t>
            </a:r>
          </a:p>
        </p:txBody>
      </p:sp>
      <p:sp>
        <p:nvSpPr>
          <p:cNvPr id="19" name="Rounded Rectangle 18"/>
          <p:cNvSpPr/>
          <p:nvPr/>
        </p:nvSpPr>
        <p:spPr>
          <a:xfrm>
            <a:off x="4754880" y="3200400"/>
            <a:ext cx="4114800" cy="82296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3291840"/>
            <a:ext cx="3840480" cy="365760"/>
          </a:xfrm>
          <a:prstGeom prst="rect">
            <a:avLst/>
          </a:prstGeom>
          <a:noFill/>
        </p:spPr>
        <p:txBody>
          <a:bodyPr wrap="none">
            <a:spAutoFit/>
          </a:bodyPr>
          <a:lstStyle/>
          <a:p>
            <a:pPr>
              <a:defRPr sz="1200" b="1">
                <a:solidFill>
                  <a:srgbClr val="FFFFFF"/>
                </a:solidFill>
              </a:defRPr>
            </a:pPr>
            <a:r>
              <a:t>6. 分镜拆解</a:t>
            </a:r>
          </a:p>
        </p:txBody>
      </p:sp>
      <p:sp>
        <p:nvSpPr>
          <p:cNvPr id="21" name="TextBox 20"/>
          <p:cNvSpPr txBox="1"/>
          <p:nvPr/>
        </p:nvSpPr>
        <p:spPr>
          <a:xfrm>
            <a:off x="4892040" y="3657600"/>
            <a:ext cx="3840480" cy="274320"/>
          </a:xfrm>
          <a:prstGeom prst="rect">
            <a:avLst/>
          </a:prstGeom>
          <a:noFill/>
        </p:spPr>
        <p:txBody>
          <a:bodyPr wrap="square">
            <a:spAutoFit/>
          </a:bodyPr>
          <a:lstStyle/>
          <a:p>
            <a:pPr>
              <a:defRPr sz="1000">
                <a:solidFill>
                  <a:srgbClr val="F0F0F0"/>
                </a:solidFill>
              </a:defRPr>
            </a:pPr>
            <a:r>
              <a:t>• 分镜智能体拆解镜头与镜头语义，生成详细的镜头清单</a:t>
            </a:r>
          </a:p>
        </p:txBody>
      </p:sp>
      <p:sp>
        <p:nvSpPr>
          <p:cNvPr id="22" name="Rounded Rectangle 21"/>
          <p:cNvSpPr/>
          <p:nvPr/>
        </p:nvSpPr>
        <p:spPr>
          <a:xfrm>
            <a:off x="457200" y="4114800"/>
            <a:ext cx="4114800" cy="82296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4206240"/>
            <a:ext cx="3840480" cy="365760"/>
          </a:xfrm>
          <a:prstGeom prst="rect">
            <a:avLst/>
          </a:prstGeom>
          <a:noFill/>
        </p:spPr>
        <p:txBody>
          <a:bodyPr wrap="none">
            <a:spAutoFit/>
          </a:bodyPr>
          <a:lstStyle/>
          <a:p>
            <a:pPr>
              <a:defRPr sz="1200" b="1">
                <a:solidFill>
                  <a:srgbClr val="FFFFFF"/>
                </a:solidFill>
              </a:defRPr>
            </a:pPr>
            <a:r>
              <a:t>7. 素材生成</a:t>
            </a:r>
          </a:p>
        </p:txBody>
      </p:sp>
      <p:sp>
        <p:nvSpPr>
          <p:cNvPr id="24" name="TextBox 23"/>
          <p:cNvSpPr txBox="1"/>
          <p:nvPr/>
        </p:nvSpPr>
        <p:spPr>
          <a:xfrm>
            <a:off x="594360" y="4572000"/>
            <a:ext cx="3840480" cy="274320"/>
          </a:xfrm>
          <a:prstGeom prst="rect">
            <a:avLst/>
          </a:prstGeom>
          <a:noFill/>
        </p:spPr>
        <p:txBody>
          <a:bodyPr wrap="square">
            <a:spAutoFit/>
          </a:bodyPr>
          <a:lstStyle/>
          <a:p>
            <a:pPr>
              <a:defRPr sz="1000">
                <a:solidFill>
                  <a:srgbClr val="F0F0F0"/>
                </a:solidFill>
              </a:defRPr>
            </a:pPr>
            <a:r>
              <a:t>• 提示词与素材生成模块产出图片、宫格图、音频等资产</a:t>
            </a:r>
          </a:p>
        </p:txBody>
      </p:sp>
      <p:sp>
        <p:nvSpPr>
          <p:cNvPr id="25" name="Rounded Rectangle 24"/>
          <p:cNvSpPr/>
          <p:nvPr/>
        </p:nvSpPr>
        <p:spPr>
          <a:xfrm>
            <a:off x="4754880" y="4114800"/>
            <a:ext cx="4114800" cy="82296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92040" y="4206240"/>
            <a:ext cx="3840480" cy="365760"/>
          </a:xfrm>
          <a:prstGeom prst="rect">
            <a:avLst/>
          </a:prstGeom>
          <a:noFill/>
        </p:spPr>
        <p:txBody>
          <a:bodyPr wrap="none">
            <a:spAutoFit/>
          </a:bodyPr>
          <a:lstStyle/>
          <a:p>
            <a:pPr>
              <a:defRPr sz="1200" b="1">
                <a:solidFill>
                  <a:srgbClr val="FFFFFF"/>
                </a:solidFill>
              </a:defRPr>
            </a:pPr>
            <a:r>
              <a:t>8. 执行演绎</a:t>
            </a:r>
          </a:p>
        </p:txBody>
      </p:sp>
      <p:sp>
        <p:nvSpPr>
          <p:cNvPr id="27" name="TextBox 26"/>
          <p:cNvSpPr txBox="1"/>
          <p:nvPr/>
        </p:nvSpPr>
        <p:spPr>
          <a:xfrm>
            <a:off x="4892040" y="4572000"/>
            <a:ext cx="3840480" cy="274320"/>
          </a:xfrm>
          <a:prstGeom prst="rect">
            <a:avLst/>
          </a:prstGeom>
          <a:noFill/>
        </p:spPr>
        <p:txBody>
          <a:bodyPr wrap="square">
            <a:spAutoFit/>
          </a:bodyPr>
          <a:lstStyle/>
          <a:p>
            <a:pPr>
              <a:defRPr sz="1000">
                <a:solidFill>
                  <a:srgbClr val="F0F0F0"/>
                </a:solidFill>
              </a:defRPr>
            </a:pPr>
            <a:r>
              <a:t>• 导出JSON剧本并发送给机器人或Unity执行层，完成动作演绎</a:t>
            </a:r>
          </a:p>
        </p:txBody>
      </p:sp>
      <p:sp>
        <p:nvSpPr>
          <p:cNvPr id="28" name="Rectangle 27"/>
          <p:cNvSpPr/>
          <p:nvPr/>
        </p:nvSpPr>
        <p:spPr>
          <a:xfrm>
            <a:off x="6302062" y="137160"/>
            <a:ext cx="2286000" cy="1188720"/>
          </a:xfrm>
          <a:prstGeom prst="rect">
            <a:avLst/>
          </a:prstGeom>
          <a:solidFill>
            <a:srgbClr val="1E3A5A"/>
          </a:solidFill>
          <a:ln w="25400">
            <a:solidFill>
              <a:srgbClr val="1C729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AAAAAA"/>
                </a:solidFill>
              </a:defRPr>
            </a:pPr>
            <a:r>
              <a:t>[IMAGE]</a:t>
            </a:r>
            <a:br/>
            <a:r>
              <a:t>主链路流程图</a:t>
            </a:r>
          </a:p>
        </p:txBody>
      </p:sp>
      <p:pic>
        <p:nvPicPr>
          <p:cNvPr id="30" name="图片 29">
            <a:extLst>
              <a:ext uri="{FF2B5EF4-FFF2-40B4-BE49-F238E27FC236}">
                <a16:creationId xmlns:a16="http://schemas.microsoft.com/office/drawing/2014/main" id="{B53F2281-7EDD-BF4A-6D50-CC027D60D11B}"/>
              </a:ext>
            </a:extLst>
          </p:cNvPr>
          <p:cNvPicPr>
            <a:picLocks noChangeAspect="1"/>
          </p:cNvPicPr>
          <p:nvPr/>
        </p:nvPicPr>
        <p:blipFill>
          <a:blip r:embed="rId2"/>
          <a:stretch>
            <a:fillRect/>
          </a:stretch>
        </p:blipFill>
        <p:spPr>
          <a:xfrm>
            <a:off x="6143223" y="60301"/>
            <a:ext cx="2543577" cy="13112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3D打印流程与结构</a:t>
            </a:r>
          </a:p>
        </p:txBody>
      </p:sp>
      <p:sp>
        <p:nvSpPr>
          <p:cNvPr id="3" name="TextBox 2"/>
          <p:cNvSpPr txBox="1"/>
          <p:nvPr/>
        </p:nvSpPr>
        <p:spPr>
          <a:xfrm>
            <a:off x="457200" y="914400"/>
            <a:ext cx="8229600" cy="365760"/>
          </a:xfrm>
          <a:prstGeom prst="rect">
            <a:avLst/>
          </a:prstGeom>
          <a:noFill/>
        </p:spPr>
        <p:txBody>
          <a:bodyPr wrap="none">
            <a:spAutoFit/>
          </a:bodyPr>
          <a:lstStyle/>
          <a:p>
            <a:pPr>
              <a:defRPr sz="1300">
                <a:solidFill>
                  <a:srgbClr val="F0F0F0"/>
                </a:solidFill>
              </a:defRPr>
            </a:pPr>
            <a:r>
              <a:t>3D打印技术是本项目硬件快速迭代的核心支撑，整个流程包括：建模设计 -&gt; 切片处理 -&gt; 打印制造 -&gt; 后处理装配</a:t>
            </a:r>
          </a:p>
        </p:txBody>
      </p:sp>
      <p:sp>
        <p:nvSpPr>
          <p:cNvPr id="4" name="TextBox 3"/>
          <p:cNvSpPr txBox="1"/>
          <p:nvPr/>
        </p:nvSpPr>
        <p:spPr>
          <a:xfrm>
            <a:off x="457200" y="1371600"/>
            <a:ext cx="3657600" cy="365760"/>
          </a:xfrm>
          <a:prstGeom prst="rect">
            <a:avLst/>
          </a:prstGeom>
          <a:noFill/>
        </p:spPr>
        <p:txBody>
          <a:bodyPr wrap="none">
            <a:spAutoFit/>
          </a:bodyPr>
          <a:lstStyle/>
          <a:p>
            <a:pPr>
              <a:defRPr sz="1800" b="1">
                <a:solidFill>
                  <a:srgbClr val="1C7293"/>
                </a:solidFill>
              </a:defRPr>
            </a:pPr>
            <a:r>
              <a:t>关键结构件设计</a:t>
            </a:r>
          </a:p>
        </p:txBody>
      </p:sp>
      <p:sp>
        <p:nvSpPr>
          <p:cNvPr id="5" name="TextBox 4"/>
          <p:cNvSpPr txBox="1"/>
          <p:nvPr/>
        </p:nvSpPr>
        <p:spPr>
          <a:xfrm>
            <a:off x="457200" y="1783080"/>
            <a:ext cx="4572000" cy="1384995"/>
          </a:xfrm>
          <a:prstGeom prst="rect">
            <a:avLst/>
          </a:prstGeom>
          <a:noFill/>
        </p:spPr>
        <p:txBody>
          <a:bodyPr wrap="square">
            <a:spAutoFit/>
          </a:bodyPr>
          <a:lstStyle/>
          <a:p>
            <a:pPr algn="l">
              <a:defRPr sz="1200">
                <a:solidFill>
                  <a:srgbClr val="F0F0F0"/>
                </a:solidFill>
                <a:latin typeface="Arial"/>
              </a:defRPr>
            </a:pPr>
            <a:r>
              <a:rPr sz="1400" dirty="0"/>
              <a:t>• </a:t>
            </a:r>
            <a:r>
              <a:rPr sz="1400" dirty="0" err="1"/>
              <a:t>机器狗腿部结构：髋关节控制前后摆动、膝关节控制上下屈伸</a:t>
            </a:r>
            <a:endParaRPr sz="1400" dirty="0"/>
          </a:p>
          <a:p>
            <a:pPr algn="l">
              <a:defRPr sz="1200">
                <a:solidFill>
                  <a:srgbClr val="F0F0F0"/>
                </a:solidFill>
                <a:latin typeface="Arial"/>
              </a:defRPr>
            </a:pPr>
            <a:r>
              <a:rPr sz="1400" dirty="0"/>
              <a:t>• </a:t>
            </a:r>
            <a:r>
              <a:rPr sz="1400" dirty="0" err="1"/>
              <a:t>足部与地面接触需考虑摩擦力设计，确保行走稳定性</a:t>
            </a:r>
            <a:endParaRPr sz="1400" dirty="0"/>
          </a:p>
          <a:p>
            <a:pPr algn="l">
              <a:defRPr sz="1200">
                <a:solidFill>
                  <a:srgbClr val="F0F0F0"/>
                </a:solidFill>
                <a:latin typeface="Arial"/>
              </a:defRPr>
            </a:pPr>
            <a:r>
              <a:rPr sz="1400" dirty="0"/>
              <a:t>• 主壳体结构：承载ESP32-C3开发板、固定LCD屏幕、安装电池仓</a:t>
            </a:r>
          </a:p>
          <a:p>
            <a:pPr algn="l">
              <a:defRPr sz="1200">
                <a:solidFill>
                  <a:srgbClr val="F0F0F0"/>
                </a:solidFill>
                <a:latin typeface="Arial"/>
              </a:defRPr>
            </a:pPr>
            <a:r>
              <a:rPr sz="1400" dirty="0"/>
              <a:t>• </a:t>
            </a:r>
            <a:r>
              <a:rPr sz="1400" dirty="0" err="1"/>
              <a:t>预留散热孔设计，保证长时间运行的稳定性</a:t>
            </a:r>
            <a:endParaRPr sz="1400" dirty="0"/>
          </a:p>
        </p:txBody>
      </p:sp>
      <p:pic>
        <p:nvPicPr>
          <p:cNvPr id="10" name="图片 9">
            <a:extLst>
              <a:ext uri="{FF2B5EF4-FFF2-40B4-BE49-F238E27FC236}">
                <a16:creationId xmlns:a16="http://schemas.microsoft.com/office/drawing/2014/main" id="{071388DE-E814-A6E6-EB81-C553C3E245BC}"/>
              </a:ext>
            </a:extLst>
          </p:cNvPr>
          <p:cNvPicPr>
            <a:picLocks noChangeAspect="1"/>
          </p:cNvPicPr>
          <p:nvPr/>
        </p:nvPicPr>
        <p:blipFill>
          <a:blip r:embed="rId2"/>
          <a:stretch>
            <a:fillRect/>
          </a:stretch>
        </p:blipFill>
        <p:spPr>
          <a:xfrm>
            <a:off x="7147775" y="1318797"/>
            <a:ext cx="1835239" cy="3286594"/>
          </a:xfrm>
          <a:prstGeom prst="rect">
            <a:avLst/>
          </a:prstGeom>
        </p:spPr>
      </p:pic>
      <p:pic>
        <p:nvPicPr>
          <p:cNvPr id="11" name="图片 10">
            <a:extLst>
              <a:ext uri="{FF2B5EF4-FFF2-40B4-BE49-F238E27FC236}">
                <a16:creationId xmlns:a16="http://schemas.microsoft.com/office/drawing/2014/main" id="{26846D9A-13D2-3FB9-A418-51F8E48F36F5}"/>
              </a:ext>
            </a:extLst>
          </p:cNvPr>
          <p:cNvPicPr>
            <a:picLocks noChangeAspect="1"/>
          </p:cNvPicPr>
          <p:nvPr/>
        </p:nvPicPr>
        <p:blipFill>
          <a:blip r:embed="rId3"/>
          <a:stretch>
            <a:fillRect/>
          </a:stretch>
        </p:blipFill>
        <p:spPr>
          <a:xfrm>
            <a:off x="4572000" y="2956453"/>
            <a:ext cx="2391289" cy="16489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05684" y="151005"/>
            <a:ext cx="8229600" cy="548640"/>
          </a:xfrm>
          <a:prstGeom prst="rect">
            <a:avLst/>
          </a:prstGeom>
          <a:noFill/>
        </p:spPr>
        <p:txBody>
          <a:bodyPr wrap="square">
            <a:spAutoFit/>
          </a:bodyPr>
          <a:lstStyle/>
          <a:p>
            <a:pPr algn="l">
              <a:defRPr sz="3600" b="1">
                <a:solidFill>
                  <a:srgbClr val="FFFFFF"/>
                </a:solidFill>
                <a:latin typeface="Arial"/>
              </a:defRPr>
            </a:pPr>
            <a:r>
              <a:rPr dirty="0" err="1"/>
              <a:t>硬件电路架构</a:t>
            </a:r>
            <a:endParaRPr dirty="0"/>
          </a:p>
        </p:txBody>
      </p:sp>
      <p:sp>
        <p:nvSpPr>
          <p:cNvPr id="3" name="TextBox 2"/>
          <p:cNvSpPr txBox="1"/>
          <p:nvPr/>
        </p:nvSpPr>
        <p:spPr>
          <a:xfrm>
            <a:off x="457200" y="731520"/>
            <a:ext cx="8229600" cy="365760"/>
          </a:xfrm>
          <a:prstGeom prst="rect">
            <a:avLst/>
          </a:prstGeom>
          <a:noFill/>
        </p:spPr>
        <p:txBody>
          <a:bodyPr wrap="none">
            <a:spAutoFit/>
          </a:bodyPr>
          <a:lstStyle/>
          <a:p>
            <a:pPr>
              <a:defRPr sz="1300">
                <a:solidFill>
                  <a:srgbClr val="F0F0F0"/>
                </a:solidFill>
              </a:defRPr>
            </a:pPr>
            <a:r>
              <a:rPr dirty="0"/>
              <a:t>基于ESP32-C3的机器人控制系统，选用成熟可靠的硬件组件构建完整的感知-控制-执行链路：</a:t>
            </a:r>
          </a:p>
        </p:txBody>
      </p:sp>
      <p:graphicFrame>
        <p:nvGraphicFramePr>
          <p:cNvPr id="4" name="Table 3"/>
          <p:cNvGraphicFramePr>
            <a:graphicFrameLocks noGrp="1"/>
          </p:cNvGraphicFramePr>
          <p:nvPr>
            <p:extLst>
              <p:ext uri="{D42A27DB-BD31-4B8C-83A1-F6EECF244321}">
                <p14:modId xmlns:p14="http://schemas.microsoft.com/office/powerpoint/2010/main" val="1147908387"/>
              </p:ext>
            </p:extLst>
          </p:nvPr>
        </p:nvGraphicFramePr>
        <p:xfrm>
          <a:off x="405684" y="1051561"/>
          <a:ext cx="8229600" cy="1920239"/>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320039">
                <a:tc>
                  <a:txBody>
                    <a:bodyPr/>
                    <a:lstStyle/>
                    <a:p>
                      <a:pPr algn="ctr">
                        <a:defRPr sz="1000" b="1">
                          <a:solidFill>
                            <a:srgbClr val="FFFFFF"/>
                          </a:solidFill>
                        </a:defRPr>
                      </a:pPr>
                      <a:r>
                        <a:rPr dirty="0" err="1">
                          <a:solidFill>
                            <a:schemeClr val="tx1"/>
                          </a:solidFill>
                        </a:rPr>
                        <a:t>组件类别</a:t>
                      </a:r>
                      <a:endParaRPr dirty="0">
                        <a:solidFill>
                          <a:schemeClr val="tx1"/>
                        </a:solidFill>
                      </a:endParaRPr>
                    </a:p>
                  </a:txBody>
                  <a:tcPr>
                    <a:solidFill>
                      <a:srgbClr val="065A82"/>
                    </a:solidFill>
                  </a:tcPr>
                </a:tc>
                <a:tc>
                  <a:txBody>
                    <a:bodyPr/>
                    <a:lstStyle/>
                    <a:p>
                      <a:pPr algn="ctr">
                        <a:defRPr sz="1000" b="1">
                          <a:solidFill>
                            <a:srgbClr val="FFFFFF"/>
                          </a:solidFill>
                        </a:defRPr>
                      </a:pPr>
                      <a:r>
                        <a:rPr dirty="0" err="1">
                          <a:solidFill>
                            <a:schemeClr val="tx1"/>
                          </a:solidFill>
                        </a:rPr>
                        <a:t>型号</a:t>
                      </a:r>
                      <a:r>
                        <a:rPr dirty="0">
                          <a:solidFill>
                            <a:schemeClr val="tx1"/>
                          </a:solidFill>
                        </a:rPr>
                        <a:t>/</a:t>
                      </a:r>
                      <a:r>
                        <a:rPr dirty="0" err="1">
                          <a:solidFill>
                            <a:schemeClr val="tx1"/>
                          </a:solidFill>
                        </a:rPr>
                        <a:t>规格</a:t>
                      </a:r>
                      <a:endParaRPr dirty="0">
                        <a:solidFill>
                          <a:schemeClr val="tx1"/>
                        </a:solidFill>
                      </a:endParaRPr>
                    </a:p>
                  </a:txBody>
                  <a:tcPr>
                    <a:solidFill>
                      <a:srgbClr val="065A82"/>
                    </a:solidFill>
                  </a:tcPr>
                </a:tc>
                <a:tc>
                  <a:txBody>
                    <a:bodyPr/>
                    <a:lstStyle/>
                    <a:p>
                      <a:pPr algn="ctr">
                        <a:defRPr sz="1000" b="1">
                          <a:solidFill>
                            <a:srgbClr val="FFFFFF"/>
                          </a:solidFill>
                        </a:defRPr>
                      </a:pPr>
                      <a:r>
                        <a:rPr>
                          <a:solidFill>
                            <a:schemeClr val="tx1"/>
                          </a:solidFill>
                        </a:rPr>
                        <a:t>数量</a:t>
                      </a:r>
                    </a:p>
                  </a:txBody>
                  <a:tcPr>
                    <a:solidFill>
                      <a:srgbClr val="065A82"/>
                    </a:solidFill>
                  </a:tcPr>
                </a:tc>
                <a:tc>
                  <a:txBody>
                    <a:bodyPr/>
                    <a:lstStyle/>
                    <a:p>
                      <a:pPr algn="ctr">
                        <a:defRPr sz="1000" b="1">
                          <a:solidFill>
                            <a:srgbClr val="FFFFFF"/>
                          </a:solidFill>
                        </a:defRPr>
                      </a:pPr>
                      <a:r>
                        <a:rPr dirty="0" err="1">
                          <a:solidFill>
                            <a:schemeClr val="tx1"/>
                          </a:solidFill>
                        </a:rPr>
                        <a:t>选型理由</a:t>
                      </a:r>
                      <a:endParaRPr dirty="0">
                        <a:solidFill>
                          <a:schemeClr val="tx1"/>
                        </a:solidFill>
                      </a:endParaRPr>
                    </a:p>
                  </a:txBody>
                  <a:tcPr>
                    <a:solidFill>
                      <a:srgbClr val="065A82"/>
                    </a:solidFill>
                  </a:tcPr>
                </a:tc>
                <a:extLst>
                  <a:ext uri="{0D108BD9-81ED-4DB2-BD59-A6C34878D82A}">
                    <a16:rowId xmlns:a16="http://schemas.microsoft.com/office/drawing/2014/main" val="10000"/>
                  </a:ext>
                </a:extLst>
              </a:tr>
              <a:tr h="320039">
                <a:tc>
                  <a:txBody>
                    <a:bodyPr/>
                    <a:lstStyle/>
                    <a:p>
                      <a:pPr algn="ctr">
                        <a:defRPr sz="1000" b="0">
                          <a:solidFill>
                            <a:srgbClr val="F0F0F0"/>
                          </a:solidFill>
                        </a:defRPr>
                      </a:pPr>
                      <a:r>
                        <a:rPr>
                          <a:solidFill>
                            <a:schemeClr val="tx1"/>
                          </a:solidFill>
                        </a:rPr>
                        <a:t>主控芯片</a:t>
                      </a:r>
                    </a:p>
                  </a:txBody>
                  <a:tcPr/>
                </a:tc>
                <a:tc>
                  <a:txBody>
                    <a:bodyPr/>
                    <a:lstStyle/>
                    <a:p>
                      <a:pPr algn="ctr">
                        <a:defRPr sz="1000" b="0">
                          <a:solidFill>
                            <a:srgbClr val="F0F0F0"/>
                          </a:solidFill>
                        </a:defRPr>
                      </a:pPr>
                      <a:r>
                        <a:rPr dirty="0">
                          <a:solidFill>
                            <a:schemeClr val="tx1"/>
                          </a:solidFill>
                        </a:rPr>
                        <a:t>ESP32-C3-WROOM-02</a:t>
                      </a:r>
                    </a:p>
                  </a:txBody>
                  <a:tcPr/>
                </a:tc>
                <a:tc>
                  <a:txBody>
                    <a:bodyPr/>
                    <a:lstStyle/>
                    <a:p>
                      <a:pPr algn="ctr">
                        <a:defRPr sz="1000" b="0">
                          <a:solidFill>
                            <a:srgbClr val="F0F0F0"/>
                          </a:solidFill>
                        </a:defRPr>
                      </a:pPr>
                      <a:r>
                        <a:rPr>
                          <a:solidFill>
                            <a:schemeClr val="tx1"/>
                          </a:solidFill>
                        </a:rPr>
                        <a:t>1</a:t>
                      </a:r>
                    </a:p>
                  </a:txBody>
                  <a:tcPr/>
                </a:tc>
                <a:tc>
                  <a:txBody>
                    <a:bodyPr/>
                    <a:lstStyle/>
                    <a:p>
                      <a:pPr algn="ctr">
                        <a:defRPr sz="1000" b="0">
                          <a:solidFill>
                            <a:srgbClr val="F0F0F0"/>
                          </a:solidFill>
                        </a:defRPr>
                      </a:pPr>
                      <a:r>
                        <a:rPr>
                          <a:solidFill>
                            <a:schemeClr val="tx1"/>
                          </a:solidFill>
                        </a:rPr>
                        <a:t>RISC-V架构、240MHz、内置WiFi、性价比高</a:t>
                      </a:r>
                    </a:p>
                  </a:txBody>
                  <a:tcPr/>
                </a:tc>
                <a:extLst>
                  <a:ext uri="{0D108BD9-81ED-4DB2-BD59-A6C34878D82A}">
                    <a16:rowId xmlns:a16="http://schemas.microsoft.com/office/drawing/2014/main" val="10001"/>
                  </a:ext>
                </a:extLst>
              </a:tr>
              <a:tr h="320039">
                <a:tc>
                  <a:txBody>
                    <a:bodyPr/>
                    <a:lstStyle/>
                    <a:p>
                      <a:pPr algn="ctr">
                        <a:defRPr sz="1000" b="0">
                          <a:solidFill>
                            <a:srgbClr val="F0F0F0"/>
                          </a:solidFill>
                        </a:defRPr>
                      </a:pPr>
                      <a:r>
                        <a:rPr dirty="0" err="1">
                          <a:solidFill>
                            <a:schemeClr val="tx1"/>
                          </a:solidFill>
                        </a:rPr>
                        <a:t>舵机</a:t>
                      </a:r>
                      <a:endParaRPr dirty="0">
                        <a:solidFill>
                          <a:schemeClr val="tx1"/>
                        </a:solidFill>
                      </a:endParaRPr>
                    </a:p>
                  </a:txBody>
                  <a:tcPr/>
                </a:tc>
                <a:tc>
                  <a:txBody>
                    <a:bodyPr/>
                    <a:lstStyle/>
                    <a:p>
                      <a:pPr algn="ctr">
                        <a:defRPr sz="1000" b="0">
                          <a:solidFill>
                            <a:srgbClr val="F0F0F0"/>
                          </a:solidFill>
                        </a:defRPr>
                      </a:pPr>
                      <a:r>
                        <a:rPr>
                          <a:solidFill>
                            <a:schemeClr val="tx1"/>
                          </a:solidFill>
                        </a:rPr>
                        <a:t>SG92R (180度 servo)</a:t>
                      </a:r>
                    </a:p>
                  </a:txBody>
                  <a:tcPr/>
                </a:tc>
                <a:tc>
                  <a:txBody>
                    <a:bodyPr/>
                    <a:lstStyle/>
                    <a:p>
                      <a:pPr algn="ctr">
                        <a:defRPr sz="1000" b="0">
                          <a:solidFill>
                            <a:srgbClr val="F0F0F0"/>
                          </a:solidFill>
                        </a:defRPr>
                      </a:pPr>
                      <a:r>
                        <a:rPr>
                          <a:solidFill>
                            <a:schemeClr val="tx1"/>
                          </a:solidFill>
                        </a:rPr>
                        <a:t>4</a:t>
                      </a:r>
                    </a:p>
                  </a:txBody>
                  <a:tcPr/>
                </a:tc>
                <a:tc>
                  <a:txBody>
                    <a:bodyPr/>
                    <a:lstStyle/>
                    <a:p>
                      <a:pPr algn="ctr">
                        <a:defRPr sz="1000" b="0">
                          <a:solidFill>
                            <a:srgbClr val="F0F0F0"/>
                          </a:solidFill>
                        </a:defRPr>
                      </a:pPr>
                      <a:r>
                        <a:rPr dirty="0" err="1">
                          <a:solidFill>
                            <a:schemeClr val="tx1"/>
                          </a:solidFill>
                        </a:rPr>
                        <a:t>体积小</a:t>
                      </a:r>
                      <a:r>
                        <a:rPr dirty="0">
                          <a:solidFill>
                            <a:schemeClr val="tx1"/>
                          </a:solidFill>
                        </a:rPr>
                        <a:t>(23x12.2mm)、扭矩9g/</a:t>
                      </a:r>
                      <a:r>
                        <a:rPr dirty="0" err="1">
                          <a:solidFill>
                            <a:schemeClr val="tx1"/>
                          </a:solidFill>
                        </a:rPr>
                        <a:t>cm、价格便宜、成熟稳定</a:t>
                      </a:r>
                      <a:endParaRPr dirty="0">
                        <a:solidFill>
                          <a:schemeClr val="tx1"/>
                        </a:solidFill>
                      </a:endParaRPr>
                    </a:p>
                  </a:txBody>
                  <a:tcPr/>
                </a:tc>
                <a:extLst>
                  <a:ext uri="{0D108BD9-81ED-4DB2-BD59-A6C34878D82A}">
                    <a16:rowId xmlns:a16="http://schemas.microsoft.com/office/drawing/2014/main" val="10002"/>
                  </a:ext>
                </a:extLst>
              </a:tr>
              <a:tr h="320039">
                <a:tc>
                  <a:txBody>
                    <a:bodyPr/>
                    <a:lstStyle/>
                    <a:p>
                      <a:pPr algn="ctr">
                        <a:defRPr sz="1000" b="0">
                          <a:solidFill>
                            <a:srgbClr val="F0F0F0"/>
                          </a:solidFill>
                        </a:defRPr>
                      </a:pPr>
                      <a:r>
                        <a:rPr>
                          <a:solidFill>
                            <a:schemeClr val="tx1"/>
                          </a:solidFill>
                        </a:rPr>
                        <a:t>显示屏幕</a:t>
                      </a:r>
                    </a:p>
                  </a:txBody>
                  <a:tcPr/>
                </a:tc>
                <a:tc>
                  <a:txBody>
                    <a:bodyPr/>
                    <a:lstStyle/>
                    <a:p>
                      <a:pPr algn="ctr">
                        <a:defRPr sz="1000" b="0">
                          <a:solidFill>
                            <a:srgbClr val="F0F0F0"/>
                          </a:solidFill>
                        </a:defRPr>
                      </a:pPr>
                      <a:r>
                        <a:rPr>
                          <a:solidFill>
                            <a:schemeClr val="tx1"/>
                          </a:solidFill>
                        </a:rPr>
                        <a:t>0.96" ILI9341</a:t>
                      </a:r>
                    </a:p>
                  </a:txBody>
                  <a:tcPr/>
                </a:tc>
                <a:tc>
                  <a:txBody>
                    <a:bodyPr/>
                    <a:lstStyle/>
                    <a:p>
                      <a:pPr algn="ctr">
                        <a:defRPr sz="1000" b="0">
                          <a:solidFill>
                            <a:srgbClr val="F0F0F0"/>
                          </a:solidFill>
                        </a:defRPr>
                      </a:pPr>
                      <a:r>
                        <a:rPr>
                          <a:solidFill>
                            <a:schemeClr val="tx1"/>
                          </a:solidFill>
                        </a:rPr>
                        <a:t>1</a:t>
                      </a:r>
                    </a:p>
                  </a:txBody>
                  <a:tcPr/>
                </a:tc>
                <a:tc>
                  <a:txBody>
                    <a:bodyPr/>
                    <a:lstStyle/>
                    <a:p>
                      <a:pPr algn="ctr">
                        <a:defRPr sz="1000" b="0">
                          <a:solidFill>
                            <a:srgbClr val="F0F0F0"/>
                          </a:solidFill>
                        </a:defRPr>
                      </a:pPr>
                      <a:r>
                        <a:rPr dirty="0">
                          <a:solidFill>
                            <a:schemeClr val="tx1"/>
                          </a:solidFill>
                        </a:rPr>
                        <a:t>SPI接口、240x320分辨率、显示机器人状态</a:t>
                      </a:r>
                    </a:p>
                  </a:txBody>
                  <a:tcPr/>
                </a:tc>
                <a:extLst>
                  <a:ext uri="{0D108BD9-81ED-4DB2-BD59-A6C34878D82A}">
                    <a16:rowId xmlns:a16="http://schemas.microsoft.com/office/drawing/2014/main" val="10003"/>
                  </a:ext>
                </a:extLst>
              </a:tr>
              <a:tr h="320039">
                <a:tc>
                  <a:txBody>
                    <a:bodyPr/>
                    <a:lstStyle/>
                    <a:p>
                      <a:pPr algn="ctr">
                        <a:defRPr sz="1000" b="0">
                          <a:solidFill>
                            <a:srgbClr val="F0F0F0"/>
                          </a:solidFill>
                        </a:defRPr>
                      </a:pPr>
                      <a:r>
                        <a:rPr>
                          <a:solidFill>
                            <a:schemeClr val="tx1"/>
                          </a:solidFill>
                        </a:rPr>
                        <a:t>麦克风</a:t>
                      </a:r>
                    </a:p>
                  </a:txBody>
                  <a:tcPr/>
                </a:tc>
                <a:tc>
                  <a:txBody>
                    <a:bodyPr/>
                    <a:lstStyle/>
                    <a:p>
                      <a:pPr algn="ctr">
                        <a:defRPr sz="1000" b="0">
                          <a:solidFill>
                            <a:srgbClr val="F0F0F0"/>
                          </a:solidFill>
                        </a:defRPr>
                      </a:pPr>
                      <a:r>
                        <a:rPr>
                          <a:solidFill>
                            <a:schemeClr val="tx1"/>
                          </a:solidFill>
                        </a:rPr>
                        <a:t>ADC麦克风</a:t>
                      </a:r>
                    </a:p>
                  </a:txBody>
                  <a:tcPr/>
                </a:tc>
                <a:tc>
                  <a:txBody>
                    <a:bodyPr/>
                    <a:lstStyle/>
                    <a:p>
                      <a:pPr algn="ctr">
                        <a:defRPr sz="1000" b="0">
                          <a:solidFill>
                            <a:srgbClr val="F0F0F0"/>
                          </a:solidFill>
                        </a:defRPr>
                      </a:pPr>
                      <a:r>
                        <a:rPr>
                          <a:solidFill>
                            <a:schemeClr val="tx1"/>
                          </a:solidFill>
                        </a:rPr>
                        <a:t>1</a:t>
                      </a:r>
                    </a:p>
                  </a:txBody>
                  <a:tcPr/>
                </a:tc>
                <a:tc>
                  <a:txBody>
                    <a:bodyPr/>
                    <a:lstStyle/>
                    <a:p>
                      <a:pPr algn="ctr">
                        <a:defRPr sz="1000" b="0">
                          <a:solidFill>
                            <a:srgbClr val="F0F0F0"/>
                          </a:solidFill>
                        </a:defRPr>
                      </a:pPr>
                      <a:r>
                        <a:rPr dirty="0">
                          <a:solidFill>
                            <a:schemeClr val="tx1"/>
                          </a:solidFill>
                        </a:rPr>
                        <a:t>16kHz采样率、适合语音交互场景</a:t>
                      </a:r>
                    </a:p>
                  </a:txBody>
                  <a:tcPr/>
                </a:tc>
                <a:extLst>
                  <a:ext uri="{0D108BD9-81ED-4DB2-BD59-A6C34878D82A}">
                    <a16:rowId xmlns:a16="http://schemas.microsoft.com/office/drawing/2014/main" val="10004"/>
                  </a:ext>
                </a:extLst>
              </a:tr>
              <a:tr h="320044">
                <a:tc>
                  <a:txBody>
                    <a:bodyPr/>
                    <a:lstStyle/>
                    <a:p>
                      <a:pPr algn="ctr">
                        <a:defRPr sz="1000" b="0">
                          <a:solidFill>
                            <a:srgbClr val="F0F0F0"/>
                          </a:solidFill>
                        </a:defRPr>
                      </a:pPr>
                      <a:r>
                        <a:rPr>
                          <a:solidFill>
                            <a:schemeClr val="tx1"/>
                          </a:solidFill>
                        </a:rPr>
                        <a:t>RGB LED</a:t>
                      </a:r>
                    </a:p>
                  </a:txBody>
                  <a:tcPr/>
                </a:tc>
                <a:tc>
                  <a:txBody>
                    <a:bodyPr/>
                    <a:lstStyle/>
                    <a:p>
                      <a:pPr algn="ctr">
                        <a:defRPr sz="1000" b="0">
                          <a:solidFill>
                            <a:srgbClr val="F0F0F0"/>
                          </a:solidFill>
                        </a:defRPr>
                      </a:pPr>
                      <a:r>
                        <a:rPr>
                          <a:solidFill>
                            <a:schemeClr val="tx1"/>
                          </a:solidFill>
                        </a:rPr>
                        <a:t>WS2812B x 8</a:t>
                      </a:r>
                    </a:p>
                  </a:txBody>
                  <a:tcPr/>
                </a:tc>
                <a:tc>
                  <a:txBody>
                    <a:bodyPr/>
                    <a:lstStyle/>
                    <a:p>
                      <a:pPr algn="ctr">
                        <a:defRPr sz="1000" b="0">
                          <a:solidFill>
                            <a:srgbClr val="F0F0F0"/>
                          </a:solidFill>
                        </a:defRPr>
                      </a:pPr>
                      <a:r>
                        <a:rPr>
                          <a:solidFill>
                            <a:schemeClr val="tx1"/>
                          </a:solidFill>
                        </a:rPr>
                        <a:t>1条</a:t>
                      </a:r>
                    </a:p>
                  </a:txBody>
                  <a:tcPr/>
                </a:tc>
                <a:tc>
                  <a:txBody>
                    <a:bodyPr/>
                    <a:lstStyle/>
                    <a:p>
                      <a:pPr algn="ctr">
                        <a:defRPr sz="1000" b="0">
                          <a:solidFill>
                            <a:srgbClr val="F0F0F0"/>
                          </a:solidFill>
                        </a:defRPr>
                      </a:pPr>
                      <a:r>
                        <a:rPr dirty="0" err="1">
                          <a:solidFill>
                            <a:schemeClr val="tx1"/>
                          </a:solidFill>
                        </a:rPr>
                        <a:t>单线控制、色彩丰富、用于状态指示</a:t>
                      </a:r>
                      <a:endParaRPr dirty="0">
                        <a:solidFill>
                          <a:schemeClr val="tx1"/>
                        </a:solidFill>
                      </a:endParaRP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3383280"/>
            <a:ext cx="1840184" cy="338554"/>
          </a:xfrm>
          <a:prstGeom prst="rect">
            <a:avLst/>
          </a:prstGeom>
          <a:noFill/>
        </p:spPr>
        <p:txBody>
          <a:bodyPr wrap="none">
            <a:spAutoFit/>
          </a:bodyPr>
          <a:lstStyle/>
          <a:p>
            <a:pPr>
              <a:defRPr sz="1600" b="1">
                <a:solidFill>
                  <a:srgbClr val="1C7293"/>
                </a:solidFill>
              </a:defRPr>
            </a:pPr>
            <a:r>
              <a:rPr dirty="0"/>
              <a:t>ESP32-C3 </a:t>
            </a:r>
            <a:r>
              <a:rPr dirty="0" err="1"/>
              <a:t>引脚定义</a:t>
            </a:r>
            <a:endParaRPr dirty="0"/>
          </a:p>
        </p:txBody>
      </p:sp>
      <p:graphicFrame>
        <p:nvGraphicFramePr>
          <p:cNvPr id="6" name="Table 5"/>
          <p:cNvGraphicFramePr>
            <a:graphicFrameLocks noGrp="1"/>
          </p:cNvGraphicFramePr>
          <p:nvPr>
            <p:extLst>
              <p:ext uri="{D42A27DB-BD31-4B8C-83A1-F6EECF244321}">
                <p14:modId xmlns:p14="http://schemas.microsoft.com/office/powerpoint/2010/main" val="391544894"/>
              </p:ext>
            </p:extLst>
          </p:nvPr>
        </p:nvGraphicFramePr>
        <p:xfrm>
          <a:off x="405684" y="3036027"/>
          <a:ext cx="5256727" cy="2031105"/>
        </p:xfrm>
        <a:graphic>
          <a:graphicData uri="http://schemas.openxmlformats.org/drawingml/2006/table">
            <a:tbl>
              <a:tblPr firstRow="1" bandRow="1">
                <a:tableStyleId>{5C22544A-7EE6-4342-B048-85BDC9FD1C3A}</a:tableStyleId>
              </a:tblPr>
              <a:tblGrid>
                <a:gridCol w="1577018">
                  <a:extLst>
                    <a:ext uri="{9D8B030D-6E8A-4147-A177-3AD203B41FA5}">
                      <a16:colId xmlns:a16="http://schemas.microsoft.com/office/drawing/2014/main" val="20000"/>
                    </a:ext>
                  </a:extLst>
                </a:gridCol>
                <a:gridCol w="876121">
                  <a:extLst>
                    <a:ext uri="{9D8B030D-6E8A-4147-A177-3AD203B41FA5}">
                      <a16:colId xmlns:a16="http://schemas.microsoft.com/office/drawing/2014/main" val="20001"/>
                    </a:ext>
                  </a:extLst>
                </a:gridCol>
                <a:gridCol w="876121">
                  <a:extLst>
                    <a:ext uri="{9D8B030D-6E8A-4147-A177-3AD203B41FA5}">
                      <a16:colId xmlns:a16="http://schemas.microsoft.com/office/drawing/2014/main" val="20002"/>
                    </a:ext>
                  </a:extLst>
                </a:gridCol>
                <a:gridCol w="1927467">
                  <a:extLst>
                    <a:ext uri="{9D8B030D-6E8A-4147-A177-3AD203B41FA5}">
                      <a16:colId xmlns:a16="http://schemas.microsoft.com/office/drawing/2014/main" val="20003"/>
                    </a:ext>
                  </a:extLst>
                </a:gridCol>
              </a:tblGrid>
              <a:tr h="290157">
                <a:tc>
                  <a:txBody>
                    <a:bodyPr/>
                    <a:lstStyle/>
                    <a:p>
                      <a:pPr algn="ctr">
                        <a:defRPr sz="1000" b="1">
                          <a:solidFill>
                            <a:srgbClr val="FFFFFF"/>
                          </a:solidFill>
                        </a:defRPr>
                      </a:pPr>
                      <a:r>
                        <a:rPr dirty="0" err="1">
                          <a:solidFill>
                            <a:schemeClr val="tx1"/>
                          </a:solidFill>
                        </a:rPr>
                        <a:t>功能</a:t>
                      </a:r>
                      <a:endParaRPr dirty="0">
                        <a:solidFill>
                          <a:schemeClr val="tx1"/>
                        </a:solidFill>
                      </a:endParaRPr>
                    </a:p>
                  </a:txBody>
                  <a:tcPr>
                    <a:solidFill>
                      <a:srgbClr val="065A82"/>
                    </a:solidFill>
                  </a:tcPr>
                </a:tc>
                <a:tc>
                  <a:txBody>
                    <a:bodyPr/>
                    <a:lstStyle/>
                    <a:p>
                      <a:pPr algn="ctr">
                        <a:defRPr sz="1000" b="1">
                          <a:solidFill>
                            <a:srgbClr val="FFFFFF"/>
                          </a:solidFill>
                        </a:defRPr>
                      </a:pPr>
                      <a:r>
                        <a:rPr>
                          <a:solidFill>
                            <a:schemeClr val="tx1"/>
                          </a:solidFill>
                        </a:rPr>
                        <a:t>GPIO</a:t>
                      </a:r>
                    </a:p>
                  </a:txBody>
                  <a:tcPr>
                    <a:solidFill>
                      <a:srgbClr val="065A82"/>
                    </a:solidFill>
                  </a:tcPr>
                </a:tc>
                <a:tc>
                  <a:txBody>
                    <a:bodyPr/>
                    <a:lstStyle/>
                    <a:p>
                      <a:pPr algn="ctr">
                        <a:defRPr sz="1000" b="1">
                          <a:solidFill>
                            <a:srgbClr val="FFFFFF"/>
                          </a:solidFill>
                        </a:defRPr>
                      </a:pPr>
                      <a:r>
                        <a:rPr>
                          <a:solidFill>
                            <a:schemeClr val="tx1"/>
                          </a:solidFill>
                        </a:rPr>
                        <a:t>PWM通道</a:t>
                      </a:r>
                    </a:p>
                  </a:txBody>
                  <a:tcPr>
                    <a:solidFill>
                      <a:srgbClr val="065A82"/>
                    </a:solidFill>
                  </a:tcPr>
                </a:tc>
                <a:tc>
                  <a:txBody>
                    <a:bodyPr/>
                    <a:lstStyle/>
                    <a:p>
                      <a:pPr algn="ctr">
                        <a:defRPr sz="1000" b="1">
                          <a:solidFill>
                            <a:srgbClr val="FFFFFF"/>
                          </a:solidFill>
                        </a:defRPr>
                      </a:pPr>
                      <a:r>
                        <a:rPr lang="zh-CN" altLang="en-US" dirty="0">
                          <a:solidFill>
                            <a:schemeClr val="tx1"/>
                          </a:solidFill>
                        </a:rPr>
                        <a:t>备注</a:t>
                      </a:r>
                      <a:endParaRPr dirty="0">
                        <a:solidFill>
                          <a:schemeClr val="tx1"/>
                        </a:solidFill>
                      </a:endParaRPr>
                    </a:p>
                  </a:txBody>
                  <a:tcPr>
                    <a:solidFill>
                      <a:srgbClr val="065A82"/>
                    </a:solidFill>
                  </a:tcPr>
                </a:tc>
                <a:extLst>
                  <a:ext uri="{0D108BD9-81ED-4DB2-BD59-A6C34878D82A}">
                    <a16:rowId xmlns:a16="http://schemas.microsoft.com/office/drawing/2014/main" val="10000"/>
                  </a:ext>
                </a:extLst>
              </a:tr>
              <a:tr h="290157">
                <a:tc>
                  <a:txBody>
                    <a:bodyPr/>
                    <a:lstStyle/>
                    <a:p>
                      <a:pPr algn="ctr">
                        <a:defRPr sz="1000" b="0">
                          <a:solidFill>
                            <a:srgbClr val="F0F0F0"/>
                          </a:solidFill>
                        </a:defRPr>
                      </a:pPr>
                      <a:r>
                        <a:rPr>
                          <a:solidFill>
                            <a:schemeClr val="tx1"/>
                          </a:solidFill>
                        </a:rPr>
                        <a:t>前左舵机FL</a:t>
                      </a:r>
                    </a:p>
                  </a:txBody>
                  <a:tcPr/>
                </a:tc>
                <a:tc>
                  <a:txBody>
                    <a:bodyPr/>
                    <a:lstStyle/>
                    <a:p>
                      <a:pPr algn="ctr">
                        <a:defRPr sz="1000" b="0">
                          <a:solidFill>
                            <a:srgbClr val="F0F0F0"/>
                          </a:solidFill>
                        </a:defRPr>
                      </a:pPr>
                      <a:r>
                        <a:rPr dirty="0">
                          <a:solidFill>
                            <a:schemeClr val="tx1"/>
                          </a:solidFill>
                        </a:rPr>
                        <a:t>GPIO21</a:t>
                      </a:r>
                    </a:p>
                  </a:txBody>
                  <a:tcPr/>
                </a:tc>
                <a:tc>
                  <a:txBody>
                    <a:bodyPr/>
                    <a:lstStyle/>
                    <a:p>
                      <a:pPr algn="ctr">
                        <a:defRPr sz="1000" b="0">
                          <a:solidFill>
                            <a:srgbClr val="F0F0F0"/>
                          </a:solidFill>
                        </a:defRPr>
                      </a:pPr>
                      <a:r>
                        <a:rPr>
                          <a:solidFill>
                            <a:schemeClr val="tx1"/>
                          </a:solidFill>
                        </a:rPr>
                        <a:t>通道0</a:t>
                      </a:r>
                    </a:p>
                  </a:txBody>
                  <a:tcPr/>
                </a:tc>
                <a:tc>
                  <a:txBody>
                    <a:bodyPr/>
                    <a:lstStyle/>
                    <a:p>
                      <a:pPr algn="ctr">
                        <a:defRPr sz="1000" b="0">
                          <a:solidFill>
                            <a:srgbClr val="F0F0F0"/>
                          </a:solidFill>
                        </a:defRPr>
                      </a:pPr>
                      <a:r>
                        <a:rPr>
                          <a:solidFill>
                            <a:schemeClr val="tx1"/>
                          </a:solidFill>
                        </a:rPr>
                        <a:t>控制左前腿</a:t>
                      </a:r>
                    </a:p>
                  </a:txBody>
                  <a:tcPr/>
                </a:tc>
                <a:extLst>
                  <a:ext uri="{0D108BD9-81ED-4DB2-BD59-A6C34878D82A}">
                    <a16:rowId xmlns:a16="http://schemas.microsoft.com/office/drawing/2014/main" val="10001"/>
                  </a:ext>
                </a:extLst>
              </a:tr>
              <a:tr h="290157">
                <a:tc>
                  <a:txBody>
                    <a:bodyPr/>
                    <a:lstStyle/>
                    <a:p>
                      <a:pPr algn="ctr">
                        <a:defRPr sz="1000" b="0">
                          <a:solidFill>
                            <a:srgbClr val="F0F0F0"/>
                          </a:solidFill>
                        </a:defRPr>
                      </a:pPr>
                      <a:r>
                        <a:rPr>
                          <a:solidFill>
                            <a:schemeClr val="tx1"/>
                          </a:solidFill>
                        </a:rPr>
                        <a:t>前右舵机FR</a:t>
                      </a:r>
                    </a:p>
                  </a:txBody>
                  <a:tcPr/>
                </a:tc>
                <a:tc>
                  <a:txBody>
                    <a:bodyPr/>
                    <a:lstStyle/>
                    <a:p>
                      <a:pPr algn="ctr">
                        <a:defRPr sz="1000" b="0">
                          <a:solidFill>
                            <a:srgbClr val="F0F0F0"/>
                          </a:solidFill>
                        </a:defRPr>
                      </a:pPr>
                      <a:r>
                        <a:rPr>
                          <a:solidFill>
                            <a:schemeClr val="tx1"/>
                          </a:solidFill>
                        </a:rPr>
                        <a:t>GPIO19</a:t>
                      </a:r>
                    </a:p>
                  </a:txBody>
                  <a:tcPr/>
                </a:tc>
                <a:tc>
                  <a:txBody>
                    <a:bodyPr/>
                    <a:lstStyle/>
                    <a:p>
                      <a:pPr algn="ctr">
                        <a:defRPr sz="1000" b="0">
                          <a:solidFill>
                            <a:srgbClr val="F0F0F0"/>
                          </a:solidFill>
                        </a:defRPr>
                      </a:pPr>
                      <a:r>
                        <a:rPr dirty="0">
                          <a:solidFill>
                            <a:schemeClr val="tx1"/>
                          </a:solidFill>
                        </a:rPr>
                        <a:t>通道1</a:t>
                      </a:r>
                    </a:p>
                  </a:txBody>
                  <a:tcPr/>
                </a:tc>
                <a:tc>
                  <a:txBody>
                    <a:bodyPr/>
                    <a:lstStyle/>
                    <a:p>
                      <a:pPr algn="ctr">
                        <a:defRPr sz="1000" b="0">
                          <a:solidFill>
                            <a:srgbClr val="F0F0F0"/>
                          </a:solidFill>
                        </a:defRPr>
                      </a:pPr>
                      <a:r>
                        <a:rPr>
                          <a:solidFill>
                            <a:schemeClr val="tx1"/>
                          </a:solidFill>
                        </a:rPr>
                        <a:t>控制右前腿</a:t>
                      </a:r>
                    </a:p>
                  </a:txBody>
                  <a:tcPr/>
                </a:tc>
                <a:extLst>
                  <a:ext uri="{0D108BD9-81ED-4DB2-BD59-A6C34878D82A}">
                    <a16:rowId xmlns:a16="http://schemas.microsoft.com/office/drawing/2014/main" val="10002"/>
                  </a:ext>
                </a:extLst>
              </a:tr>
              <a:tr h="290157">
                <a:tc>
                  <a:txBody>
                    <a:bodyPr/>
                    <a:lstStyle/>
                    <a:p>
                      <a:pPr algn="ctr">
                        <a:defRPr sz="1000" b="0">
                          <a:solidFill>
                            <a:srgbClr val="F0F0F0"/>
                          </a:solidFill>
                        </a:defRPr>
                      </a:pPr>
                      <a:r>
                        <a:rPr>
                          <a:solidFill>
                            <a:schemeClr val="tx1"/>
                          </a:solidFill>
                        </a:rPr>
                        <a:t>后左舵机BL</a:t>
                      </a:r>
                    </a:p>
                  </a:txBody>
                  <a:tcPr/>
                </a:tc>
                <a:tc>
                  <a:txBody>
                    <a:bodyPr/>
                    <a:lstStyle/>
                    <a:p>
                      <a:pPr algn="ctr">
                        <a:defRPr sz="1000" b="0">
                          <a:solidFill>
                            <a:srgbClr val="F0F0F0"/>
                          </a:solidFill>
                        </a:defRPr>
                      </a:pPr>
                      <a:r>
                        <a:rPr>
                          <a:solidFill>
                            <a:schemeClr val="tx1"/>
                          </a:solidFill>
                        </a:rPr>
                        <a:t>GPIO20</a:t>
                      </a:r>
                    </a:p>
                  </a:txBody>
                  <a:tcPr/>
                </a:tc>
                <a:tc>
                  <a:txBody>
                    <a:bodyPr/>
                    <a:lstStyle/>
                    <a:p>
                      <a:pPr algn="ctr">
                        <a:defRPr sz="1000" b="0">
                          <a:solidFill>
                            <a:srgbClr val="F0F0F0"/>
                          </a:solidFill>
                        </a:defRPr>
                      </a:pPr>
                      <a:r>
                        <a:rPr>
                          <a:solidFill>
                            <a:schemeClr val="tx1"/>
                          </a:solidFill>
                        </a:rPr>
                        <a:t>通道2</a:t>
                      </a:r>
                    </a:p>
                  </a:txBody>
                  <a:tcPr/>
                </a:tc>
                <a:tc>
                  <a:txBody>
                    <a:bodyPr/>
                    <a:lstStyle/>
                    <a:p>
                      <a:pPr algn="ctr">
                        <a:defRPr sz="1000" b="0">
                          <a:solidFill>
                            <a:srgbClr val="F0F0F0"/>
                          </a:solidFill>
                        </a:defRPr>
                      </a:pPr>
                      <a:r>
                        <a:rPr dirty="0" err="1">
                          <a:solidFill>
                            <a:schemeClr val="tx1"/>
                          </a:solidFill>
                        </a:rPr>
                        <a:t>控制左后腿</a:t>
                      </a:r>
                      <a:endParaRPr dirty="0">
                        <a:solidFill>
                          <a:schemeClr val="tx1"/>
                        </a:solidFill>
                      </a:endParaRPr>
                    </a:p>
                  </a:txBody>
                  <a:tcPr/>
                </a:tc>
                <a:extLst>
                  <a:ext uri="{0D108BD9-81ED-4DB2-BD59-A6C34878D82A}">
                    <a16:rowId xmlns:a16="http://schemas.microsoft.com/office/drawing/2014/main" val="10003"/>
                  </a:ext>
                </a:extLst>
              </a:tr>
              <a:tr h="290157">
                <a:tc>
                  <a:txBody>
                    <a:bodyPr/>
                    <a:lstStyle/>
                    <a:p>
                      <a:pPr algn="ctr">
                        <a:defRPr sz="1000" b="0">
                          <a:solidFill>
                            <a:srgbClr val="F0F0F0"/>
                          </a:solidFill>
                        </a:defRPr>
                      </a:pPr>
                      <a:r>
                        <a:rPr>
                          <a:solidFill>
                            <a:schemeClr val="tx1"/>
                          </a:solidFill>
                        </a:rPr>
                        <a:t>后右舵机BR</a:t>
                      </a:r>
                    </a:p>
                  </a:txBody>
                  <a:tcPr/>
                </a:tc>
                <a:tc>
                  <a:txBody>
                    <a:bodyPr/>
                    <a:lstStyle/>
                    <a:p>
                      <a:pPr algn="ctr">
                        <a:defRPr sz="1000" b="0">
                          <a:solidFill>
                            <a:srgbClr val="F0F0F0"/>
                          </a:solidFill>
                        </a:defRPr>
                      </a:pPr>
                      <a:r>
                        <a:rPr>
                          <a:solidFill>
                            <a:schemeClr val="tx1"/>
                          </a:solidFill>
                        </a:rPr>
                        <a:t>GPIO18</a:t>
                      </a:r>
                    </a:p>
                  </a:txBody>
                  <a:tcPr/>
                </a:tc>
                <a:tc>
                  <a:txBody>
                    <a:bodyPr/>
                    <a:lstStyle/>
                    <a:p>
                      <a:pPr algn="ctr">
                        <a:defRPr sz="1000" b="0">
                          <a:solidFill>
                            <a:srgbClr val="F0F0F0"/>
                          </a:solidFill>
                        </a:defRPr>
                      </a:pPr>
                      <a:r>
                        <a:rPr>
                          <a:solidFill>
                            <a:schemeClr val="tx1"/>
                          </a:solidFill>
                        </a:rPr>
                        <a:t>通道3</a:t>
                      </a:r>
                    </a:p>
                  </a:txBody>
                  <a:tcPr/>
                </a:tc>
                <a:tc>
                  <a:txBody>
                    <a:bodyPr/>
                    <a:lstStyle/>
                    <a:p>
                      <a:pPr algn="ctr">
                        <a:defRPr sz="1000" b="0">
                          <a:solidFill>
                            <a:srgbClr val="F0F0F0"/>
                          </a:solidFill>
                        </a:defRPr>
                      </a:pPr>
                      <a:r>
                        <a:rPr dirty="0" err="1">
                          <a:solidFill>
                            <a:schemeClr val="tx1"/>
                          </a:solidFill>
                        </a:rPr>
                        <a:t>控制右后腿</a:t>
                      </a:r>
                      <a:endParaRPr dirty="0">
                        <a:solidFill>
                          <a:schemeClr val="tx1"/>
                        </a:solidFill>
                      </a:endParaRPr>
                    </a:p>
                  </a:txBody>
                  <a:tcPr/>
                </a:tc>
                <a:extLst>
                  <a:ext uri="{0D108BD9-81ED-4DB2-BD59-A6C34878D82A}">
                    <a16:rowId xmlns:a16="http://schemas.microsoft.com/office/drawing/2014/main" val="10004"/>
                  </a:ext>
                </a:extLst>
              </a:tr>
              <a:tr h="290157">
                <a:tc>
                  <a:txBody>
                    <a:bodyPr/>
                    <a:lstStyle/>
                    <a:p>
                      <a:pPr algn="ctr">
                        <a:defRPr sz="1000" b="0">
                          <a:solidFill>
                            <a:srgbClr val="F0F0F0"/>
                          </a:solidFill>
                        </a:defRPr>
                      </a:pPr>
                      <a:r>
                        <a:rPr>
                          <a:solidFill>
                            <a:schemeClr val="tx1"/>
                          </a:solidFill>
                        </a:rPr>
                        <a:t>LCD数据/命令</a:t>
                      </a:r>
                    </a:p>
                  </a:txBody>
                  <a:tcPr/>
                </a:tc>
                <a:tc>
                  <a:txBody>
                    <a:bodyPr/>
                    <a:lstStyle/>
                    <a:p>
                      <a:pPr algn="ctr">
                        <a:defRPr sz="1000" b="0">
                          <a:solidFill>
                            <a:srgbClr val="F0F0F0"/>
                          </a:solidFill>
                        </a:defRPr>
                      </a:pPr>
                      <a:r>
                        <a:rPr>
                          <a:solidFill>
                            <a:schemeClr val="tx1"/>
                          </a:solidFill>
                        </a:rPr>
                        <a:t>GPIO13</a:t>
                      </a:r>
                    </a:p>
                  </a:txBody>
                  <a:tcPr/>
                </a:tc>
                <a:tc>
                  <a:txBody>
                    <a:bodyPr/>
                    <a:lstStyle/>
                    <a:p>
                      <a:pPr algn="ctr">
                        <a:defRPr sz="1000" b="0">
                          <a:solidFill>
                            <a:srgbClr val="F0F0F0"/>
                          </a:solidFill>
                        </a:defRPr>
                      </a:pPr>
                      <a:r>
                        <a:rPr>
                          <a:solidFill>
                            <a:schemeClr val="tx1"/>
                          </a:solidFill>
                        </a:rPr>
                        <a:t>-</a:t>
                      </a:r>
                    </a:p>
                  </a:txBody>
                  <a:tcPr/>
                </a:tc>
                <a:tc>
                  <a:txBody>
                    <a:bodyPr/>
                    <a:lstStyle/>
                    <a:p>
                      <a:pPr algn="ctr">
                        <a:defRPr sz="1000" b="0">
                          <a:solidFill>
                            <a:srgbClr val="F0F0F0"/>
                          </a:solidFill>
                        </a:defRPr>
                      </a:pPr>
                      <a:r>
                        <a:rPr dirty="0" err="1">
                          <a:solidFill>
                            <a:schemeClr val="tx1"/>
                          </a:solidFill>
                        </a:rPr>
                        <a:t>SPI通信</a:t>
                      </a:r>
                      <a:endParaRPr dirty="0">
                        <a:solidFill>
                          <a:schemeClr val="tx1"/>
                        </a:solidFill>
                      </a:endParaRPr>
                    </a:p>
                  </a:txBody>
                  <a:tcPr/>
                </a:tc>
                <a:extLst>
                  <a:ext uri="{0D108BD9-81ED-4DB2-BD59-A6C34878D82A}">
                    <a16:rowId xmlns:a16="http://schemas.microsoft.com/office/drawing/2014/main" val="10005"/>
                  </a:ext>
                </a:extLst>
              </a:tr>
              <a:tr h="290163">
                <a:tc>
                  <a:txBody>
                    <a:bodyPr/>
                    <a:lstStyle/>
                    <a:p>
                      <a:pPr algn="ctr">
                        <a:defRPr sz="1000" b="0">
                          <a:solidFill>
                            <a:srgbClr val="F0F0F0"/>
                          </a:solidFill>
                        </a:defRPr>
                      </a:pPr>
                      <a:r>
                        <a:rPr>
                          <a:solidFill>
                            <a:schemeClr val="tx1"/>
                          </a:solidFill>
                        </a:rPr>
                        <a:t>WS2812 LED</a:t>
                      </a:r>
                    </a:p>
                  </a:txBody>
                  <a:tcPr/>
                </a:tc>
                <a:tc>
                  <a:txBody>
                    <a:bodyPr/>
                    <a:lstStyle/>
                    <a:p>
                      <a:pPr algn="ctr">
                        <a:defRPr sz="1000" b="0">
                          <a:solidFill>
                            <a:srgbClr val="F0F0F0"/>
                          </a:solidFill>
                        </a:defRPr>
                      </a:pPr>
                      <a:r>
                        <a:rPr>
                          <a:solidFill>
                            <a:schemeClr val="tx1"/>
                          </a:solidFill>
                        </a:rPr>
                        <a:t>GPIO8</a:t>
                      </a:r>
                    </a:p>
                  </a:txBody>
                  <a:tcPr/>
                </a:tc>
                <a:tc>
                  <a:txBody>
                    <a:bodyPr/>
                    <a:lstStyle/>
                    <a:p>
                      <a:pPr algn="ctr">
                        <a:defRPr sz="1000" b="0">
                          <a:solidFill>
                            <a:srgbClr val="F0F0F0"/>
                          </a:solidFill>
                        </a:defRPr>
                      </a:pPr>
                      <a:r>
                        <a:rPr>
                          <a:solidFill>
                            <a:schemeClr val="tx1"/>
                          </a:solidFill>
                        </a:rPr>
                        <a:t>-</a:t>
                      </a:r>
                    </a:p>
                  </a:txBody>
                  <a:tcPr/>
                </a:tc>
                <a:tc>
                  <a:txBody>
                    <a:bodyPr/>
                    <a:lstStyle/>
                    <a:p>
                      <a:pPr algn="ctr">
                        <a:defRPr sz="1000" b="0">
                          <a:solidFill>
                            <a:srgbClr val="F0F0F0"/>
                          </a:solidFill>
                        </a:defRPr>
                      </a:pPr>
                      <a:r>
                        <a:rPr dirty="0" err="1">
                          <a:solidFill>
                            <a:schemeClr val="tx1"/>
                          </a:solidFill>
                        </a:rPr>
                        <a:t>单线RGB控制</a:t>
                      </a:r>
                      <a:endParaRPr dirty="0">
                        <a:solidFill>
                          <a:schemeClr val="tx1"/>
                        </a:solidFill>
                      </a:endParaRPr>
                    </a:p>
                  </a:txBody>
                  <a:tcPr/>
                </a:tc>
                <a:extLst>
                  <a:ext uri="{0D108BD9-81ED-4DB2-BD59-A6C34878D82A}">
                    <a16:rowId xmlns:a16="http://schemas.microsoft.com/office/drawing/2014/main" val="10006"/>
                  </a:ext>
                </a:extLst>
              </a:tr>
            </a:tbl>
          </a:graphicData>
        </a:graphic>
      </p:graphicFrame>
      <p:pic>
        <p:nvPicPr>
          <p:cNvPr id="9" name="图片 8">
            <a:extLst>
              <a:ext uri="{FF2B5EF4-FFF2-40B4-BE49-F238E27FC236}">
                <a16:creationId xmlns:a16="http://schemas.microsoft.com/office/drawing/2014/main" id="{27A8A84D-9A4F-1875-957C-5FC2EF6BDE95}"/>
              </a:ext>
            </a:extLst>
          </p:cNvPr>
          <p:cNvPicPr>
            <a:picLocks noChangeAspect="1"/>
          </p:cNvPicPr>
          <p:nvPr/>
        </p:nvPicPr>
        <p:blipFill>
          <a:blip r:embed="rId2"/>
          <a:stretch>
            <a:fillRect/>
          </a:stretch>
        </p:blipFill>
        <p:spPr>
          <a:xfrm>
            <a:off x="5713927" y="3036027"/>
            <a:ext cx="3275458" cy="15964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舵机角度定义</a:t>
            </a:r>
          </a:p>
        </p:txBody>
      </p:sp>
      <p:sp>
        <p:nvSpPr>
          <p:cNvPr id="3" name="TextBox 2"/>
          <p:cNvSpPr txBox="1"/>
          <p:nvPr/>
        </p:nvSpPr>
        <p:spPr>
          <a:xfrm>
            <a:off x="457200" y="914400"/>
            <a:ext cx="8229600" cy="457200"/>
          </a:xfrm>
          <a:prstGeom prst="rect">
            <a:avLst/>
          </a:prstGeom>
          <a:noFill/>
        </p:spPr>
        <p:txBody>
          <a:bodyPr wrap="none">
            <a:spAutoFit/>
          </a:bodyPr>
          <a:lstStyle/>
          <a:p>
            <a:pPr>
              <a:defRPr sz="1300">
                <a:solidFill>
                  <a:srgbClr val="F0F0F0"/>
                </a:solidFill>
              </a:defRPr>
            </a:pPr>
            <a:r>
              <a:t>每个舵机都有一个'中立角度'（Neutral），这是机器狗站立时的标准姿态（90度）。角度偏移的物理意义如下：</a:t>
            </a:r>
          </a:p>
        </p:txBody>
      </p:sp>
      <p:sp>
        <p:nvSpPr>
          <p:cNvPr id="4" name="TextBox 3"/>
          <p:cNvSpPr txBox="1"/>
          <p:nvPr/>
        </p:nvSpPr>
        <p:spPr>
          <a:xfrm>
            <a:off x="457200" y="1371600"/>
            <a:ext cx="5029200" cy="1828800"/>
          </a:xfrm>
          <a:prstGeom prst="rect">
            <a:avLst/>
          </a:prstGeom>
          <a:noFill/>
        </p:spPr>
        <p:txBody>
          <a:bodyPr wrap="square">
            <a:spAutoFit/>
          </a:bodyPr>
          <a:lstStyle/>
          <a:p>
            <a:pPr algn="l">
              <a:defRPr sz="1200">
                <a:solidFill>
                  <a:srgbClr val="F0F0F0"/>
                </a:solidFill>
                <a:latin typeface="Arial"/>
              </a:defRPr>
            </a:pPr>
            <a:r>
              <a:t>• 中立角度定义：默认90度，此时机器狗四肢伸展，保持直立平衡姿态</a:t>
            </a:r>
          </a:p>
          <a:p>
            <a:pPr algn="l">
              <a:defRPr sz="1200">
                <a:solidFill>
                  <a:srgbClr val="F0F0F0"/>
                </a:solidFill>
                <a:latin typeface="Arial"/>
              </a:defRPr>
            </a:pPr>
            <a:r>
              <a:t>• 前左(FL)和后右(BR)对角线对称：当前倾时FL减小、BR增大，实现向前倾斜</a:t>
            </a:r>
          </a:p>
          <a:p>
            <a:pPr algn="l">
              <a:defRPr sz="1200">
                <a:solidFill>
                  <a:srgbClr val="F0F0F0"/>
                </a:solidFill>
                <a:latin typeface="Arial"/>
              </a:defRPr>
            </a:pPr>
            <a:r>
              <a:t>• 前右(FR)和后左(BL)对角线对称：当前倾时FR增大、BL减小，与FL/BR配合</a:t>
            </a:r>
          </a:p>
          <a:p>
            <a:pPr algn="l">
              <a:defRPr sz="1200">
                <a:solidFill>
                  <a:srgbClr val="F0F0F0"/>
                </a:solidFill>
                <a:latin typeface="Arial"/>
              </a:defRPr>
            </a:pPr>
            <a:r>
              <a:t>• 对角线同步策略：通过同时控制对角线上的两个舵机，实现前进、后退、转弯等步态</a:t>
            </a:r>
          </a:p>
          <a:p>
            <a:pPr algn="l">
              <a:defRPr sz="1200">
                <a:solidFill>
                  <a:srgbClr val="F0F0F0"/>
                </a:solidFill>
                <a:latin typeface="Arial"/>
              </a:defRPr>
            </a:pPr>
            <a:r>
              <a:t>• 角度范围：0-180度，对应SG92R舵机的完整行程</a:t>
            </a:r>
          </a:p>
        </p:txBody>
      </p:sp>
      <p:sp>
        <p:nvSpPr>
          <p:cNvPr id="5" name="TextBox 4"/>
          <p:cNvSpPr txBox="1"/>
          <p:nvPr/>
        </p:nvSpPr>
        <p:spPr>
          <a:xfrm>
            <a:off x="457200" y="3017520"/>
            <a:ext cx="3657600" cy="365760"/>
          </a:xfrm>
          <a:prstGeom prst="rect">
            <a:avLst/>
          </a:prstGeom>
          <a:noFill/>
        </p:spPr>
        <p:txBody>
          <a:bodyPr wrap="none">
            <a:spAutoFit/>
          </a:bodyPr>
          <a:lstStyle/>
          <a:p>
            <a:pPr>
              <a:defRPr sz="1600" b="1">
                <a:solidFill>
                  <a:srgbClr val="1C7293"/>
                </a:solidFill>
              </a:defRPr>
            </a:pPr>
            <a:r>
              <a:rPr dirty="0" err="1"/>
              <a:t>中立角度配置代码</a:t>
            </a:r>
            <a:endParaRPr dirty="0"/>
          </a:p>
        </p:txBody>
      </p:sp>
      <p:sp>
        <p:nvSpPr>
          <p:cNvPr id="6" name="TextBox 5"/>
          <p:cNvSpPr txBox="1"/>
          <p:nvPr/>
        </p:nvSpPr>
        <p:spPr>
          <a:xfrm>
            <a:off x="457200" y="3404745"/>
            <a:ext cx="5029200" cy="1280160"/>
          </a:xfrm>
          <a:prstGeom prst="rect">
            <a:avLst/>
          </a:prstGeom>
          <a:noFill/>
        </p:spPr>
        <p:txBody>
          <a:bodyPr wrap="square">
            <a:spAutoFit/>
          </a:bodyPr>
          <a:lstStyle/>
          <a:p>
            <a:pPr>
              <a:defRPr sz="1000">
                <a:solidFill>
                  <a:srgbClr val="F0F0F0"/>
                </a:solidFill>
                <a:latin typeface="Consolas"/>
              </a:defRPr>
            </a:pPr>
            <a:r>
              <a:rPr dirty="0"/>
              <a:t>// 舵机中立角度配置（默认90度）</a:t>
            </a:r>
            <a:br>
              <a:rPr dirty="0"/>
            </a:br>
            <a:r>
              <a:rPr dirty="0"/>
              <a:t>static uint16_t </a:t>
            </a:r>
            <a:r>
              <a:rPr dirty="0" err="1"/>
              <a:t>fl_angle_neutral</a:t>
            </a:r>
            <a:r>
              <a:rPr dirty="0"/>
              <a:t> = CONFIG_FL_ANGLE_NEUTRAL;  // </a:t>
            </a:r>
            <a:r>
              <a:rPr dirty="0" err="1"/>
              <a:t>前左中立角度</a:t>
            </a:r>
            <a:br>
              <a:rPr dirty="0"/>
            </a:br>
            <a:r>
              <a:rPr dirty="0"/>
              <a:t>static uint16_t </a:t>
            </a:r>
            <a:r>
              <a:rPr dirty="0" err="1"/>
              <a:t>fr_angle_neutral</a:t>
            </a:r>
            <a:r>
              <a:rPr dirty="0"/>
              <a:t> = CONFIG_FR_ANGLE_NEUTRAL;  // </a:t>
            </a:r>
            <a:r>
              <a:rPr dirty="0" err="1"/>
              <a:t>前右中立角度</a:t>
            </a:r>
            <a:br>
              <a:rPr dirty="0"/>
            </a:br>
            <a:r>
              <a:rPr dirty="0"/>
              <a:t>static uint16_t </a:t>
            </a:r>
            <a:r>
              <a:rPr dirty="0" err="1"/>
              <a:t>bl_angle_neutral</a:t>
            </a:r>
            <a:r>
              <a:rPr dirty="0"/>
              <a:t> = CONFIG_BL_ANGLE_NEUTRAL;  // </a:t>
            </a:r>
            <a:r>
              <a:rPr dirty="0" err="1"/>
              <a:t>后左中立角度</a:t>
            </a:r>
            <a:br>
              <a:rPr dirty="0"/>
            </a:br>
            <a:r>
              <a:rPr dirty="0"/>
              <a:t>static uint16_t </a:t>
            </a:r>
            <a:r>
              <a:rPr dirty="0" err="1"/>
              <a:t>br_angle_neutral</a:t>
            </a:r>
            <a:r>
              <a:rPr dirty="0"/>
              <a:t> = CONFIG_BR_ANGLE_NEUTRAL;  // </a:t>
            </a:r>
            <a:r>
              <a:rPr dirty="0" err="1"/>
              <a:t>后右中立角度</a:t>
            </a:r>
            <a:endParaRPr dirty="0"/>
          </a:p>
        </p:txBody>
      </p:sp>
      <p:pic>
        <p:nvPicPr>
          <p:cNvPr id="8" name="图片 7">
            <a:extLst>
              <a:ext uri="{FF2B5EF4-FFF2-40B4-BE49-F238E27FC236}">
                <a16:creationId xmlns:a16="http://schemas.microsoft.com/office/drawing/2014/main" id="{DEF7B77C-2D32-B100-721C-3EFEE36A13A3}"/>
              </a:ext>
            </a:extLst>
          </p:cNvPr>
          <p:cNvPicPr>
            <a:picLocks noChangeAspect="1"/>
          </p:cNvPicPr>
          <p:nvPr/>
        </p:nvPicPr>
        <p:blipFill>
          <a:blip r:embed="rId2"/>
          <a:stretch>
            <a:fillRect/>
          </a:stretch>
        </p:blipFill>
        <p:spPr>
          <a:xfrm>
            <a:off x="5414298" y="1393066"/>
            <a:ext cx="3657600" cy="19566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通信协议与指令格式</a:t>
            </a:r>
          </a:p>
        </p:txBody>
      </p:sp>
      <p:sp>
        <p:nvSpPr>
          <p:cNvPr id="3" name="TextBox 2"/>
          <p:cNvSpPr txBox="1"/>
          <p:nvPr/>
        </p:nvSpPr>
        <p:spPr>
          <a:xfrm>
            <a:off x="457200" y="914400"/>
            <a:ext cx="8229600" cy="365760"/>
          </a:xfrm>
          <a:prstGeom prst="rect">
            <a:avLst/>
          </a:prstGeom>
          <a:noFill/>
        </p:spPr>
        <p:txBody>
          <a:bodyPr wrap="none">
            <a:spAutoFit/>
          </a:bodyPr>
          <a:lstStyle/>
          <a:p>
            <a:pPr>
              <a:defRPr sz="1400">
                <a:solidFill>
                  <a:srgbClr val="F0F0F0"/>
                </a:solidFill>
              </a:defRPr>
            </a:pPr>
            <a:r>
              <a:t>采用HTTP协议作为主要通信方式，选择理由如下：</a:t>
            </a:r>
          </a:p>
        </p:txBody>
      </p:sp>
      <p:sp>
        <p:nvSpPr>
          <p:cNvPr id="4" name="TextBox 3"/>
          <p:cNvSpPr txBox="1"/>
          <p:nvPr/>
        </p:nvSpPr>
        <p:spPr>
          <a:xfrm>
            <a:off x="457200" y="1280160"/>
            <a:ext cx="4114800" cy="1645920"/>
          </a:xfrm>
          <a:prstGeom prst="rect">
            <a:avLst/>
          </a:prstGeom>
          <a:noFill/>
        </p:spPr>
        <p:txBody>
          <a:bodyPr wrap="square">
            <a:spAutoFit/>
          </a:bodyPr>
          <a:lstStyle/>
          <a:p>
            <a:pPr algn="l">
              <a:defRPr sz="1200">
                <a:solidFill>
                  <a:srgbClr val="F0F0F0"/>
                </a:solidFill>
                <a:latin typeface="Arial"/>
              </a:defRPr>
            </a:pPr>
            <a:r>
              <a:t>• 易于调试：可直接用浏览器或curl命令测试，无需专用调试工具</a:t>
            </a:r>
          </a:p>
          <a:p>
            <a:pPr algn="l">
              <a:defRPr sz="1200">
                <a:solidFill>
                  <a:srgbClr val="F0F0F0"/>
                </a:solidFill>
                <a:latin typeface="Arial"/>
              </a:defRPr>
            </a:pPr>
            <a:r>
              <a:t>• 格式统一：JSON格式便于解析，支持多种编程语言</a:t>
            </a:r>
          </a:p>
          <a:p>
            <a:pPr algn="l">
              <a:defRPr sz="1200">
                <a:solidFill>
                  <a:srgbClr val="F0F0F0"/>
                </a:solidFill>
                <a:latin typeface="Arial"/>
              </a:defRPr>
            </a:pPr>
            <a:r>
              <a:t>• 实时反馈：支持角度查询返回当前状态，实现闭环控制</a:t>
            </a:r>
          </a:p>
          <a:p>
            <a:pPr algn="l">
              <a:defRPr sz="1200">
                <a:solidFill>
                  <a:srgbClr val="F0F0F0"/>
                </a:solidFill>
                <a:latin typeface="Arial"/>
              </a:defRPr>
            </a:pPr>
            <a:r>
              <a:t>• 跨平台：任何支持TCP/IP协议的设备都可以控制机器人</a:t>
            </a:r>
          </a:p>
          <a:p>
            <a:pPr algn="l">
              <a:defRPr sz="1200">
                <a:solidFill>
                  <a:srgbClr val="F0F0F0"/>
                </a:solidFill>
                <a:latin typeface="Arial"/>
              </a:defRPr>
            </a:pPr>
            <a:r>
              <a:t>• 防火墙友好：HTTP端口80/443通常不会被防火墙拦截</a:t>
            </a:r>
          </a:p>
        </p:txBody>
      </p:sp>
      <p:sp>
        <p:nvSpPr>
          <p:cNvPr id="5" name="TextBox 4"/>
          <p:cNvSpPr txBox="1"/>
          <p:nvPr/>
        </p:nvSpPr>
        <p:spPr>
          <a:xfrm>
            <a:off x="457200" y="3017520"/>
            <a:ext cx="3657600" cy="365760"/>
          </a:xfrm>
          <a:prstGeom prst="rect">
            <a:avLst/>
          </a:prstGeom>
          <a:noFill/>
        </p:spPr>
        <p:txBody>
          <a:bodyPr wrap="none">
            <a:spAutoFit/>
          </a:bodyPr>
          <a:lstStyle/>
          <a:p>
            <a:pPr>
              <a:defRPr sz="1600" b="1">
                <a:solidFill>
                  <a:srgbClr val="1C7293"/>
                </a:solidFill>
              </a:defRPr>
            </a:pPr>
            <a:r>
              <a:t>三种控制指令格式</a:t>
            </a:r>
          </a:p>
        </p:txBody>
      </p:sp>
      <p:sp>
        <p:nvSpPr>
          <p:cNvPr id="6" name="Rounded Rectangle 5"/>
          <p:cNvSpPr/>
          <p:nvPr/>
        </p:nvSpPr>
        <p:spPr>
          <a:xfrm>
            <a:off x="457200" y="3429000"/>
            <a:ext cx="2651760" cy="777240"/>
          </a:xfrm>
          <a:prstGeom prst="roundRect">
            <a:avLst/>
          </a:prstGeom>
          <a:solidFill>
            <a:srgbClr val="1E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474720"/>
            <a:ext cx="2468880" cy="274320"/>
          </a:xfrm>
          <a:prstGeom prst="rect">
            <a:avLst/>
          </a:prstGeom>
          <a:noFill/>
        </p:spPr>
        <p:txBody>
          <a:bodyPr wrap="none">
            <a:spAutoFit/>
          </a:bodyPr>
          <a:lstStyle/>
          <a:p>
            <a:pPr>
              <a:defRPr sz="900">
                <a:solidFill>
                  <a:srgbClr val="1C7293"/>
                </a:solidFill>
                <a:latin typeface="Consolas"/>
              </a:defRPr>
            </a:pPr>
            <a:r>
              <a:t>运动指令: {"move": "F"}</a:t>
            </a:r>
          </a:p>
        </p:txBody>
      </p:sp>
      <p:sp>
        <p:nvSpPr>
          <p:cNvPr id="8" name="TextBox 7"/>
          <p:cNvSpPr txBox="1"/>
          <p:nvPr/>
        </p:nvSpPr>
        <p:spPr>
          <a:xfrm>
            <a:off x="548640" y="3749039"/>
            <a:ext cx="2468880" cy="365760"/>
          </a:xfrm>
          <a:prstGeom prst="rect">
            <a:avLst/>
          </a:prstGeom>
          <a:noFill/>
        </p:spPr>
        <p:txBody>
          <a:bodyPr wrap="none">
            <a:spAutoFit/>
          </a:bodyPr>
          <a:lstStyle/>
          <a:p>
            <a:pPr>
              <a:defRPr sz="900">
                <a:solidFill>
                  <a:srgbClr val="F0F0F0"/>
                </a:solidFill>
              </a:defRPr>
            </a:pPr>
            <a:r>
              <a:t>F前进/B后退/L左转/R右转</a:t>
            </a:r>
          </a:p>
        </p:txBody>
      </p:sp>
      <p:sp>
        <p:nvSpPr>
          <p:cNvPr id="9" name="Rounded Rectangle 8"/>
          <p:cNvSpPr/>
          <p:nvPr/>
        </p:nvSpPr>
        <p:spPr>
          <a:xfrm>
            <a:off x="3291840" y="3429000"/>
            <a:ext cx="2651760" cy="777240"/>
          </a:xfrm>
          <a:prstGeom prst="roundRect">
            <a:avLst/>
          </a:prstGeom>
          <a:solidFill>
            <a:srgbClr val="1E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83280" y="3474720"/>
            <a:ext cx="2468880" cy="274320"/>
          </a:xfrm>
          <a:prstGeom prst="rect">
            <a:avLst/>
          </a:prstGeom>
          <a:noFill/>
        </p:spPr>
        <p:txBody>
          <a:bodyPr wrap="none">
            <a:spAutoFit/>
          </a:bodyPr>
          <a:lstStyle/>
          <a:p>
            <a:pPr>
              <a:defRPr sz="900">
                <a:solidFill>
                  <a:srgbClr val="1C7293"/>
                </a:solidFill>
                <a:latin typeface="Consolas"/>
              </a:defRPr>
            </a:pPr>
            <a:r>
              <a:t>姿态动作: {"action": "7"}</a:t>
            </a:r>
          </a:p>
        </p:txBody>
      </p:sp>
      <p:sp>
        <p:nvSpPr>
          <p:cNvPr id="11" name="TextBox 10"/>
          <p:cNvSpPr txBox="1"/>
          <p:nvPr/>
        </p:nvSpPr>
        <p:spPr>
          <a:xfrm>
            <a:off x="3383280" y="3749039"/>
            <a:ext cx="2468880" cy="365760"/>
          </a:xfrm>
          <a:prstGeom prst="rect">
            <a:avLst/>
          </a:prstGeom>
          <a:noFill/>
        </p:spPr>
        <p:txBody>
          <a:bodyPr wrap="none">
            <a:spAutoFit/>
          </a:bodyPr>
          <a:lstStyle/>
          <a:p>
            <a:pPr>
              <a:defRPr sz="900">
                <a:solidFill>
                  <a:srgbClr val="F0F0F0"/>
                </a:solidFill>
              </a:defRPr>
            </a:pPr>
            <a:r>
              <a:t>7=鞠躬, 0=站立, 1=坐下等</a:t>
            </a:r>
          </a:p>
        </p:txBody>
      </p:sp>
      <p:sp>
        <p:nvSpPr>
          <p:cNvPr id="12" name="Rounded Rectangle 11"/>
          <p:cNvSpPr/>
          <p:nvPr/>
        </p:nvSpPr>
        <p:spPr>
          <a:xfrm>
            <a:off x="6126480" y="3429000"/>
            <a:ext cx="2651760" cy="777240"/>
          </a:xfrm>
          <a:prstGeom prst="roundRect">
            <a:avLst/>
          </a:prstGeom>
          <a:solidFill>
            <a:srgbClr val="1E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3474720"/>
            <a:ext cx="2468880" cy="274320"/>
          </a:xfrm>
          <a:prstGeom prst="rect">
            <a:avLst/>
          </a:prstGeom>
          <a:noFill/>
        </p:spPr>
        <p:txBody>
          <a:bodyPr wrap="none">
            <a:spAutoFit/>
          </a:bodyPr>
          <a:lstStyle/>
          <a:p>
            <a:pPr>
              <a:defRPr sz="900">
                <a:solidFill>
                  <a:srgbClr val="1C7293"/>
                </a:solidFill>
                <a:latin typeface="Consolas"/>
              </a:defRPr>
            </a:pPr>
            <a:r>
              <a:t>实时角度: {"fl":90,"fr":90,"bl":90,"br":90}</a:t>
            </a:r>
          </a:p>
        </p:txBody>
      </p:sp>
      <p:sp>
        <p:nvSpPr>
          <p:cNvPr id="14" name="TextBox 13"/>
          <p:cNvSpPr txBox="1"/>
          <p:nvPr/>
        </p:nvSpPr>
        <p:spPr>
          <a:xfrm>
            <a:off x="6217920" y="3749039"/>
            <a:ext cx="2468880" cy="365760"/>
          </a:xfrm>
          <a:prstGeom prst="rect">
            <a:avLst/>
          </a:prstGeom>
          <a:noFill/>
        </p:spPr>
        <p:txBody>
          <a:bodyPr wrap="none">
            <a:spAutoFit/>
          </a:bodyPr>
          <a:lstStyle/>
          <a:p>
            <a:pPr>
              <a:defRPr sz="900">
                <a:solidFill>
                  <a:srgbClr val="F0F0F0"/>
                </a:solidFill>
              </a:defRPr>
            </a:pPr>
            <a:r>
              <a:t>直接设置4个舵机角度</a:t>
            </a:r>
          </a:p>
        </p:txBody>
      </p:sp>
      <p:pic>
        <p:nvPicPr>
          <p:cNvPr id="16" name="图片 15">
            <a:extLst>
              <a:ext uri="{FF2B5EF4-FFF2-40B4-BE49-F238E27FC236}">
                <a16:creationId xmlns:a16="http://schemas.microsoft.com/office/drawing/2014/main" id="{49878544-1D67-1504-B34C-B7514D9D2784}"/>
              </a:ext>
            </a:extLst>
          </p:cNvPr>
          <p:cNvPicPr>
            <a:picLocks noChangeAspect="1"/>
          </p:cNvPicPr>
          <p:nvPr/>
        </p:nvPicPr>
        <p:blipFill>
          <a:blip r:embed="rId2"/>
          <a:stretch>
            <a:fillRect/>
          </a:stretch>
        </p:blipFill>
        <p:spPr>
          <a:xfrm>
            <a:off x="4765919" y="656823"/>
            <a:ext cx="4241136" cy="23307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28600"/>
            <a:ext cx="8229600" cy="548640"/>
          </a:xfrm>
          <a:prstGeom prst="rect">
            <a:avLst/>
          </a:prstGeom>
          <a:noFill/>
        </p:spPr>
        <p:txBody>
          <a:bodyPr wrap="square">
            <a:spAutoFit/>
          </a:bodyPr>
          <a:lstStyle/>
          <a:p>
            <a:pPr algn="l">
              <a:defRPr sz="3600" b="1">
                <a:solidFill>
                  <a:srgbClr val="FFFFFF"/>
                </a:solidFill>
                <a:latin typeface="Arial"/>
              </a:defRPr>
            </a:pPr>
            <a:r>
              <a:t>HTTP服务器路由</a:t>
            </a:r>
          </a:p>
        </p:txBody>
      </p:sp>
      <p:sp>
        <p:nvSpPr>
          <p:cNvPr id="3" name="TextBox 2"/>
          <p:cNvSpPr txBox="1"/>
          <p:nvPr/>
        </p:nvSpPr>
        <p:spPr>
          <a:xfrm>
            <a:off x="457200" y="868681"/>
            <a:ext cx="8229600" cy="365760"/>
          </a:xfrm>
          <a:prstGeom prst="rect">
            <a:avLst/>
          </a:prstGeom>
          <a:noFill/>
        </p:spPr>
        <p:txBody>
          <a:bodyPr wrap="none">
            <a:spAutoFit/>
          </a:bodyPr>
          <a:lstStyle/>
          <a:p>
            <a:pPr>
              <a:defRPr sz="1300">
                <a:solidFill>
                  <a:srgbClr val="F0F0F0"/>
                </a:solidFill>
              </a:defRPr>
            </a:pPr>
            <a:r>
              <a:t>ESP32-C3内置的HTTP服务器提供以下API端点，支持完整的机器人控制功能：</a:t>
            </a:r>
          </a:p>
        </p:txBody>
      </p:sp>
      <p:graphicFrame>
        <p:nvGraphicFramePr>
          <p:cNvPr id="4" name="Table 3"/>
          <p:cNvGraphicFramePr>
            <a:graphicFrameLocks noGrp="1"/>
          </p:cNvGraphicFramePr>
          <p:nvPr>
            <p:extLst>
              <p:ext uri="{D42A27DB-BD31-4B8C-83A1-F6EECF244321}">
                <p14:modId xmlns:p14="http://schemas.microsoft.com/office/powerpoint/2010/main" val="4019083513"/>
              </p:ext>
            </p:extLst>
          </p:nvPr>
        </p:nvGraphicFramePr>
        <p:xfrm>
          <a:off x="457200" y="1280160"/>
          <a:ext cx="8229600" cy="2240279"/>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0039">
                <a:tc>
                  <a:txBody>
                    <a:bodyPr/>
                    <a:lstStyle/>
                    <a:p>
                      <a:pPr algn="ctr">
                        <a:defRPr sz="1000" b="1">
                          <a:solidFill>
                            <a:srgbClr val="FFFFFF"/>
                          </a:solidFill>
                        </a:defRPr>
                      </a:pPr>
                      <a:r>
                        <a:rPr dirty="0" err="1">
                          <a:solidFill>
                            <a:schemeClr val="tx1"/>
                          </a:solidFill>
                        </a:rPr>
                        <a:t>端点</a:t>
                      </a:r>
                      <a:endParaRPr dirty="0">
                        <a:solidFill>
                          <a:schemeClr val="tx1"/>
                        </a:solidFill>
                      </a:endParaRPr>
                    </a:p>
                  </a:txBody>
                  <a:tcPr>
                    <a:solidFill>
                      <a:srgbClr val="065A82"/>
                    </a:solidFill>
                  </a:tcPr>
                </a:tc>
                <a:tc>
                  <a:txBody>
                    <a:bodyPr/>
                    <a:lstStyle/>
                    <a:p>
                      <a:pPr algn="ctr">
                        <a:defRPr sz="1000" b="1">
                          <a:solidFill>
                            <a:srgbClr val="FFFFFF"/>
                          </a:solidFill>
                        </a:defRPr>
                      </a:pPr>
                      <a:r>
                        <a:rPr>
                          <a:solidFill>
                            <a:schemeClr val="tx1"/>
                          </a:solidFill>
                        </a:rPr>
                        <a:t>方法</a:t>
                      </a:r>
                    </a:p>
                  </a:txBody>
                  <a:tcPr>
                    <a:solidFill>
                      <a:srgbClr val="065A82"/>
                    </a:solidFill>
                  </a:tcPr>
                </a:tc>
                <a:tc>
                  <a:txBody>
                    <a:bodyPr/>
                    <a:lstStyle/>
                    <a:p>
                      <a:pPr algn="ctr">
                        <a:defRPr sz="1000" b="1">
                          <a:solidFill>
                            <a:srgbClr val="FFFFFF"/>
                          </a:solidFill>
                        </a:defRPr>
                      </a:pPr>
                      <a:r>
                        <a:rPr>
                          <a:solidFill>
                            <a:schemeClr val="tx1"/>
                          </a:solidFill>
                        </a:rPr>
                        <a:t>功能描述</a:t>
                      </a:r>
                    </a:p>
                  </a:txBody>
                  <a:tcPr>
                    <a:solidFill>
                      <a:srgbClr val="065A82"/>
                    </a:solidFill>
                  </a:tcPr>
                </a:tc>
                <a:tc>
                  <a:txBody>
                    <a:bodyPr/>
                    <a:lstStyle/>
                    <a:p>
                      <a:pPr algn="ctr">
                        <a:defRPr sz="1000" b="1">
                          <a:solidFill>
                            <a:srgbClr val="FFFFFF"/>
                          </a:solidFill>
                        </a:defRPr>
                      </a:pPr>
                      <a:r>
                        <a:rPr>
                          <a:solidFill>
                            <a:schemeClr val="tx1"/>
                          </a:solidFill>
                        </a:rPr>
                        <a:t>处理函数</a:t>
                      </a:r>
                    </a:p>
                  </a:txBody>
                  <a:tcPr>
                    <a:solidFill>
                      <a:srgbClr val="065A82"/>
                    </a:solidFill>
                  </a:tcPr>
                </a:tc>
                <a:extLst>
                  <a:ext uri="{0D108BD9-81ED-4DB2-BD59-A6C34878D82A}">
                    <a16:rowId xmlns:a16="http://schemas.microsoft.com/office/drawing/2014/main" val="10000"/>
                  </a:ext>
                </a:extLst>
              </a:tr>
              <a:tr h="320039">
                <a:tc>
                  <a:txBody>
                    <a:bodyPr/>
                    <a:lstStyle/>
                    <a:p>
                      <a:pPr algn="ctr">
                        <a:defRPr sz="1000" b="0">
                          <a:solidFill>
                            <a:srgbClr val="F0F0F0"/>
                          </a:solidFill>
                        </a:defRPr>
                      </a:pPr>
                      <a:r>
                        <a:rPr dirty="0">
                          <a:solidFill>
                            <a:schemeClr val="tx1"/>
                          </a:solidFill>
                        </a:rPr>
                        <a:t>/</a:t>
                      </a:r>
                    </a:p>
                  </a:txBody>
                  <a:tcPr/>
                </a:tc>
                <a:tc>
                  <a:txBody>
                    <a:bodyPr/>
                    <a:lstStyle/>
                    <a:p>
                      <a:pPr algn="ctr">
                        <a:defRPr sz="1000" b="0">
                          <a:solidFill>
                            <a:srgbClr val="F0F0F0"/>
                          </a:solidFill>
                        </a:defRPr>
                      </a:pPr>
                      <a:r>
                        <a:rPr dirty="0">
                          <a:solidFill>
                            <a:schemeClr val="tx1"/>
                          </a:solidFill>
                        </a:rPr>
                        <a:t>GET</a:t>
                      </a:r>
                    </a:p>
                  </a:txBody>
                  <a:tcPr/>
                </a:tc>
                <a:tc>
                  <a:txBody>
                    <a:bodyPr/>
                    <a:lstStyle/>
                    <a:p>
                      <a:pPr algn="ctr">
                        <a:defRPr sz="1000" b="0">
                          <a:solidFill>
                            <a:srgbClr val="F0F0F0"/>
                          </a:solidFill>
                        </a:defRPr>
                      </a:pPr>
                      <a:r>
                        <a:rPr>
                          <a:solidFill>
                            <a:schemeClr val="tx1"/>
                          </a:solidFill>
                        </a:rPr>
                        <a:t>返回Web控制页面，可通过浏览器控制</a:t>
                      </a:r>
                    </a:p>
                  </a:txBody>
                  <a:tcPr/>
                </a:tc>
                <a:tc>
                  <a:txBody>
                    <a:bodyPr/>
                    <a:lstStyle/>
                    <a:p>
                      <a:pPr algn="ctr">
                        <a:defRPr sz="1000" b="0">
                          <a:solidFill>
                            <a:srgbClr val="F0F0F0"/>
                          </a:solidFill>
                        </a:defRPr>
                      </a:pPr>
                      <a:r>
                        <a:rPr>
                          <a:solidFill>
                            <a:schemeClr val="tx1"/>
                          </a:solidFill>
                        </a:rPr>
                        <a:t>static_file_handler</a:t>
                      </a:r>
                    </a:p>
                  </a:txBody>
                  <a:tcPr/>
                </a:tc>
                <a:extLst>
                  <a:ext uri="{0D108BD9-81ED-4DB2-BD59-A6C34878D82A}">
                    <a16:rowId xmlns:a16="http://schemas.microsoft.com/office/drawing/2014/main" val="10001"/>
                  </a:ext>
                </a:extLst>
              </a:tr>
              <a:tr h="320039">
                <a:tc>
                  <a:txBody>
                    <a:bodyPr/>
                    <a:lstStyle/>
                    <a:p>
                      <a:pPr algn="ctr">
                        <a:defRPr sz="1000" b="0">
                          <a:solidFill>
                            <a:srgbClr val="F0F0F0"/>
                          </a:solidFill>
                        </a:defRPr>
                      </a:pPr>
                      <a:r>
                        <a:rPr>
                          <a:solidFill>
                            <a:schemeClr val="tx1"/>
                          </a:solidFill>
                        </a:rPr>
                        <a:t>/control</a:t>
                      </a:r>
                    </a:p>
                  </a:txBody>
                  <a:tcPr/>
                </a:tc>
                <a:tc>
                  <a:txBody>
                    <a:bodyPr/>
                    <a:lstStyle/>
                    <a:p>
                      <a:pPr algn="ctr">
                        <a:defRPr sz="1000" b="0">
                          <a:solidFill>
                            <a:srgbClr val="F0F0F0"/>
                          </a:solidFill>
                        </a:defRPr>
                      </a:pPr>
                      <a:r>
                        <a:rPr>
                          <a:solidFill>
                            <a:schemeClr val="tx1"/>
                          </a:solidFill>
                        </a:rPr>
                        <a:t>POST</a:t>
                      </a:r>
                    </a:p>
                  </a:txBody>
                  <a:tcPr/>
                </a:tc>
                <a:tc>
                  <a:txBody>
                    <a:bodyPr/>
                    <a:lstStyle/>
                    <a:p>
                      <a:pPr algn="ctr">
                        <a:defRPr sz="1000" b="0">
                          <a:solidFill>
                            <a:srgbClr val="F0F0F0"/>
                          </a:solidFill>
                        </a:defRPr>
                      </a:pPr>
                      <a:r>
                        <a:rPr dirty="0" err="1">
                          <a:solidFill>
                            <a:schemeClr val="tx1"/>
                          </a:solidFill>
                        </a:rPr>
                        <a:t>运动</a:t>
                      </a:r>
                      <a:r>
                        <a:rPr dirty="0">
                          <a:solidFill>
                            <a:schemeClr val="tx1"/>
                          </a:solidFill>
                        </a:rPr>
                        <a:t>/</a:t>
                      </a:r>
                      <a:r>
                        <a:rPr dirty="0" err="1">
                          <a:solidFill>
                            <a:schemeClr val="tx1"/>
                          </a:solidFill>
                        </a:rPr>
                        <a:t>姿态指令，支持move</a:t>
                      </a:r>
                      <a:r>
                        <a:rPr dirty="0">
                          <a:solidFill>
                            <a:schemeClr val="tx1"/>
                          </a:solidFill>
                        </a:rPr>
                        <a:t>/action/query</a:t>
                      </a:r>
                    </a:p>
                  </a:txBody>
                  <a:tcPr/>
                </a:tc>
                <a:tc>
                  <a:txBody>
                    <a:bodyPr/>
                    <a:lstStyle/>
                    <a:p>
                      <a:pPr algn="ctr">
                        <a:defRPr sz="1000" b="0">
                          <a:solidFill>
                            <a:srgbClr val="F0F0F0"/>
                          </a:solidFill>
                        </a:defRPr>
                      </a:pPr>
                      <a:r>
                        <a:rPr>
                          <a:solidFill>
                            <a:schemeClr val="tx1"/>
                          </a:solidFill>
                        </a:rPr>
                        <a:t>control_handler_func</a:t>
                      </a:r>
                    </a:p>
                  </a:txBody>
                  <a:tcPr/>
                </a:tc>
                <a:extLst>
                  <a:ext uri="{0D108BD9-81ED-4DB2-BD59-A6C34878D82A}">
                    <a16:rowId xmlns:a16="http://schemas.microsoft.com/office/drawing/2014/main" val="10002"/>
                  </a:ext>
                </a:extLst>
              </a:tr>
              <a:tr h="320039">
                <a:tc>
                  <a:txBody>
                    <a:bodyPr/>
                    <a:lstStyle/>
                    <a:p>
                      <a:pPr algn="ctr">
                        <a:defRPr sz="1000" b="0">
                          <a:solidFill>
                            <a:srgbClr val="F0F0F0"/>
                          </a:solidFill>
                        </a:defRPr>
                      </a:pPr>
                      <a:r>
                        <a:rPr>
                          <a:solidFill>
                            <a:schemeClr val="tx1"/>
                          </a:solidFill>
                        </a:rPr>
                        <a:t>/angles</a:t>
                      </a:r>
                    </a:p>
                  </a:txBody>
                  <a:tcPr/>
                </a:tc>
                <a:tc>
                  <a:txBody>
                    <a:bodyPr/>
                    <a:lstStyle/>
                    <a:p>
                      <a:pPr algn="ctr">
                        <a:defRPr sz="1000" b="0">
                          <a:solidFill>
                            <a:srgbClr val="F0F0F0"/>
                          </a:solidFill>
                        </a:defRPr>
                      </a:pPr>
                      <a:r>
                        <a:rPr>
                          <a:solidFill>
                            <a:schemeClr val="tx1"/>
                          </a:solidFill>
                        </a:rPr>
                        <a:t>POST</a:t>
                      </a:r>
                    </a:p>
                  </a:txBody>
                  <a:tcPr/>
                </a:tc>
                <a:tc>
                  <a:txBody>
                    <a:bodyPr/>
                    <a:lstStyle/>
                    <a:p>
                      <a:pPr algn="ctr">
                        <a:defRPr sz="1000" b="0">
                          <a:solidFill>
                            <a:srgbClr val="F0F0F0"/>
                          </a:solidFill>
                        </a:defRPr>
                      </a:pPr>
                      <a:r>
                        <a:rPr dirty="0" err="1">
                          <a:solidFill>
                            <a:schemeClr val="tx1"/>
                          </a:solidFill>
                        </a:rPr>
                        <a:t>实时角度设置（核心创新</a:t>
                      </a:r>
                      <a:r>
                        <a:rPr dirty="0">
                          <a:solidFill>
                            <a:schemeClr val="tx1"/>
                          </a:solidFill>
                        </a:rPr>
                        <a:t>），直接设置4个舵机</a:t>
                      </a:r>
                    </a:p>
                  </a:txBody>
                  <a:tcPr/>
                </a:tc>
                <a:tc>
                  <a:txBody>
                    <a:bodyPr/>
                    <a:lstStyle/>
                    <a:p>
                      <a:pPr algn="ctr">
                        <a:defRPr sz="1000" b="0">
                          <a:solidFill>
                            <a:srgbClr val="F0F0F0"/>
                          </a:solidFill>
                        </a:defRPr>
                      </a:pPr>
                      <a:r>
                        <a:rPr>
                          <a:solidFill>
                            <a:schemeClr val="tx1"/>
                          </a:solidFill>
                        </a:rPr>
                        <a:t>angles_handler_func</a:t>
                      </a:r>
                    </a:p>
                  </a:txBody>
                  <a:tcPr/>
                </a:tc>
                <a:extLst>
                  <a:ext uri="{0D108BD9-81ED-4DB2-BD59-A6C34878D82A}">
                    <a16:rowId xmlns:a16="http://schemas.microsoft.com/office/drawing/2014/main" val="10003"/>
                  </a:ext>
                </a:extLst>
              </a:tr>
              <a:tr h="320039">
                <a:tc>
                  <a:txBody>
                    <a:bodyPr/>
                    <a:lstStyle/>
                    <a:p>
                      <a:pPr algn="ctr">
                        <a:defRPr sz="1000" b="0">
                          <a:solidFill>
                            <a:srgbClr val="F0F0F0"/>
                          </a:solidFill>
                        </a:defRPr>
                      </a:pPr>
                      <a:r>
                        <a:rPr>
                          <a:solidFill>
                            <a:schemeClr val="tx1"/>
                          </a:solidFill>
                        </a:rPr>
                        <a:t>/query</a:t>
                      </a:r>
                    </a:p>
                  </a:txBody>
                  <a:tcPr/>
                </a:tc>
                <a:tc>
                  <a:txBody>
                    <a:bodyPr/>
                    <a:lstStyle/>
                    <a:p>
                      <a:pPr algn="ctr">
                        <a:defRPr sz="1000" b="0">
                          <a:solidFill>
                            <a:srgbClr val="F0F0F0"/>
                          </a:solidFill>
                        </a:defRPr>
                      </a:pPr>
                      <a:r>
                        <a:rPr>
                          <a:solidFill>
                            <a:schemeClr val="tx1"/>
                          </a:solidFill>
                        </a:rPr>
                        <a:t>POST</a:t>
                      </a:r>
                    </a:p>
                  </a:txBody>
                  <a:tcPr/>
                </a:tc>
                <a:tc>
                  <a:txBody>
                    <a:bodyPr/>
                    <a:lstStyle/>
                    <a:p>
                      <a:pPr algn="ctr">
                        <a:defRPr sz="1000" b="0">
                          <a:solidFill>
                            <a:srgbClr val="F0F0F0"/>
                          </a:solidFill>
                        </a:defRPr>
                      </a:pPr>
                      <a:r>
                        <a:rPr dirty="0">
                          <a:solidFill>
                            <a:schemeClr val="tx1"/>
                          </a:solidFill>
                        </a:rPr>
                        <a:t>实时角度查询，返回当前4个舵机角度</a:t>
                      </a:r>
                    </a:p>
                  </a:txBody>
                  <a:tcPr/>
                </a:tc>
                <a:tc>
                  <a:txBody>
                    <a:bodyPr/>
                    <a:lstStyle/>
                    <a:p>
                      <a:pPr algn="ctr">
                        <a:defRPr sz="1000" b="0">
                          <a:solidFill>
                            <a:srgbClr val="F0F0F0"/>
                          </a:solidFill>
                        </a:defRPr>
                      </a:pPr>
                      <a:r>
                        <a:rPr>
                          <a:solidFill>
                            <a:schemeClr val="tx1"/>
                          </a:solidFill>
                        </a:rPr>
                        <a:t>control_handler_func</a:t>
                      </a:r>
                    </a:p>
                  </a:txBody>
                  <a:tcPr/>
                </a:tc>
                <a:extLst>
                  <a:ext uri="{0D108BD9-81ED-4DB2-BD59-A6C34878D82A}">
                    <a16:rowId xmlns:a16="http://schemas.microsoft.com/office/drawing/2014/main" val="10004"/>
                  </a:ext>
                </a:extLst>
              </a:tr>
              <a:tr h="320039">
                <a:tc>
                  <a:txBody>
                    <a:bodyPr/>
                    <a:lstStyle/>
                    <a:p>
                      <a:pPr algn="ctr">
                        <a:defRPr sz="1000" b="0">
                          <a:solidFill>
                            <a:srgbClr val="F0F0F0"/>
                          </a:solidFill>
                        </a:defRPr>
                      </a:pPr>
                      <a:r>
                        <a:rPr>
                          <a:solidFill>
                            <a:schemeClr val="tx1"/>
                          </a:solidFill>
                        </a:rPr>
                        <a:t>/start_calibration</a:t>
                      </a:r>
                    </a:p>
                  </a:txBody>
                  <a:tcPr/>
                </a:tc>
                <a:tc>
                  <a:txBody>
                    <a:bodyPr/>
                    <a:lstStyle/>
                    <a:p>
                      <a:pPr algn="ctr">
                        <a:defRPr sz="1000" b="0">
                          <a:solidFill>
                            <a:srgbClr val="F0F0F0"/>
                          </a:solidFill>
                        </a:defRPr>
                      </a:pPr>
                      <a:r>
                        <a:rPr>
                          <a:solidFill>
                            <a:schemeClr val="tx1"/>
                          </a:solidFill>
                        </a:rPr>
                        <a:t>GET</a:t>
                      </a:r>
                    </a:p>
                  </a:txBody>
                  <a:tcPr/>
                </a:tc>
                <a:tc>
                  <a:txBody>
                    <a:bodyPr/>
                    <a:lstStyle/>
                    <a:p>
                      <a:pPr algn="ctr">
                        <a:defRPr sz="1000" b="0">
                          <a:solidFill>
                            <a:srgbClr val="F0F0F0"/>
                          </a:solidFill>
                        </a:defRPr>
                      </a:pPr>
                      <a:r>
                        <a:rPr dirty="0" err="1">
                          <a:solidFill>
                            <a:schemeClr val="tx1"/>
                          </a:solidFill>
                        </a:rPr>
                        <a:t>进入校准模式，用于初始设置中立角度</a:t>
                      </a:r>
                      <a:endParaRPr dirty="0">
                        <a:solidFill>
                          <a:schemeClr val="tx1"/>
                        </a:solidFill>
                      </a:endParaRPr>
                    </a:p>
                  </a:txBody>
                  <a:tcPr/>
                </a:tc>
                <a:tc>
                  <a:txBody>
                    <a:bodyPr/>
                    <a:lstStyle/>
                    <a:p>
                      <a:pPr algn="ctr">
                        <a:defRPr sz="1000" b="0">
                          <a:solidFill>
                            <a:srgbClr val="F0F0F0"/>
                          </a:solidFill>
                        </a:defRPr>
                      </a:pPr>
                      <a:r>
                        <a:rPr dirty="0" err="1">
                          <a:solidFill>
                            <a:schemeClr val="tx1"/>
                          </a:solidFill>
                        </a:rPr>
                        <a:t>start_calibration_handler</a:t>
                      </a:r>
                      <a:endParaRPr dirty="0">
                        <a:solidFill>
                          <a:schemeClr val="tx1"/>
                        </a:solidFill>
                      </a:endParaRPr>
                    </a:p>
                  </a:txBody>
                  <a:tcPr/>
                </a:tc>
                <a:extLst>
                  <a:ext uri="{0D108BD9-81ED-4DB2-BD59-A6C34878D82A}">
                    <a16:rowId xmlns:a16="http://schemas.microsoft.com/office/drawing/2014/main" val="10005"/>
                  </a:ext>
                </a:extLst>
              </a:tr>
              <a:tr h="320045">
                <a:tc>
                  <a:txBody>
                    <a:bodyPr/>
                    <a:lstStyle/>
                    <a:p>
                      <a:pPr algn="ctr">
                        <a:defRPr sz="1000" b="0">
                          <a:solidFill>
                            <a:srgbClr val="F0F0F0"/>
                          </a:solidFill>
                        </a:defRPr>
                      </a:pPr>
                      <a:r>
                        <a:rPr>
                          <a:solidFill>
                            <a:schemeClr val="tx1"/>
                          </a:solidFill>
                        </a:rPr>
                        <a:t>/adjust</a:t>
                      </a:r>
                    </a:p>
                  </a:txBody>
                  <a:tcPr/>
                </a:tc>
                <a:tc>
                  <a:txBody>
                    <a:bodyPr/>
                    <a:lstStyle/>
                    <a:p>
                      <a:pPr algn="ctr">
                        <a:defRPr sz="1000" b="0">
                          <a:solidFill>
                            <a:srgbClr val="F0F0F0"/>
                          </a:solidFill>
                        </a:defRPr>
                      </a:pPr>
                      <a:r>
                        <a:rPr>
                          <a:solidFill>
                            <a:schemeClr val="tx1"/>
                          </a:solidFill>
                        </a:rPr>
                        <a:t>POST</a:t>
                      </a:r>
                    </a:p>
                  </a:txBody>
                  <a:tcPr/>
                </a:tc>
                <a:tc>
                  <a:txBody>
                    <a:bodyPr/>
                    <a:lstStyle/>
                    <a:p>
                      <a:pPr algn="ctr">
                        <a:defRPr sz="1000" b="0">
                          <a:solidFill>
                            <a:srgbClr val="F0F0F0"/>
                          </a:solidFill>
                        </a:defRPr>
                      </a:pPr>
                      <a:r>
                        <a:rPr>
                          <a:solidFill>
                            <a:schemeClr val="tx1"/>
                          </a:solidFill>
                        </a:rPr>
                        <a:t>微调单个舵机角度，用于精细校准</a:t>
                      </a:r>
                    </a:p>
                  </a:txBody>
                  <a:tcPr/>
                </a:tc>
                <a:tc>
                  <a:txBody>
                    <a:bodyPr/>
                    <a:lstStyle/>
                    <a:p>
                      <a:pPr algn="ctr">
                        <a:defRPr sz="1000" b="0">
                          <a:solidFill>
                            <a:srgbClr val="F0F0F0"/>
                          </a:solidFill>
                        </a:defRPr>
                      </a:pPr>
                      <a:r>
                        <a:rPr dirty="0" err="1">
                          <a:solidFill>
                            <a:schemeClr val="tx1"/>
                          </a:solidFill>
                        </a:rPr>
                        <a:t>adjust_handler_func</a:t>
                      </a:r>
                      <a:endParaRPr dirty="0">
                        <a:solidFill>
                          <a:schemeClr val="tx1"/>
                        </a:solidFill>
                      </a:endParaRPr>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427149" y="3558432"/>
            <a:ext cx="3657600" cy="365760"/>
          </a:xfrm>
          <a:prstGeom prst="rect">
            <a:avLst/>
          </a:prstGeom>
          <a:noFill/>
        </p:spPr>
        <p:txBody>
          <a:bodyPr wrap="none">
            <a:spAutoFit/>
          </a:bodyPr>
          <a:lstStyle/>
          <a:p>
            <a:pPr>
              <a:defRPr sz="1600" b="1">
                <a:solidFill>
                  <a:srgbClr val="1C7293"/>
                </a:solidFill>
              </a:defRPr>
            </a:pPr>
            <a:r>
              <a:rPr dirty="0" err="1"/>
              <a:t>核心端点</a:t>
            </a:r>
            <a:r>
              <a:rPr dirty="0"/>
              <a:t> /angles </a:t>
            </a:r>
            <a:r>
              <a:rPr dirty="0" err="1"/>
              <a:t>实现原理</a:t>
            </a:r>
            <a:endParaRPr dirty="0"/>
          </a:p>
        </p:txBody>
      </p:sp>
      <p:sp>
        <p:nvSpPr>
          <p:cNvPr id="6" name="TextBox 5"/>
          <p:cNvSpPr txBox="1"/>
          <p:nvPr/>
        </p:nvSpPr>
        <p:spPr>
          <a:xfrm>
            <a:off x="427149" y="3962185"/>
            <a:ext cx="4572000" cy="1097280"/>
          </a:xfrm>
          <a:prstGeom prst="rect">
            <a:avLst/>
          </a:prstGeom>
          <a:noFill/>
        </p:spPr>
        <p:txBody>
          <a:bodyPr wrap="square">
            <a:spAutoFit/>
          </a:bodyPr>
          <a:lstStyle/>
          <a:p>
            <a:pPr algn="l">
              <a:defRPr sz="1100">
                <a:solidFill>
                  <a:srgbClr val="F0F0F0"/>
                </a:solidFill>
                <a:latin typeface="Arial"/>
              </a:defRPr>
            </a:pPr>
            <a:r>
              <a:rPr dirty="0"/>
              <a:t>• 1. </a:t>
            </a:r>
            <a:r>
              <a:rPr dirty="0" err="1"/>
              <a:t>接收JSON</a:t>
            </a:r>
            <a:r>
              <a:rPr dirty="0"/>
              <a:t>: {"fl":90,"fr":90,"bl":90,"br":90}</a:t>
            </a:r>
          </a:p>
          <a:p>
            <a:pPr algn="l">
              <a:defRPr sz="1100">
                <a:solidFill>
                  <a:srgbClr val="F0F0F0"/>
                </a:solidFill>
                <a:latin typeface="Arial"/>
              </a:defRPr>
            </a:pPr>
            <a:r>
              <a:rPr dirty="0"/>
              <a:t>• 2. 解析4个舵机目标角度值</a:t>
            </a:r>
          </a:p>
          <a:p>
            <a:pPr algn="l">
              <a:defRPr sz="1100">
                <a:solidFill>
                  <a:srgbClr val="F0F0F0"/>
                </a:solidFill>
                <a:latin typeface="Arial"/>
              </a:defRPr>
            </a:pPr>
            <a:r>
              <a:rPr dirty="0"/>
              <a:t>• 3. </a:t>
            </a:r>
            <a:r>
              <a:rPr dirty="0" err="1"/>
              <a:t>调用servo_dog_ctrl_set_angles</a:t>
            </a:r>
            <a:r>
              <a:rPr dirty="0"/>
              <a:t>()</a:t>
            </a:r>
            <a:r>
              <a:rPr dirty="0" err="1"/>
              <a:t>设置角度</a:t>
            </a:r>
            <a:endParaRPr dirty="0"/>
          </a:p>
          <a:p>
            <a:pPr algn="l">
              <a:defRPr sz="1100">
                <a:solidFill>
                  <a:srgbClr val="F0F0F0"/>
                </a:solidFill>
                <a:latin typeface="Arial"/>
              </a:defRPr>
            </a:pPr>
            <a:r>
              <a:rPr dirty="0"/>
              <a:t>• 4. </a:t>
            </a:r>
            <a:r>
              <a:rPr dirty="0" err="1"/>
              <a:t>返回确认</a:t>
            </a:r>
            <a:r>
              <a:rPr dirty="0"/>
              <a:t>: {"code":200,"fl":90,"fr":90,"bl":90,"br":90}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软件分层与角度跟踪</a:t>
            </a:r>
          </a:p>
        </p:txBody>
      </p:sp>
      <p:sp>
        <p:nvSpPr>
          <p:cNvPr id="3" name="TextBox 2"/>
          <p:cNvSpPr txBox="1"/>
          <p:nvPr/>
        </p:nvSpPr>
        <p:spPr>
          <a:xfrm>
            <a:off x="457200" y="914400"/>
            <a:ext cx="8229600" cy="365760"/>
          </a:xfrm>
          <a:prstGeom prst="rect">
            <a:avLst/>
          </a:prstGeom>
          <a:noFill/>
        </p:spPr>
        <p:txBody>
          <a:bodyPr wrap="none">
            <a:spAutoFit/>
          </a:bodyPr>
          <a:lstStyle/>
          <a:p>
            <a:pPr>
              <a:defRPr sz="1300">
                <a:solidFill>
                  <a:srgbClr val="F0F0F0"/>
                </a:solidFill>
              </a:defRPr>
            </a:pPr>
            <a:r>
              <a:t>本项目创新性地实现了实时角度跟踪机制，每个舵机的当前角度都被实时记录：</a:t>
            </a:r>
          </a:p>
        </p:txBody>
      </p:sp>
      <p:sp>
        <p:nvSpPr>
          <p:cNvPr id="4" name="TextBox 3"/>
          <p:cNvSpPr txBox="1"/>
          <p:nvPr/>
        </p:nvSpPr>
        <p:spPr>
          <a:xfrm>
            <a:off x="457200" y="1280160"/>
            <a:ext cx="3657600" cy="365760"/>
          </a:xfrm>
          <a:prstGeom prst="rect">
            <a:avLst/>
          </a:prstGeom>
          <a:noFill/>
        </p:spPr>
        <p:txBody>
          <a:bodyPr wrap="none">
            <a:spAutoFit/>
          </a:bodyPr>
          <a:lstStyle/>
          <a:p>
            <a:pPr>
              <a:defRPr sz="1600" b="1">
                <a:solidFill>
                  <a:srgbClr val="1C7293"/>
                </a:solidFill>
              </a:defRPr>
            </a:pPr>
            <a:r>
              <a:t>软件分层架构</a:t>
            </a:r>
          </a:p>
        </p:txBody>
      </p:sp>
      <p:sp>
        <p:nvSpPr>
          <p:cNvPr id="5" name="TextBox 4"/>
          <p:cNvSpPr txBox="1"/>
          <p:nvPr/>
        </p:nvSpPr>
        <p:spPr>
          <a:xfrm>
            <a:off x="457200" y="1691640"/>
            <a:ext cx="5029200" cy="1097280"/>
          </a:xfrm>
          <a:prstGeom prst="rect">
            <a:avLst/>
          </a:prstGeom>
          <a:noFill/>
        </p:spPr>
        <p:txBody>
          <a:bodyPr wrap="square">
            <a:spAutoFit/>
          </a:bodyPr>
          <a:lstStyle/>
          <a:p>
            <a:pPr algn="l">
              <a:defRPr sz="1100">
                <a:solidFill>
                  <a:srgbClr val="F0F0F0"/>
                </a:solidFill>
                <a:latin typeface="Arial"/>
              </a:defRPr>
            </a:pPr>
            <a:r>
              <a:t>• 应用层: HTTP服务器(esp_httpd)负责任务接收，舵机控制任务(FreeRTOS Task)负责任务执行</a:t>
            </a:r>
          </a:p>
          <a:p>
            <a:pPr algn="l">
              <a:defRPr sz="1100">
                <a:solidFill>
                  <a:srgbClr val="F0F0F0"/>
                </a:solidFill>
                <a:latin typeface="Arial"/>
              </a:defRPr>
            </a:pPr>
            <a:r>
              <a:t>• 控制层: 角度跟踪变量实时记录当前状态，队列机制实现任务调度</a:t>
            </a:r>
          </a:p>
          <a:p>
            <a:pPr algn="l">
              <a:defRPr sz="1100">
                <a:solidFill>
                  <a:srgbClr val="F0F0F0"/>
                </a:solidFill>
                <a:latin typeface="Arial"/>
              </a:defRPr>
            </a:pPr>
            <a:r>
              <a:t>• 驱动层: LEDC PWM驱动控制4个舵机角度，支持0-180度精确控制</a:t>
            </a:r>
          </a:p>
        </p:txBody>
      </p:sp>
      <p:sp>
        <p:nvSpPr>
          <p:cNvPr id="6" name="TextBox 5"/>
          <p:cNvSpPr txBox="1"/>
          <p:nvPr/>
        </p:nvSpPr>
        <p:spPr>
          <a:xfrm>
            <a:off x="457200" y="2834640"/>
            <a:ext cx="3657600" cy="365760"/>
          </a:xfrm>
          <a:prstGeom prst="rect">
            <a:avLst/>
          </a:prstGeom>
          <a:noFill/>
        </p:spPr>
        <p:txBody>
          <a:bodyPr wrap="none">
            <a:spAutoFit/>
          </a:bodyPr>
          <a:lstStyle/>
          <a:p>
            <a:pPr>
              <a:defRPr sz="1600" b="1">
                <a:solidFill>
                  <a:srgbClr val="1C7293"/>
                </a:solidFill>
              </a:defRPr>
            </a:pPr>
            <a:r>
              <a:t>角度跟踪结构体</a:t>
            </a:r>
          </a:p>
        </p:txBody>
      </p:sp>
      <p:sp>
        <p:nvSpPr>
          <p:cNvPr id="7" name="TextBox 6"/>
          <p:cNvSpPr txBox="1"/>
          <p:nvPr/>
        </p:nvSpPr>
        <p:spPr>
          <a:xfrm>
            <a:off x="457200" y="3200400"/>
            <a:ext cx="5029200" cy="1280160"/>
          </a:xfrm>
          <a:prstGeom prst="rect">
            <a:avLst/>
          </a:prstGeom>
          <a:noFill/>
        </p:spPr>
        <p:txBody>
          <a:bodyPr wrap="square">
            <a:spAutoFit/>
          </a:bodyPr>
          <a:lstStyle/>
          <a:p>
            <a:pPr>
              <a:defRPr sz="900">
                <a:solidFill>
                  <a:srgbClr val="F0F0F0"/>
                </a:solidFill>
                <a:latin typeface="Consolas"/>
              </a:defRPr>
            </a:pPr>
            <a:r>
              <a:t>typedef struct {</a:t>
            </a:r>
            <a:br/>
            <a:r>
              <a:t>    QueueHandle_t dog_action_queue;</a:t>
            </a:r>
            <a:br/>
            <a:r>
              <a:t>    uint16_t fl_current_angle;   // 前左当前角度</a:t>
            </a:r>
            <a:br/>
            <a:r>
              <a:t>    uint16_t fr_current_angle;   // 前右当前角度</a:t>
            </a:r>
            <a:br/>
            <a:r>
              <a:t>    uint16_t bl_current_angle;   // 后左当前角度</a:t>
            </a:r>
            <a:br/>
            <a:r>
              <a:t>    uint16_t br_current_angle;   // 后右当前角度</a:t>
            </a:r>
            <a:br/>
            <a:r>
              <a:t>} servor_dog_ctrl_t;</a:t>
            </a:r>
          </a:p>
        </p:txBody>
      </p:sp>
      <p:sp>
        <p:nvSpPr>
          <p:cNvPr id="8" name="TextBox 7"/>
          <p:cNvSpPr txBox="1"/>
          <p:nvPr/>
        </p:nvSpPr>
        <p:spPr>
          <a:xfrm>
            <a:off x="457200" y="4572000"/>
            <a:ext cx="3657600" cy="365760"/>
          </a:xfrm>
          <a:prstGeom prst="rect">
            <a:avLst/>
          </a:prstGeom>
          <a:noFill/>
        </p:spPr>
        <p:txBody>
          <a:bodyPr wrap="none">
            <a:spAutoFit/>
          </a:bodyPr>
          <a:lstStyle/>
          <a:p>
            <a:pPr>
              <a:defRPr sz="1200">
                <a:solidFill>
                  <a:srgbClr val="1C7293"/>
                </a:solidFill>
              </a:defRPr>
            </a:pPr>
            <a:r>
              <a:t>核心API: servo_dog_ctrl_get_angles() / servo_dog_ctrl_set_angles()</a:t>
            </a:r>
          </a:p>
        </p:txBody>
      </p:sp>
      <p:pic>
        <p:nvPicPr>
          <p:cNvPr id="10" name="图片 9">
            <a:extLst>
              <a:ext uri="{FF2B5EF4-FFF2-40B4-BE49-F238E27FC236}">
                <a16:creationId xmlns:a16="http://schemas.microsoft.com/office/drawing/2014/main" id="{A14BD3BE-9C22-DD27-BE1F-261F2E1C319D}"/>
              </a:ext>
            </a:extLst>
          </p:cNvPr>
          <p:cNvPicPr>
            <a:picLocks noChangeAspect="1"/>
          </p:cNvPicPr>
          <p:nvPr/>
        </p:nvPicPr>
        <p:blipFill>
          <a:blip r:embed="rId2"/>
          <a:stretch>
            <a:fillRect/>
          </a:stretch>
        </p:blipFill>
        <p:spPr>
          <a:xfrm>
            <a:off x="5336147" y="1463040"/>
            <a:ext cx="3550920" cy="23885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FreeRTOS任务与Python控制</a:t>
            </a:r>
          </a:p>
        </p:txBody>
      </p:sp>
      <p:sp>
        <p:nvSpPr>
          <p:cNvPr id="3" name="TextBox 2"/>
          <p:cNvSpPr txBox="1"/>
          <p:nvPr/>
        </p:nvSpPr>
        <p:spPr>
          <a:xfrm>
            <a:off x="457200" y="914400"/>
            <a:ext cx="8229600" cy="365760"/>
          </a:xfrm>
          <a:prstGeom prst="rect">
            <a:avLst/>
          </a:prstGeom>
          <a:noFill/>
        </p:spPr>
        <p:txBody>
          <a:bodyPr wrap="none">
            <a:spAutoFit/>
          </a:bodyPr>
          <a:lstStyle/>
          <a:p>
            <a:pPr>
              <a:defRPr sz="1300">
                <a:solidFill>
                  <a:srgbClr val="F0F0F0"/>
                </a:solidFill>
              </a:defRPr>
            </a:pPr>
            <a:r>
              <a:t>FreeRTOS实时操作系统负责任务调度，确保角度控制的实时性和可靠性：</a:t>
            </a:r>
          </a:p>
        </p:txBody>
      </p:sp>
      <p:sp>
        <p:nvSpPr>
          <p:cNvPr id="4" name="TextBox 3"/>
          <p:cNvSpPr txBox="1"/>
          <p:nvPr/>
        </p:nvSpPr>
        <p:spPr>
          <a:xfrm>
            <a:off x="457200" y="1280160"/>
            <a:ext cx="3657600" cy="365760"/>
          </a:xfrm>
          <a:prstGeom prst="rect">
            <a:avLst/>
          </a:prstGeom>
          <a:noFill/>
        </p:spPr>
        <p:txBody>
          <a:bodyPr wrap="none">
            <a:spAutoFit/>
          </a:bodyPr>
          <a:lstStyle/>
          <a:p>
            <a:pPr>
              <a:defRPr sz="1600" b="1">
                <a:solidFill>
                  <a:srgbClr val="1C7293"/>
                </a:solidFill>
              </a:defRPr>
            </a:pPr>
            <a:r>
              <a:t>FreeRTOS控制任务</a:t>
            </a:r>
          </a:p>
        </p:txBody>
      </p:sp>
      <p:sp>
        <p:nvSpPr>
          <p:cNvPr id="5" name="TextBox 4"/>
          <p:cNvSpPr txBox="1"/>
          <p:nvPr/>
        </p:nvSpPr>
        <p:spPr>
          <a:xfrm>
            <a:off x="457200" y="1691640"/>
            <a:ext cx="5029200" cy="1463040"/>
          </a:xfrm>
          <a:prstGeom prst="rect">
            <a:avLst/>
          </a:prstGeom>
          <a:noFill/>
        </p:spPr>
        <p:txBody>
          <a:bodyPr wrap="square">
            <a:spAutoFit/>
          </a:bodyPr>
          <a:lstStyle/>
          <a:p>
            <a:pPr algn="l">
              <a:defRPr sz="1100">
                <a:solidFill>
                  <a:srgbClr val="F0F0F0"/>
                </a:solidFill>
                <a:latin typeface="Arial"/>
              </a:defRPr>
            </a:pPr>
            <a:r>
              <a:rPr dirty="0"/>
              <a:t>• </a:t>
            </a:r>
            <a:r>
              <a:rPr dirty="0" err="1"/>
              <a:t>任务入口</a:t>
            </a:r>
            <a:r>
              <a:rPr dirty="0"/>
              <a:t>: </a:t>
            </a:r>
            <a:r>
              <a:rPr dirty="0" err="1"/>
              <a:t>servo_dog_ctrl_task</a:t>
            </a:r>
            <a:r>
              <a:rPr dirty="0"/>
              <a:t>(void *</a:t>
            </a:r>
            <a:r>
              <a:rPr dirty="0" err="1"/>
              <a:t>arg</a:t>
            </a:r>
            <a:r>
              <a:rPr dirty="0"/>
              <a:t>)</a:t>
            </a:r>
          </a:p>
          <a:p>
            <a:pPr algn="l">
              <a:defRPr sz="1100">
                <a:solidFill>
                  <a:srgbClr val="F0F0F0"/>
                </a:solidFill>
                <a:latin typeface="Arial"/>
              </a:defRPr>
            </a:pPr>
            <a:r>
              <a:rPr dirty="0"/>
              <a:t>• </a:t>
            </a:r>
            <a:r>
              <a:rPr dirty="0" err="1"/>
              <a:t>初始化</a:t>
            </a:r>
            <a:r>
              <a:rPr dirty="0"/>
              <a:t>: </a:t>
            </a:r>
            <a:r>
              <a:rPr dirty="0" err="1"/>
              <a:t>调用servo_dog_neutral</a:t>
            </a:r>
            <a:r>
              <a:rPr dirty="0"/>
              <a:t>()</a:t>
            </a:r>
            <a:r>
              <a:rPr dirty="0" err="1"/>
              <a:t>设置中立姿态</a:t>
            </a:r>
            <a:endParaRPr dirty="0"/>
          </a:p>
          <a:p>
            <a:pPr algn="l">
              <a:defRPr sz="1100">
                <a:solidFill>
                  <a:srgbClr val="F0F0F0"/>
                </a:solidFill>
                <a:latin typeface="Arial"/>
              </a:defRPr>
            </a:pPr>
            <a:r>
              <a:rPr dirty="0"/>
              <a:t>• </a:t>
            </a:r>
            <a:r>
              <a:rPr dirty="0" err="1"/>
              <a:t>主循环</a:t>
            </a:r>
            <a:r>
              <a:rPr dirty="0"/>
              <a:t>: while(1)</a:t>
            </a:r>
            <a:r>
              <a:rPr dirty="0" err="1"/>
              <a:t>无限循环，从队列接收动作消息</a:t>
            </a:r>
            <a:endParaRPr dirty="0"/>
          </a:p>
          <a:p>
            <a:pPr algn="l">
              <a:defRPr sz="1100">
                <a:solidFill>
                  <a:srgbClr val="F0F0F0"/>
                </a:solidFill>
                <a:latin typeface="Arial"/>
              </a:defRPr>
            </a:pPr>
            <a:r>
              <a:rPr dirty="0"/>
              <a:t>• </a:t>
            </a:r>
            <a:r>
              <a:rPr dirty="0" err="1"/>
              <a:t>消息处理</a:t>
            </a:r>
            <a:r>
              <a:rPr dirty="0"/>
              <a:t>: </a:t>
            </a:r>
            <a:r>
              <a:rPr dirty="0" err="1"/>
              <a:t>xQueueReceive</a:t>
            </a:r>
            <a:r>
              <a:rPr dirty="0"/>
              <a:t>()</a:t>
            </a:r>
            <a:r>
              <a:rPr dirty="0" err="1"/>
              <a:t>从队列读取servo_dog_action_msg_t消息</a:t>
            </a:r>
            <a:endParaRPr dirty="0"/>
          </a:p>
          <a:p>
            <a:pPr algn="l">
              <a:defRPr sz="1100">
                <a:solidFill>
                  <a:srgbClr val="F0F0F0"/>
                </a:solidFill>
                <a:latin typeface="Arial"/>
              </a:defRPr>
            </a:pPr>
            <a:r>
              <a:rPr dirty="0"/>
              <a:t>• </a:t>
            </a:r>
            <a:r>
              <a:rPr dirty="0" err="1"/>
              <a:t>动作执行</a:t>
            </a:r>
            <a:r>
              <a:rPr dirty="0"/>
              <a:t>: </a:t>
            </a:r>
            <a:r>
              <a:rPr dirty="0" err="1"/>
              <a:t>根据msg.state执行对应动作函数g_servo_dog_action_table</a:t>
            </a:r>
            <a:r>
              <a:rPr dirty="0"/>
              <a:t>[</a:t>
            </a:r>
            <a:r>
              <a:rPr dirty="0" err="1"/>
              <a:t>msg.state</a:t>
            </a:r>
            <a:r>
              <a:rPr dirty="0"/>
              <a:t>].function()</a:t>
            </a:r>
          </a:p>
        </p:txBody>
      </p:sp>
      <p:sp>
        <p:nvSpPr>
          <p:cNvPr id="6" name="TextBox 5"/>
          <p:cNvSpPr txBox="1"/>
          <p:nvPr/>
        </p:nvSpPr>
        <p:spPr>
          <a:xfrm>
            <a:off x="422856" y="2865550"/>
            <a:ext cx="3657600" cy="365760"/>
          </a:xfrm>
          <a:prstGeom prst="rect">
            <a:avLst/>
          </a:prstGeom>
          <a:noFill/>
        </p:spPr>
        <p:txBody>
          <a:bodyPr wrap="none">
            <a:spAutoFit/>
          </a:bodyPr>
          <a:lstStyle/>
          <a:p>
            <a:pPr>
              <a:defRPr sz="1600" b="1">
                <a:solidFill>
                  <a:srgbClr val="1C7293"/>
                </a:solidFill>
              </a:defRPr>
            </a:pPr>
            <a:r>
              <a:t>Python控制示例</a:t>
            </a:r>
          </a:p>
        </p:txBody>
      </p:sp>
      <p:sp>
        <p:nvSpPr>
          <p:cNvPr id="7" name="TextBox 6"/>
          <p:cNvSpPr txBox="1"/>
          <p:nvPr/>
        </p:nvSpPr>
        <p:spPr>
          <a:xfrm>
            <a:off x="457200" y="3200400"/>
            <a:ext cx="5029200" cy="1815882"/>
          </a:xfrm>
          <a:prstGeom prst="rect">
            <a:avLst/>
          </a:prstGeom>
          <a:noFill/>
        </p:spPr>
        <p:txBody>
          <a:bodyPr wrap="square">
            <a:spAutoFit/>
          </a:bodyPr>
          <a:lstStyle/>
          <a:p>
            <a:pPr>
              <a:defRPr sz="800">
                <a:solidFill>
                  <a:srgbClr val="F0F0F0"/>
                </a:solidFill>
                <a:latin typeface="Consolas"/>
              </a:defRPr>
            </a:pPr>
            <a:r>
              <a:rPr dirty="0"/>
              <a:t>class </a:t>
            </a:r>
            <a:r>
              <a:rPr dirty="0" err="1"/>
              <a:t>RobotAngleController</a:t>
            </a:r>
            <a:r>
              <a:rPr dirty="0"/>
              <a:t>:</a:t>
            </a:r>
            <a:br>
              <a:rPr dirty="0"/>
            </a:br>
            <a:r>
              <a:rPr dirty="0"/>
              <a:t>    def __</a:t>
            </a:r>
            <a:r>
              <a:rPr dirty="0" err="1"/>
              <a:t>init</a:t>
            </a:r>
            <a:r>
              <a:rPr dirty="0"/>
              <a:t>__(self, </a:t>
            </a:r>
            <a:r>
              <a:rPr dirty="0" err="1"/>
              <a:t>ip</a:t>
            </a:r>
            <a:r>
              <a:rPr dirty="0"/>
              <a:t>="192.168.4.1"):</a:t>
            </a:r>
            <a:br>
              <a:rPr dirty="0"/>
            </a:br>
            <a:r>
              <a:rPr dirty="0"/>
              <a:t>        </a:t>
            </a:r>
            <a:r>
              <a:rPr dirty="0" err="1"/>
              <a:t>self.base_url</a:t>
            </a:r>
            <a:r>
              <a:rPr dirty="0"/>
              <a:t> = </a:t>
            </a:r>
            <a:r>
              <a:rPr dirty="0" err="1"/>
              <a:t>f"http</a:t>
            </a:r>
            <a:r>
              <a:rPr dirty="0"/>
              <a:t>://{</a:t>
            </a:r>
            <a:r>
              <a:rPr dirty="0" err="1"/>
              <a:t>ip</a:t>
            </a:r>
            <a:r>
              <a:rPr dirty="0"/>
              <a:t>}"</a:t>
            </a:r>
            <a:br>
              <a:rPr dirty="0"/>
            </a:br>
            <a:br>
              <a:rPr dirty="0"/>
            </a:br>
            <a:r>
              <a:rPr dirty="0"/>
              <a:t>    def </a:t>
            </a:r>
            <a:r>
              <a:rPr dirty="0" err="1"/>
              <a:t>get_angles</a:t>
            </a:r>
            <a:r>
              <a:rPr dirty="0"/>
              <a:t>(self):</a:t>
            </a:r>
            <a:br>
              <a:rPr dirty="0"/>
            </a:br>
            <a:r>
              <a:rPr dirty="0"/>
              <a:t>        resp = </a:t>
            </a:r>
            <a:r>
              <a:rPr dirty="0" err="1"/>
              <a:t>requests.post</a:t>
            </a:r>
            <a:r>
              <a:rPr dirty="0"/>
              <a:t>(f"{</a:t>
            </a:r>
            <a:r>
              <a:rPr dirty="0" err="1"/>
              <a:t>self.base_url</a:t>
            </a:r>
            <a:r>
              <a:rPr dirty="0"/>
              <a:t>}/control",</a:t>
            </a:r>
            <a:br>
              <a:rPr dirty="0"/>
            </a:br>
            <a:r>
              <a:rPr dirty="0"/>
              <a:t>            </a:t>
            </a:r>
            <a:r>
              <a:rPr dirty="0" err="1"/>
              <a:t>json</a:t>
            </a:r>
            <a:r>
              <a:rPr dirty="0"/>
              <a:t>={"query": "angles"})</a:t>
            </a:r>
            <a:br>
              <a:rPr dirty="0"/>
            </a:br>
            <a:r>
              <a:rPr dirty="0"/>
              <a:t>        return </a:t>
            </a:r>
            <a:r>
              <a:rPr dirty="0" err="1"/>
              <a:t>resp.json</a:t>
            </a:r>
            <a:r>
              <a:rPr dirty="0"/>
              <a:t>()  # {"fl":90,"fr":90,"bl":90,"br":90}</a:t>
            </a:r>
            <a:br>
              <a:rPr dirty="0"/>
            </a:br>
            <a:br>
              <a:rPr dirty="0"/>
            </a:br>
            <a:r>
              <a:rPr dirty="0"/>
              <a:t>    def </a:t>
            </a:r>
            <a:r>
              <a:rPr dirty="0" err="1"/>
              <a:t>set_angles</a:t>
            </a:r>
            <a:r>
              <a:rPr dirty="0"/>
              <a:t>(self, </a:t>
            </a:r>
            <a:r>
              <a:rPr dirty="0" err="1"/>
              <a:t>fl</a:t>
            </a:r>
            <a:r>
              <a:rPr dirty="0"/>
              <a:t>, </a:t>
            </a:r>
            <a:r>
              <a:rPr dirty="0" err="1"/>
              <a:t>fr</a:t>
            </a:r>
            <a:r>
              <a:rPr dirty="0"/>
              <a:t>, bl, </a:t>
            </a:r>
            <a:r>
              <a:rPr dirty="0" err="1"/>
              <a:t>br</a:t>
            </a:r>
            <a:r>
              <a:rPr dirty="0"/>
              <a:t>):</a:t>
            </a:r>
            <a:br>
              <a:rPr dirty="0"/>
            </a:br>
            <a:r>
              <a:rPr dirty="0"/>
              <a:t>        return </a:t>
            </a:r>
            <a:r>
              <a:rPr dirty="0" err="1"/>
              <a:t>requests.post</a:t>
            </a:r>
            <a:r>
              <a:rPr dirty="0"/>
              <a:t>(f"{</a:t>
            </a:r>
            <a:r>
              <a:rPr dirty="0" err="1"/>
              <a:t>self.base_url</a:t>
            </a:r>
            <a:r>
              <a:rPr dirty="0"/>
              <a:t>}/angles",</a:t>
            </a:r>
            <a:br>
              <a:rPr dirty="0"/>
            </a:br>
            <a:r>
              <a:rPr dirty="0"/>
              <a:t>            </a:t>
            </a:r>
            <a:r>
              <a:rPr dirty="0" err="1"/>
              <a:t>json</a:t>
            </a:r>
            <a:r>
              <a:rPr dirty="0"/>
              <a:t>={"</a:t>
            </a:r>
            <a:r>
              <a:rPr dirty="0" err="1"/>
              <a:t>fl</a:t>
            </a:r>
            <a:r>
              <a:rPr dirty="0"/>
              <a:t>": </a:t>
            </a:r>
            <a:r>
              <a:rPr dirty="0" err="1"/>
              <a:t>fl</a:t>
            </a:r>
            <a:r>
              <a:rPr dirty="0"/>
              <a:t>, "</a:t>
            </a:r>
            <a:r>
              <a:rPr dirty="0" err="1"/>
              <a:t>fr</a:t>
            </a:r>
            <a:r>
              <a:rPr dirty="0"/>
              <a:t>": </a:t>
            </a:r>
            <a:r>
              <a:rPr dirty="0" err="1"/>
              <a:t>fr</a:t>
            </a:r>
            <a:r>
              <a:rPr dirty="0"/>
              <a:t>, "bl": bl, "</a:t>
            </a:r>
            <a:r>
              <a:rPr dirty="0" err="1"/>
              <a:t>br</a:t>
            </a:r>
            <a:r>
              <a:rPr dirty="0"/>
              <a:t>": </a:t>
            </a:r>
            <a:r>
              <a:rPr dirty="0" err="1"/>
              <a:t>br</a:t>
            </a:r>
            <a:r>
              <a:rPr dirty="0"/>
              <a:t>}).</a:t>
            </a:r>
            <a:r>
              <a:rPr dirty="0" err="1"/>
              <a:t>json</a:t>
            </a:r>
            <a:r>
              <a:rPr dirty="0"/>
              <a:t>()</a:t>
            </a:r>
            <a:br>
              <a:rPr dirty="0"/>
            </a:br>
            <a:br>
              <a:rPr dirty="0"/>
            </a:br>
            <a:r>
              <a:rPr dirty="0"/>
              <a:t>    </a:t>
            </a:r>
          </a:p>
        </p:txBody>
      </p:sp>
      <p:pic>
        <p:nvPicPr>
          <p:cNvPr id="10" name="图片 9">
            <a:extLst>
              <a:ext uri="{FF2B5EF4-FFF2-40B4-BE49-F238E27FC236}">
                <a16:creationId xmlns:a16="http://schemas.microsoft.com/office/drawing/2014/main" id="{2FF41091-FF40-5EBE-B2A7-F830379B4ACA}"/>
              </a:ext>
            </a:extLst>
          </p:cNvPr>
          <p:cNvPicPr>
            <a:picLocks noChangeAspect="1"/>
          </p:cNvPicPr>
          <p:nvPr/>
        </p:nvPicPr>
        <p:blipFill>
          <a:blip r:embed="rId2"/>
          <a:stretch>
            <a:fillRect/>
          </a:stretch>
        </p:blipFill>
        <p:spPr>
          <a:xfrm>
            <a:off x="4998905" y="1325880"/>
            <a:ext cx="4084993" cy="221771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实时角度控制应用场景</a:t>
            </a:r>
          </a:p>
        </p:txBody>
      </p:sp>
      <p:sp>
        <p:nvSpPr>
          <p:cNvPr id="3" name="TextBox 2"/>
          <p:cNvSpPr txBox="1"/>
          <p:nvPr/>
        </p:nvSpPr>
        <p:spPr>
          <a:xfrm>
            <a:off x="457200" y="914400"/>
            <a:ext cx="8229600" cy="365760"/>
          </a:xfrm>
          <a:prstGeom prst="rect">
            <a:avLst/>
          </a:prstGeom>
          <a:noFill/>
        </p:spPr>
        <p:txBody>
          <a:bodyPr wrap="none">
            <a:spAutoFit/>
          </a:bodyPr>
          <a:lstStyle/>
          <a:p>
            <a:pPr>
              <a:defRPr sz="1400">
                <a:solidFill>
                  <a:srgbClr val="F0F0F0"/>
                </a:solidFill>
              </a:defRPr>
            </a:pPr>
            <a:r>
              <a:t>实时角度直传控制模式解锁了多种创新应用场景：</a:t>
            </a:r>
          </a:p>
        </p:txBody>
      </p:sp>
      <p:sp>
        <p:nvSpPr>
          <p:cNvPr id="4" name="Rounded Rectangle 3"/>
          <p:cNvSpPr/>
          <p:nvPr/>
        </p:nvSpPr>
        <p:spPr>
          <a:xfrm>
            <a:off x="457200" y="1371600"/>
            <a:ext cx="265176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463040"/>
            <a:ext cx="2377440" cy="365760"/>
          </a:xfrm>
          <a:prstGeom prst="rect">
            <a:avLst/>
          </a:prstGeom>
          <a:noFill/>
        </p:spPr>
        <p:txBody>
          <a:bodyPr wrap="none">
            <a:spAutoFit/>
          </a:bodyPr>
          <a:lstStyle/>
          <a:p>
            <a:pPr>
              <a:defRPr sz="1200" b="1">
                <a:solidFill>
                  <a:srgbClr val="FFFFFF"/>
                </a:solidFill>
              </a:defRPr>
            </a:pPr>
            <a:r>
              <a:t>精细姿态调整</a:t>
            </a:r>
          </a:p>
        </p:txBody>
      </p:sp>
      <p:sp>
        <p:nvSpPr>
          <p:cNvPr id="6" name="TextBox 5"/>
          <p:cNvSpPr txBox="1"/>
          <p:nvPr/>
        </p:nvSpPr>
        <p:spPr>
          <a:xfrm>
            <a:off x="594360" y="1828800"/>
            <a:ext cx="2377440" cy="457200"/>
          </a:xfrm>
          <a:prstGeom prst="rect">
            <a:avLst/>
          </a:prstGeom>
          <a:noFill/>
        </p:spPr>
        <p:txBody>
          <a:bodyPr wrap="square">
            <a:spAutoFit/>
          </a:bodyPr>
          <a:lstStyle/>
          <a:p>
            <a:pPr>
              <a:defRPr sz="1000">
                <a:solidFill>
                  <a:srgbClr val="F0F0F0"/>
                </a:solidFill>
              </a:defRPr>
            </a:pPr>
            <a:r>
              <a:t>• 无需预设动作，直接发送目标角度即可达到期望姿态，支持任意角度组合</a:t>
            </a:r>
          </a:p>
        </p:txBody>
      </p:sp>
      <p:sp>
        <p:nvSpPr>
          <p:cNvPr id="7" name="Rounded Rectangle 6"/>
          <p:cNvSpPr/>
          <p:nvPr/>
        </p:nvSpPr>
        <p:spPr>
          <a:xfrm>
            <a:off x="3291840" y="1371600"/>
            <a:ext cx="265176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29000" y="1463040"/>
            <a:ext cx="2377440" cy="365760"/>
          </a:xfrm>
          <a:prstGeom prst="rect">
            <a:avLst/>
          </a:prstGeom>
          <a:noFill/>
        </p:spPr>
        <p:txBody>
          <a:bodyPr wrap="none">
            <a:spAutoFit/>
          </a:bodyPr>
          <a:lstStyle/>
          <a:p>
            <a:pPr>
              <a:defRPr sz="1200" b="1">
                <a:solidFill>
                  <a:srgbClr val="FFFFFF"/>
                </a:solidFill>
              </a:defRPr>
            </a:pPr>
            <a:r>
              <a:t>自定义步态</a:t>
            </a:r>
          </a:p>
        </p:txBody>
      </p:sp>
      <p:sp>
        <p:nvSpPr>
          <p:cNvPr id="9" name="TextBox 8"/>
          <p:cNvSpPr txBox="1"/>
          <p:nvPr/>
        </p:nvSpPr>
        <p:spPr>
          <a:xfrm>
            <a:off x="3429000" y="1828800"/>
            <a:ext cx="2377440" cy="457200"/>
          </a:xfrm>
          <a:prstGeom prst="rect">
            <a:avLst/>
          </a:prstGeom>
          <a:noFill/>
        </p:spPr>
        <p:txBody>
          <a:bodyPr wrap="square">
            <a:spAutoFit/>
          </a:bodyPr>
          <a:lstStyle/>
          <a:p>
            <a:pPr>
              <a:defRPr sz="1000">
                <a:solidFill>
                  <a:srgbClr val="F0F0F0"/>
                </a:solidFill>
              </a:defRPr>
            </a:pPr>
            <a:r>
              <a:t>• 连续发送角度序列实现自定义行走步态，可模拟真实动物的行走方式</a:t>
            </a:r>
          </a:p>
        </p:txBody>
      </p:sp>
      <p:sp>
        <p:nvSpPr>
          <p:cNvPr id="10" name="Rounded Rectangle 9"/>
          <p:cNvSpPr/>
          <p:nvPr/>
        </p:nvSpPr>
        <p:spPr>
          <a:xfrm>
            <a:off x="6126480" y="1371600"/>
            <a:ext cx="265176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463040"/>
            <a:ext cx="2377440" cy="365760"/>
          </a:xfrm>
          <a:prstGeom prst="rect">
            <a:avLst/>
          </a:prstGeom>
          <a:noFill/>
        </p:spPr>
        <p:txBody>
          <a:bodyPr wrap="none">
            <a:spAutoFit/>
          </a:bodyPr>
          <a:lstStyle/>
          <a:p>
            <a:pPr>
              <a:defRPr sz="1200" b="1">
                <a:solidFill>
                  <a:srgbClr val="FFFFFF"/>
                </a:solidFill>
              </a:defRPr>
            </a:pPr>
            <a:r>
              <a:t>实时反馈控制</a:t>
            </a:r>
          </a:p>
        </p:txBody>
      </p:sp>
      <p:sp>
        <p:nvSpPr>
          <p:cNvPr id="12" name="TextBox 11"/>
          <p:cNvSpPr txBox="1"/>
          <p:nvPr/>
        </p:nvSpPr>
        <p:spPr>
          <a:xfrm>
            <a:off x="6263640" y="1828800"/>
            <a:ext cx="2377440" cy="457200"/>
          </a:xfrm>
          <a:prstGeom prst="rect">
            <a:avLst/>
          </a:prstGeom>
          <a:noFill/>
        </p:spPr>
        <p:txBody>
          <a:bodyPr wrap="square">
            <a:spAutoFit/>
          </a:bodyPr>
          <a:lstStyle/>
          <a:p>
            <a:pPr>
              <a:defRPr sz="1000">
                <a:solidFill>
                  <a:srgbClr val="F0F0F0"/>
                </a:solidFill>
              </a:defRPr>
            </a:pPr>
            <a:r>
              <a:t>• 查询当前角度实现闭环控制，支持PID等控制算法的反馈输入</a:t>
            </a:r>
          </a:p>
        </p:txBody>
      </p:sp>
      <p:sp>
        <p:nvSpPr>
          <p:cNvPr id="13" name="Rounded Rectangle 12"/>
          <p:cNvSpPr/>
          <p:nvPr/>
        </p:nvSpPr>
        <p:spPr>
          <a:xfrm>
            <a:off x="457200" y="2468880"/>
            <a:ext cx="265176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560320"/>
            <a:ext cx="2377440" cy="365760"/>
          </a:xfrm>
          <a:prstGeom prst="rect">
            <a:avLst/>
          </a:prstGeom>
          <a:noFill/>
        </p:spPr>
        <p:txBody>
          <a:bodyPr wrap="none">
            <a:spAutoFit/>
          </a:bodyPr>
          <a:lstStyle/>
          <a:p>
            <a:pPr>
              <a:defRPr sz="1200" b="1">
                <a:solidFill>
                  <a:srgbClr val="FFFFFF"/>
                </a:solidFill>
              </a:defRPr>
            </a:pPr>
            <a:r>
              <a:t>动画表演</a:t>
            </a:r>
          </a:p>
        </p:txBody>
      </p:sp>
      <p:sp>
        <p:nvSpPr>
          <p:cNvPr id="15" name="TextBox 14"/>
          <p:cNvSpPr txBox="1"/>
          <p:nvPr/>
        </p:nvSpPr>
        <p:spPr>
          <a:xfrm>
            <a:off x="594360" y="2926080"/>
            <a:ext cx="2377440" cy="457200"/>
          </a:xfrm>
          <a:prstGeom prst="rect">
            <a:avLst/>
          </a:prstGeom>
          <a:noFill/>
        </p:spPr>
        <p:txBody>
          <a:bodyPr wrap="square">
            <a:spAutoFit/>
          </a:bodyPr>
          <a:lstStyle/>
          <a:p>
            <a:pPr>
              <a:defRPr sz="1000">
                <a:solidFill>
                  <a:srgbClr val="F0F0F0"/>
                </a:solidFill>
              </a:defRPr>
            </a:pPr>
            <a:r>
              <a:t>• 精确控制每个舵机角度实现复杂舞蹈动作，支持动作插值平滑过渡</a:t>
            </a:r>
          </a:p>
        </p:txBody>
      </p:sp>
      <p:sp>
        <p:nvSpPr>
          <p:cNvPr id="16" name="Rounded Rectangle 15"/>
          <p:cNvSpPr/>
          <p:nvPr/>
        </p:nvSpPr>
        <p:spPr>
          <a:xfrm>
            <a:off x="3291840" y="2468880"/>
            <a:ext cx="2651760" cy="1005840"/>
          </a:xfrm>
          <a:prstGeom prst="roundRect">
            <a:avLst/>
          </a:prstGeom>
          <a:solidFill>
            <a:srgbClr val="1E3A5A"/>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29000" y="2560320"/>
            <a:ext cx="2377440" cy="365760"/>
          </a:xfrm>
          <a:prstGeom prst="rect">
            <a:avLst/>
          </a:prstGeom>
          <a:noFill/>
        </p:spPr>
        <p:txBody>
          <a:bodyPr wrap="none">
            <a:spAutoFit/>
          </a:bodyPr>
          <a:lstStyle/>
          <a:p>
            <a:pPr>
              <a:defRPr sz="1200" b="1">
                <a:solidFill>
                  <a:srgbClr val="FFFFFF"/>
                </a:solidFill>
              </a:defRPr>
            </a:pPr>
            <a:r>
              <a:t>调试与校准</a:t>
            </a:r>
          </a:p>
        </p:txBody>
      </p:sp>
      <p:sp>
        <p:nvSpPr>
          <p:cNvPr id="18" name="TextBox 17"/>
          <p:cNvSpPr txBox="1"/>
          <p:nvPr/>
        </p:nvSpPr>
        <p:spPr>
          <a:xfrm>
            <a:off x="3429000" y="2926080"/>
            <a:ext cx="2377440" cy="457200"/>
          </a:xfrm>
          <a:prstGeom prst="rect">
            <a:avLst/>
          </a:prstGeom>
          <a:noFill/>
        </p:spPr>
        <p:txBody>
          <a:bodyPr wrap="square">
            <a:spAutoFit/>
          </a:bodyPr>
          <a:lstStyle/>
          <a:p>
            <a:pPr>
              <a:defRPr sz="1000">
                <a:solidFill>
                  <a:srgbClr val="F0F0F0"/>
                </a:solidFill>
              </a:defRPr>
            </a:pPr>
            <a:r>
              <a:t>• 实时查看和调整舵机角度，逐个校准确保四个舵机同步运行</a:t>
            </a:r>
          </a:p>
        </p:txBody>
      </p:sp>
      <p:sp>
        <p:nvSpPr>
          <p:cNvPr id="19" name="TextBox 18"/>
          <p:cNvSpPr txBox="1"/>
          <p:nvPr/>
        </p:nvSpPr>
        <p:spPr>
          <a:xfrm>
            <a:off x="373487" y="3520440"/>
            <a:ext cx="3657600" cy="365760"/>
          </a:xfrm>
          <a:prstGeom prst="rect">
            <a:avLst/>
          </a:prstGeom>
          <a:noFill/>
        </p:spPr>
        <p:txBody>
          <a:bodyPr wrap="none">
            <a:spAutoFit/>
          </a:bodyPr>
          <a:lstStyle/>
          <a:p>
            <a:pPr>
              <a:defRPr sz="1600" b="1">
                <a:solidFill>
                  <a:srgbClr val="1C7293"/>
                </a:solidFill>
              </a:defRPr>
            </a:pPr>
            <a:r>
              <a:rPr dirty="0"/>
              <a:t>curl </a:t>
            </a:r>
            <a:r>
              <a:rPr dirty="0" err="1"/>
              <a:t>使用示例</a:t>
            </a:r>
            <a:endParaRPr dirty="0"/>
          </a:p>
        </p:txBody>
      </p:sp>
      <p:sp>
        <p:nvSpPr>
          <p:cNvPr id="20" name="TextBox 19"/>
          <p:cNvSpPr txBox="1"/>
          <p:nvPr/>
        </p:nvSpPr>
        <p:spPr>
          <a:xfrm>
            <a:off x="1736502" y="3520224"/>
            <a:ext cx="5029200" cy="1615827"/>
          </a:xfrm>
          <a:prstGeom prst="rect">
            <a:avLst/>
          </a:prstGeom>
          <a:noFill/>
        </p:spPr>
        <p:txBody>
          <a:bodyPr wrap="square">
            <a:spAutoFit/>
          </a:bodyPr>
          <a:lstStyle/>
          <a:p>
            <a:pPr>
              <a:defRPr sz="900">
                <a:solidFill>
                  <a:srgbClr val="F0F0F0"/>
                </a:solidFill>
                <a:latin typeface="Consolas"/>
              </a:defRPr>
            </a:pPr>
            <a:r>
              <a:rPr b="1" dirty="0"/>
              <a:t># </a:t>
            </a:r>
            <a:r>
              <a:rPr b="1" dirty="0" err="1"/>
              <a:t>查询当前角度</a:t>
            </a:r>
            <a:br>
              <a:rPr b="1" dirty="0"/>
            </a:br>
            <a:r>
              <a:rPr b="1" dirty="0"/>
              <a:t>curl -X POST http://192.168.4.1/control \</a:t>
            </a:r>
            <a:br>
              <a:rPr b="1" dirty="0"/>
            </a:br>
            <a:r>
              <a:rPr b="1" dirty="0"/>
              <a:t>  -H "Content-Type: application/</a:t>
            </a:r>
            <a:r>
              <a:rPr b="1" dirty="0" err="1"/>
              <a:t>json</a:t>
            </a:r>
            <a:r>
              <a:rPr b="1" dirty="0"/>
              <a:t>" \</a:t>
            </a:r>
            <a:br>
              <a:rPr b="1" dirty="0"/>
            </a:br>
            <a:r>
              <a:rPr b="1" dirty="0"/>
              <a:t>  -d '{"</a:t>
            </a:r>
            <a:r>
              <a:rPr b="1" dirty="0" err="1"/>
              <a:t>query":"angles</a:t>
            </a:r>
            <a:r>
              <a:rPr b="1" dirty="0"/>
              <a:t>"}'</a:t>
            </a:r>
            <a:br>
              <a:rPr b="1" dirty="0"/>
            </a:br>
            <a:r>
              <a:rPr b="1" dirty="0"/>
              <a:t># </a:t>
            </a:r>
            <a:r>
              <a:rPr b="1" dirty="0" err="1"/>
              <a:t>返回</a:t>
            </a:r>
            <a:r>
              <a:rPr b="1" dirty="0"/>
              <a:t>: {"fl":90,"fr":90,"bl":90,"br":90}</a:t>
            </a:r>
            <a:br>
              <a:rPr b="1" dirty="0"/>
            </a:br>
            <a:br>
              <a:rPr b="1" dirty="0"/>
            </a:br>
            <a:r>
              <a:rPr b="1" dirty="0"/>
              <a:t># </a:t>
            </a:r>
            <a:r>
              <a:rPr b="1" dirty="0" err="1"/>
              <a:t>设置目标角度（向前倾斜</a:t>
            </a:r>
            <a:r>
              <a:rPr b="1" dirty="0"/>
              <a:t>）</a:t>
            </a:r>
            <a:br>
              <a:rPr b="1" dirty="0"/>
            </a:br>
            <a:r>
              <a:rPr b="1" dirty="0"/>
              <a:t>curl -X POST http://192.168.4.1/angles \</a:t>
            </a:r>
            <a:br>
              <a:rPr b="1" dirty="0"/>
            </a:br>
            <a:r>
              <a:rPr b="1" dirty="0"/>
              <a:t>  -H "Content-Type: application/</a:t>
            </a:r>
            <a:r>
              <a:rPr b="1" dirty="0" err="1"/>
              <a:t>json</a:t>
            </a:r>
            <a:r>
              <a:rPr b="1" dirty="0"/>
              <a:t>" \</a:t>
            </a:r>
            <a:br>
              <a:rPr b="1" dirty="0"/>
            </a:br>
            <a:r>
              <a:rPr b="1" dirty="0"/>
              <a:t>  -d '{"fl":110,"fr":70,"bl":70,"br":110"}</a:t>
            </a:r>
            <a:br>
              <a:rPr b="1" dirty="0"/>
            </a:br>
            <a:r>
              <a:rPr b="1" dirty="0"/>
              <a:t># </a:t>
            </a:r>
            <a:r>
              <a:rPr b="1" dirty="0" err="1"/>
              <a:t>返回</a:t>
            </a:r>
            <a:r>
              <a:rPr b="1" dirty="0"/>
              <a:t>: {"code":200,"fl":110,"fr":70,"bl":70,"br":110}</a:t>
            </a:r>
          </a:p>
        </p:txBody>
      </p:sp>
      <p:pic>
        <p:nvPicPr>
          <p:cNvPr id="25" name="图片 24">
            <a:extLst>
              <a:ext uri="{FF2B5EF4-FFF2-40B4-BE49-F238E27FC236}">
                <a16:creationId xmlns:a16="http://schemas.microsoft.com/office/drawing/2014/main" id="{EBDB326B-AB6B-A5A2-1C58-7FF9E9B11B0D}"/>
              </a:ext>
            </a:extLst>
          </p:cNvPr>
          <p:cNvPicPr>
            <a:picLocks noChangeAspect="1"/>
          </p:cNvPicPr>
          <p:nvPr/>
        </p:nvPicPr>
        <p:blipFill>
          <a:blip r:embed="rId2"/>
          <a:stretch>
            <a:fillRect/>
          </a:stretch>
        </p:blipFill>
        <p:spPr>
          <a:xfrm>
            <a:off x="6002497" y="2813228"/>
            <a:ext cx="3141503" cy="188584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LangChain多智能体编排</a:t>
            </a:r>
          </a:p>
        </p:txBody>
      </p:sp>
      <p:sp>
        <p:nvSpPr>
          <p:cNvPr id="3" name="TextBox 2"/>
          <p:cNvSpPr txBox="1"/>
          <p:nvPr/>
        </p:nvSpPr>
        <p:spPr>
          <a:xfrm>
            <a:off x="457200" y="914400"/>
            <a:ext cx="8229600" cy="457200"/>
          </a:xfrm>
          <a:prstGeom prst="rect">
            <a:avLst/>
          </a:prstGeom>
          <a:noFill/>
        </p:spPr>
        <p:txBody>
          <a:bodyPr wrap="none">
            <a:spAutoFit/>
          </a:bodyPr>
          <a:lstStyle/>
          <a:p>
            <a:pPr>
              <a:defRPr sz="1300">
                <a:solidFill>
                  <a:srgbClr val="F0F0F0"/>
                </a:solidFill>
              </a:defRPr>
            </a:pPr>
            <a:r>
              <a:t>通过LangChain体系编排6个专职Agent，形成完整的创作到执行流水线：</a:t>
            </a:r>
          </a:p>
        </p:txBody>
      </p:sp>
      <p:graphicFrame>
        <p:nvGraphicFramePr>
          <p:cNvPr id="4" name="Table 3"/>
          <p:cNvGraphicFramePr>
            <a:graphicFrameLocks noGrp="1"/>
          </p:cNvGraphicFramePr>
          <p:nvPr>
            <p:extLst>
              <p:ext uri="{D42A27DB-BD31-4B8C-83A1-F6EECF244321}">
                <p14:modId xmlns:p14="http://schemas.microsoft.com/office/powerpoint/2010/main" val="89010093"/>
              </p:ext>
            </p:extLst>
          </p:nvPr>
        </p:nvGraphicFramePr>
        <p:xfrm>
          <a:off x="457200" y="1371600"/>
          <a:ext cx="8229600" cy="2468882"/>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20039">
                <a:tc>
                  <a:txBody>
                    <a:bodyPr/>
                    <a:lstStyle/>
                    <a:p>
                      <a:pPr algn="ctr">
                        <a:defRPr sz="1000" b="1">
                          <a:solidFill>
                            <a:srgbClr val="FFFFFF"/>
                          </a:solidFill>
                        </a:defRPr>
                      </a:pPr>
                      <a:r>
                        <a:rPr dirty="0">
                          <a:solidFill>
                            <a:schemeClr val="tx1"/>
                          </a:solidFill>
                        </a:rPr>
                        <a:t>Agent</a:t>
                      </a:r>
                    </a:p>
                  </a:txBody>
                  <a:tcPr>
                    <a:solidFill>
                      <a:srgbClr val="065A82"/>
                    </a:solidFill>
                  </a:tcPr>
                </a:tc>
                <a:tc>
                  <a:txBody>
                    <a:bodyPr/>
                    <a:lstStyle/>
                    <a:p>
                      <a:pPr algn="ctr">
                        <a:defRPr sz="1000" b="1">
                          <a:solidFill>
                            <a:srgbClr val="FFFFFF"/>
                          </a:solidFill>
                        </a:defRPr>
                      </a:pPr>
                      <a:r>
                        <a:rPr>
                          <a:solidFill>
                            <a:schemeClr val="tx1"/>
                          </a:solidFill>
                        </a:rPr>
                        <a:t>主要职责</a:t>
                      </a:r>
                    </a:p>
                  </a:txBody>
                  <a:tcPr>
                    <a:solidFill>
                      <a:srgbClr val="065A82"/>
                    </a:solidFill>
                  </a:tcPr>
                </a:tc>
                <a:tc>
                  <a:txBody>
                    <a:bodyPr/>
                    <a:lstStyle/>
                    <a:p>
                      <a:pPr algn="ctr">
                        <a:defRPr sz="1000" b="1">
                          <a:solidFill>
                            <a:srgbClr val="FFFFFF"/>
                          </a:solidFill>
                        </a:defRPr>
                      </a:pPr>
                      <a:r>
                        <a:rPr>
                          <a:solidFill>
                            <a:schemeClr val="tx1"/>
                          </a:solidFill>
                        </a:rPr>
                        <a:t>输入</a:t>
                      </a:r>
                    </a:p>
                  </a:txBody>
                  <a:tcPr>
                    <a:solidFill>
                      <a:srgbClr val="065A82"/>
                    </a:solidFill>
                  </a:tcPr>
                </a:tc>
                <a:tc>
                  <a:txBody>
                    <a:bodyPr/>
                    <a:lstStyle/>
                    <a:p>
                      <a:pPr algn="ctr">
                        <a:defRPr sz="1000" b="1">
                          <a:solidFill>
                            <a:srgbClr val="FFFFFF"/>
                          </a:solidFill>
                        </a:defRPr>
                      </a:pPr>
                      <a:r>
                        <a:rPr>
                          <a:solidFill>
                            <a:schemeClr val="tx1"/>
                          </a:solidFill>
                        </a:rPr>
                        <a:t>输出</a:t>
                      </a:r>
                    </a:p>
                  </a:txBody>
                  <a:tcPr>
                    <a:solidFill>
                      <a:srgbClr val="065A82"/>
                    </a:solidFill>
                  </a:tcPr>
                </a:tc>
                <a:extLst>
                  <a:ext uri="{0D108BD9-81ED-4DB2-BD59-A6C34878D82A}">
                    <a16:rowId xmlns:a16="http://schemas.microsoft.com/office/drawing/2014/main" val="10000"/>
                  </a:ext>
                </a:extLst>
              </a:tr>
              <a:tr h="320039">
                <a:tc>
                  <a:txBody>
                    <a:bodyPr/>
                    <a:lstStyle/>
                    <a:p>
                      <a:pPr algn="ctr">
                        <a:defRPr sz="1000" b="0">
                          <a:solidFill>
                            <a:srgbClr val="F0F0F0"/>
                          </a:solidFill>
                        </a:defRPr>
                      </a:pPr>
                      <a:r>
                        <a:rPr dirty="0" err="1">
                          <a:solidFill>
                            <a:schemeClr val="tx1"/>
                          </a:solidFill>
                        </a:rPr>
                        <a:t>creative_interviewer</a:t>
                      </a:r>
                      <a:endParaRPr dirty="0">
                        <a:solidFill>
                          <a:schemeClr val="tx1"/>
                        </a:solidFill>
                      </a:endParaRPr>
                    </a:p>
                  </a:txBody>
                  <a:tcPr/>
                </a:tc>
                <a:tc>
                  <a:txBody>
                    <a:bodyPr/>
                    <a:lstStyle/>
                    <a:p>
                      <a:pPr algn="ctr">
                        <a:defRPr sz="1000" b="0">
                          <a:solidFill>
                            <a:srgbClr val="F0F0F0"/>
                          </a:solidFill>
                        </a:defRPr>
                      </a:pPr>
                      <a:r>
                        <a:rPr dirty="0" err="1">
                          <a:solidFill>
                            <a:schemeClr val="tx1"/>
                          </a:solidFill>
                        </a:rPr>
                        <a:t>通过访谈补齐策划信息，引导用户逐步完善设定</a:t>
                      </a:r>
                      <a:endParaRPr dirty="0">
                        <a:solidFill>
                          <a:schemeClr val="tx1"/>
                        </a:solidFill>
                      </a:endParaRPr>
                    </a:p>
                  </a:txBody>
                  <a:tcPr/>
                </a:tc>
                <a:tc>
                  <a:txBody>
                    <a:bodyPr/>
                    <a:lstStyle/>
                    <a:p>
                      <a:pPr algn="ctr">
                        <a:defRPr sz="1000" b="0">
                          <a:solidFill>
                            <a:srgbClr val="F0F0F0"/>
                          </a:solidFill>
                        </a:defRPr>
                      </a:pPr>
                      <a:r>
                        <a:rPr>
                          <a:solidFill>
                            <a:schemeClr val="tx1"/>
                          </a:solidFill>
                        </a:rPr>
                        <a:t>主题、对话、历史草案</a:t>
                      </a:r>
                    </a:p>
                  </a:txBody>
                  <a:tcPr/>
                </a:tc>
                <a:tc>
                  <a:txBody>
                    <a:bodyPr/>
                    <a:lstStyle/>
                    <a:p>
                      <a:pPr algn="ctr">
                        <a:defRPr sz="1000" b="0">
                          <a:solidFill>
                            <a:srgbClr val="F0F0F0"/>
                          </a:solidFill>
                        </a:defRPr>
                      </a:pPr>
                      <a:r>
                        <a:rPr>
                          <a:solidFill>
                            <a:schemeClr val="tx1"/>
                          </a:solidFill>
                        </a:rPr>
                        <a:t>结构化草案、下一轮提问焦点</a:t>
                      </a:r>
                    </a:p>
                  </a:txBody>
                  <a:tcPr/>
                </a:tc>
                <a:extLst>
                  <a:ext uri="{0D108BD9-81ED-4DB2-BD59-A6C34878D82A}">
                    <a16:rowId xmlns:a16="http://schemas.microsoft.com/office/drawing/2014/main" val="10001"/>
                  </a:ext>
                </a:extLst>
              </a:tr>
              <a:tr h="320039">
                <a:tc>
                  <a:txBody>
                    <a:bodyPr/>
                    <a:lstStyle/>
                    <a:p>
                      <a:pPr algn="ctr">
                        <a:defRPr sz="1000" b="0">
                          <a:solidFill>
                            <a:srgbClr val="F0F0F0"/>
                          </a:solidFill>
                        </a:defRPr>
                      </a:pPr>
                      <a:r>
                        <a:rPr>
                          <a:solidFill>
                            <a:schemeClr val="tx1"/>
                          </a:solidFill>
                        </a:rPr>
                        <a:t>script_rewriter</a:t>
                      </a:r>
                    </a:p>
                  </a:txBody>
                  <a:tcPr/>
                </a:tc>
                <a:tc>
                  <a:txBody>
                    <a:bodyPr/>
                    <a:lstStyle/>
                    <a:p>
                      <a:pPr algn="ctr">
                        <a:defRPr sz="1000" b="0">
                          <a:solidFill>
                            <a:srgbClr val="F0F0F0"/>
                          </a:solidFill>
                        </a:defRPr>
                      </a:pPr>
                      <a:r>
                        <a:rPr dirty="0" err="1">
                          <a:solidFill>
                            <a:schemeClr val="tx1"/>
                          </a:solidFill>
                        </a:rPr>
                        <a:t>把原始内容改写成标准格式的剧本</a:t>
                      </a:r>
                      <a:endParaRPr dirty="0">
                        <a:solidFill>
                          <a:schemeClr val="tx1"/>
                        </a:solidFill>
                      </a:endParaRPr>
                    </a:p>
                  </a:txBody>
                  <a:tcPr/>
                </a:tc>
                <a:tc>
                  <a:txBody>
                    <a:bodyPr/>
                    <a:lstStyle/>
                    <a:p>
                      <a:pPr algn="ctr">
                        <a:defRPr sz="1000" b="0">
                          <a:solidFill>
                            <a:srgbClr val="F0F0F0"/>
                          </a:solidFill>
                        </a:defRPr>
                      </a:pPr>
                      <a:r>
                        <a:rPr>
                          <a:solidFill>
                            <a:schemeClr val="tx1"/>
                          </a:solidFill>
                        </a:rPr>
                        <a:t>原始内容、整剧设定、单集目标</a:t>
                      </a:r>
                    </a:p>
                  </a:txBody>
                  <a:tcPr/>
                </a:tc>
                <a:tc>
                  <a:txBody>
                    <a:bodyPr/>
                    <a:lstStyle/>
                    <a:p>
                      <a:pPr algn="ctr">
                        <a:defRPr sz="1000" b="0">
                          <a:solidFill>
                            <a:srgbClr val="F0F0F0"/>
                          </a:solidFill>
                        </a:defRPr>
                      </a:pPr>
                      <a:r>
                        <a:rPr>
                          <a:solidFill>
                            <a:schemeClr val="tx1"/>
                          </a:solidFill>
                        </a:rPr>
                        <a:t>格式化剧本（含动作语义标记）</a:t>
                      </a:r>
                    </a:p>
                  </a:txBody>
                  <a:tcPr/>
                </a:tc>
                <a:extLst>
                  <a:ext uri="{0D108BD9-81ED-4DB2-BD59-A6C34878D82A}">
                    <a16:rowId xmlns:a16="http://schemas.microsoft.com/office/drawing/2014/main" val="10002"/>
                  </a:ext>
                </a:extLst>
              </a:tr>
              <a:tr h="320039">
                <a:tc>
                  <a:txBody>
                    <a:bodyPr/>
                    <a:lstStyle/>
                    <a:p>
                      <a:pPr algn="ctr">
                        <a:defRPr sz="1000" b="0">
                          <a:solidFill>
                            <a:srgbClr val="F0F0F0"/>
                          </a:solidFill>
                        </a:defRPr>
                      </a:pPr>
                      <a:r>
                        <a:rPr>
                          <a:solidFill>
                            <a:schemeClr val="tx1"/>
                          </a:solidFill>
                        </a:rPr>
                        <a:t>extractor</a:t>
                      </a:r>
                    </a:p>
                  </a:txBody>
                  <a:tcPr/>
                </a:tc>
                <a:tc>
                  <a:txBody>
                    <a:bodyPr/>
                    <a:lstStyle/>
                    <a:p>
                      <a:pPr algn="ctr">
                        <a:defRPr sz="1000" b="0">
                          <a:solidFill>
                            <a:srgbClr val="F0F0F0"/>
                          </a:solidFill>
                        </a:defRPr>
                      </a:pPr>
                      <a:r>
                        <a:rPr dirty="0" err="1">
                          <a:solidFill>
                            <a:schemeClr val="tx1"/>
                          </a:solidFill>
                        </a:rPr>
                        <a:t>提取并去重角色与场景资产</a:t>
                      </a:r>
                      <a:endParaRPr dirty="0">
                        <a:solidFill>
                          <a:schemeClr val="tx1"/>
                        </a:solidFill>
                      </a:endParaRPr>
                    </a:p>
                  </a:txBody>
                  <a:tcPr/>
                </a:tc>
                <a:tc>
                  <a:txBody>
                    <a:bodyPr/>
                    <a:lstStyle/>
                    <a:p>
                      <a:pPr algn="ctr">
                        <a:defRPr sz="1000" b="0">
                          <a:solidFill>
                            <a:srgbClr val="F0F0F0"/>
                          </a:solidFill>
                        </a:defRPr>
                      </a:pPr>
                      <a:r>
                        <a:rPr>
                          <a:solidFill>
                            <a:schemeClr val="tx1"/>
                          </a:solidFill>
                        </a:rPr>
                        <a:t>格式化剧本、已有角色场景库</a:t>
                      </a:r>
                    </a:p>
                  </a:txBody>
                  <a:tcPr/>
                </a:tc>
                <a:tc>
                  <a:txBody>
                    <a:bodyPr/>
                    <a:lstStyle/>
                    <a:p>
                      <a:pPr algn="ctr">
                        <a:defRPr sz="1000" b="0">
                          <a:solidFill>
                            <a:srgbClr val="F0F0F0"/>
                          </a:solidFill>
                        </a:defRPr>
                      </a:pPr>
                      <a:r>
                        <a:rPr>
                          <a:solidFill>
                            <a:schemeClr val="tx1"/>
                          </a:solidFill>
                        </a:rPr>
                        <a:t>角色表、场景表、关联关系</a:t>
                      </a:r>
                    </a:p>
                  </a:txBody>
                  <a:tcPr/>
                </a:tc>
                <a:extLst>
                  <a:ext uri="{0D108BD9-81ED-4DB2-BD59-A6C34878D82A}">
                    <a16:rowId xmlns:a16="http://schemas.microsoft.com/office/drawing/2014/main" val="10003"/>
                  </a:ext>
                </a:extLst>
              </a:tr>
              <a:tr h="320039">
                <a:tc>
                  <a:txBody>
                    <a:bodyPr/>
                    <a:lstStyle/>
                    <a:p>
                      <a:pPr algn="ctr">
                        <a:defRPr sz="1000" b="0">
                          <a:solidFill>
                            <a:srgbClr val="F0F0F0"/>
                          </a:solidFill>
                        </a:defRPr>
                      </a:pPr>
                      <a:r>
                        <a:rPr>
                          <a:solidFill>
                            <a:schemeClr val="tx1"/>
                          </a:solidFill>
                        </a:rPr>
                        <a:t>voice_assigner</a:t>
                      </a:r>
                    </a:p>
                  </a:txBody>
                  <a:tcPr/>
                </a:tc>
                <a:tc>
                  <a:txBody>
                    <a:bodyPr/>
                    <a:lstStyle/>
                    <a:p>
                      <a:pPr algn="ctr">
                        <a:defRPr sz="1000" b="0">
                          <a:solidFill>
                            <a:srgbClr val="F0F0F0"/>
                          </a:solidFill>
                        </a:defRPr>
                      </a:pPr>
                      <a:r>
                        <a:rPr>
                          <a:solidFill>
                            <a:schemeClr val="tx1"/>
                          </a:solidFill>
                        </a:rPr>
                        <a:t>为角色分配音色资源</a:t>
                      </a:r>
                    </a:p>
                  </a:txBody>
                  <a:tcPr/>
                </a:tc>
                <a:tc>
                  <a:txBody>
                    <a:bodyPr/>
                    <a:lstStyle/>
                    <a:p>
                      <a:pPr algn="ctr">
                        <a:defRPr sz="1000" b="0">
                          <a:solidFill>
                            <a:srgbClr val="F0F0F0"/>
                          </a:solidFill>
                        </a:defRPr>
                      </a:pPr>
                      <a:r>
                        <a:rPr dirty="0" err="1">
                          <a:solidFill>
                            <a:schemeClr val="tx1"/>
                          </a:solidFill>
                        </a:rPr>
                        <a:t>角色设定、音色库</a:t>
                      </a:r>
                      <a:endParaRPr dirty="0">
                        <a:solidFill>
                          <a:schemeClr val="tx1"/>
                        </a:solidFill>
                      </a:endParaRPr>
                    </a:p>
                  </a:txBody>
                  <a:tcPr/>
                </a:tc>
                <a:tc>
                  <a:txBody>
                    <a:bodyPr/>
                    <a:lstStyle/>
                    <a:p>
                      <a:pPr algn="ctr">
                        <a:defRPr sz="1000" b="0">
                          <a:solidFill>
                            <a:srgbClr val="F0F0F0"/>
                          </a:solidFill>
                        </a:defRPr>
                      </a:pPr>
                      <a:r>
                        <a:rPr>
                          <a:solidFill>
                            <a:schemeClr val="tx1"/>
                          </a:solidFill>
                        </a:rPr>
                        <a:t>角色-音色映射表</a:t>
                      </a:r>
                    </a:p>
                  </a:txBody>
                  <a:tcPr/>
                </a:tc>
                <a:extLst>
                  <a:ext uri="{0D108BD9-81ED-4DB2-BD59-A6C34878D82A}">
                    <a16:rowId xmlns:a16="http://schemas.microsoft.com/office/drawing/2014/main" val="10004"/>
                  </a:ext>
                </a:extLst>
              </a:tr>
              <a:tr h="320039">
                <a:tc>
                  <a:txBody>
                    <a:bodyPr/>
                    <a:lstStyle/>
                    <a:p>
                      <a:pPr algn="ctr">
                        <a:defRPr sz="1000" b="0">
                          <a:solidFill>
                            <a:srgbClr val="F0F0F0"/>
                          </a:solidFill>
                        </a:defRPr>
                      </a:pPr>
                      <a:r>
                        <a:rPr>
                          <a:solidFill>
                            <a:schemeClr val="tx1"/>
                          </a:solidFill>
                        </a:rPr>
                        <a:t>storyboard_breaker</a:t>
                      </a:r>
                    </a:p>
                  </a:txBody>
                  <a:tcPr/>
                </a:tc>
                <a:tc>
                  <a:txBody>
                    <a:bodyPr/>
                    <a:lstStyle/>
                    <a:p>
                      <a:pPr algn="ctr">
                        <a:defRPr sz="1000" b="0">
                          <a:solidFill>
                            <a:srgbClr val="F0F0F0"/>
                          </a:solidFill>
                        </a:defRPr>
                      </a:pPr>
                      <a:r>
                        <a:rPr>
                          <a:solidFill>
                            <a:schemeClr val="tx1"/>
                          </a:solidFill>
                        </a:rPr>
                        <a:t>拆解镜头生成详细分镜</a:t>
                      </a:r>
                    </a:p>
                  </a:txBody>
                  <a:tcPr/>
                </a:tc>
                <a:tc>
                  <a:txBody>
                    <a:bodyPr/>
                    <a:lstStyle/>
                    <a:p>
                      <a:pPr algn="ctr">
                        <a:defRPr sz="1000" b="0">
                          <a:solidFill>
                            <a:srgbClr val="F0F0F0"/>
                          </a:solidFill>
                        </a:defRPr>
                      </a:pPr>
                      <a:r>
                        <a:rPr>
                          <a:solidFill>
                            <a:schemeClr val="tx1"/>
                          </a:solidFill>
                        </a:rPr>
                        <a:t>剧本、角色、场景</a:t>
                      </a:r>
                    </a:p>
                  </a:txBody>
                  <a:tcPr/>
                </a:tc>
                <a:tc>
                  <a:txBody>
                    <a:bodyPr/>
                    <a:lstStyle/>
                    <a:p>
                      <a:pPr algn="ctr">
                        <a:defRPr sz="1000" b="0">
                          <a:solidFill>
                            <a:srgbClr val="F0F0F0"/>
                          </a:solidFill>
                        </a:defRPr>
                      </a:pPr>
                      <a:r>
                        <a:rPr dirty="0" err="1">
                          <a:solidFill>
                            <a:schemeClr val="tx1"/>
                          </a:solidFill>
                        </a:rPr>
                        <a:t>结构化分镜列表</a:t>
                      </a:r>
                      <a:endParaRPr dirty="0">
                        <a:solidFill>
                          <a:schemeClr val="tx1"/>
                        </a:solidFill>
                      </a:endParaRPr>
                    </a:p>
                  </a:txBody>
                  <a:tcPr/>
                </a:tc>
                <a:extLst>
                  <a:ext uri="{0D108BD9-81ED-4DB2-BD59-A6C34878D82A}">
                    <a16:rowId xmlns:a16="http://schemas.microsoft.com/office/drawing/2014/main" val="10005"/>
                  </a:ext>
                </a:extLst>
              </a:tr>
              <a:tr h="320045">
                <a:tc>
                  <a:txBody>
                    <a:bodyPr/>
                    <a:lstStyle/>
                    <a:p>
                      <a:pPr algn="ctr">
                        <a:defRPr sz="1000" b="0">
                          <a:solidFill>
                            <a:srgbClr val="F0F0F0"/>
                          </a:solidFill>
                        </a:defRPr>
                      </a:pPr>
                      <a:r>
                        <a:rPr>
                          <a:solidFill>
                            <a:schemeClr val="tx1"/>
                          </a:solidFill>
                        </a:rPr>
                        <a:t>grid_prompt_generator</a:t>
                      </a:r>
                    </a:p>
                  </a:txBody>
                  <a:tcPr/>
                </a:tc>
                <a:tc>
                  <a:txBody>
                    <a:bodyPr/>
                    <a:lstStyle/>
                    <a:p>
                      <a:pPr algn="ctr">
                        <a:defRPr sz="1000" b="0">
                          <a:solidFill>
                            <a:srgbClr val="F0F0F0"/>
                          </a:solidFill>
                        </a:defRPr>
                      </a:pPr>
                      <a:r>
                        <a:rPr>
                          <a:solidFill>
                            <a:schemeClr val="tx1"/>
                          </a:solidFill>
                        </a:rPr>
                        <a:t>生成AI绘画与音频提示词</a:t>
                      </a:r>
                    </a:p>
                  </a:txBody>
                  <a:tcPr/>
                </a:tc>
                <a:tc>
                  <a:txBody>
                    <a:bodyPr/>
                    <a:lstStyle/>
                    <a:p>
                      <a:pPr algn="ctr">
                        <a:defRPr sz="1000" b="0">
                          <a:solidFill>
                            <a:srgbClr val="F0F0F0"/>
                          </a:solidFill>
                        </a:defRPr>
                      </a:pPr>
                      <a:r>
                        <a:rPr>
                          <a:solidFill>
                            <a:schemeClr val="tx1"/>
                          </a:solidFill>
                        </a:rPr>
                        <a:t>镜头、参考图、风格要求</a:t>
                      </a:r>
                    </a:p>
                  </a:txBody>
                  <a:tcPr/>
                </a:tc>
                <a:tc>
                  <a:txBody>
                    <a:bodyPr/>
                    <a:lstStyle/>
                    <a:p>
                      <a:pPr algn="ctr">
                        <a:defRPr sz="1000" b="0">
                          <a:solidFill>
                            <a:srgbClr val="F0F0F0"/>
                          </a:solidFill>
                        </a:defRPr>
                      </a:pPr>
                      <a:r>
                        <a:rPr dirty="0" err="1">
                          <a:solidFill>
                            <a:schemeClr val="tx1"/>
                          </a:solidFill>
                        </a:rPr>
                        <a:t>提示词与cell</a:t>
                      </a:r>
                      <a:r>
                        <a:rPr dirty="0">
                          <a:solidFill>
                            <a:schemeClr val="tx1"/>
                          </a:solidFill>
                        </a:rPr>
                        <a:t> </a:t>
                      </a:r>
                      <a:r>
                        <a:rPr dirty="0" err="1">
                          <a:solidFill>
                            <a:schemeClr val="tx1"/>
                          </a:solidFill>
                        </a:rPr>
                        <a:t>prompt列表</a:t>
                      </a:r>
                      <a:endParaRPr dirty="0">
                        <a:solidFill>
                          <a:schemeClr val="tx1"/>
                        </a:solidFill>
                      </a:endParaRPr>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457200" y="3840482"/>
            <a:ext cx="3657600" cy="365760"/>
          </a:xfrm>
          <a:prstGeom prst="rect">
            <a:avLst/>
          </a:prstGeom>
          <a:noFill/>
        </p:spPr>
        <p:txBody>
          <a:bodyPr wrap="none">
            <a:spAutoFit/>
          </a:bodyPr>
          <a:lstStyle/>
          <a:p>
            <a:pPr>
              <a:defRPr sz="1400" b="1">
                <a:solidFill>
                  <a:srgbClr val="1C7293"/>
                </a:solidFill>
              </a:defRPr>
            </a:pPr>
            <a:r>
              <a:rPr dirty="0" err="1"/>
              <a:t>动作语义剧本示例</a:t>
            </a:r>
            <a:endParaRPr dirty="0"/>
          </a:p>
        </p:txBody>
      </p:sp>
      <p:sp>
        <p:nvSpPr>
          <p:cNvPr id="6" name="TextBox 5"/>
          <p:cNvSpPr txBox="1"/>
          <p:nvPr/>
        </p:nvSpPr>
        <p:spPr>
          <a:xfrm>
            <a:off x="414270" y="4117805"/>
            <a:ext cx="4114800" cy="914400"/>
          </a:xfrm>
          <a:prstGeom prst="rect">
            <a:avLst/>
          </a:prstGeom>
          <a:noFill/>
        </p:spPr>
        <p:txBody>
          <a:bodyPr wrap="square">
            <a:spAutoFit/>
          </a:bodyPr>
          <a:lstStyle/>
          <a:p>
            <a:pPr algn="l">
              <a:defRPr sz="1000">
                <a:solidFill>
                  <a:srgbClr val="F0F0F0"/>
                </a:solidFill>
                <a:latin typeface="Arial"/>
              </a:defRPr>
            </a:pPr>
            <a:r>
              <a:rPr dirty="0"/>
              <a:t>• 【</a:t>
            </a:r>
            <a:r>
              <a:rPr dirty="0" err="1"/>
              <a:t>动作：医生：说话</a:t>
            </a:r>
            <a:r>
              <a:rPr dirty="0"/>
              <a:t>】- </a:t>
            </a:r>
            <a:r>
              <a:rPr dirty="0" err="1"/>
              <a:t>角色动作标记</a:t>
            </a:r>
            <a:endParaRPr dirty="0"/>
          </a:p>
          <a:p>
            <a:pPr algn="l">
              <a:defRPr sz="1000">
                <a:solidFill>
                  <a:srgbClr val="F0F0F0"/>
                </a:solidFill>
                <a:latin typeface="Arial"/>
              </a:defRPr>
            </a:pPr>
            <a:r>
              <a:rPr dirty="0"/>
              <a:t>• 【</a:t>
            </a:r>
            <a:r>
              <a:rPr dirty="0" err="1"/>
              <a:t>动作：医生：转向</a:t>
            </a:r>
            <a:r>
              <a:rPr dirty="0"/>
              <a:t>, </a:t>
            </a:r>
            <a:r>
              <a:rPr dirty="0" err="1"/>
              <a:t>护士：转向</a:t>
            </a:r>
            <a:r>
              <a:rPr dirty="0"/>
              <a:t>】- </a:t>
            </a:r>
            <a:r>
              <a:rPr dirty="0" err="1"/>
              <a:t>多角色协同</a:t>
            </a:r>
            <a:endParaRPr dirty="0"/>
          </a:p>
          <a:p>
            <a:pPr algn="l">
              <a:defRPr sz="1000">
                <a:solidFill>
                  <a:srgbClr val="F0F0F0"/>
                </a:solidFill>
                <a:latin typeface="Arial"/>
              </a:defRPr>
            </a:pPr>
            <a:r>
              <a:rPr dirty="0"/>
              <a:t>• 【</a:t>
            </a:r>
            <a:r>
              <a:rPr dirty="0" err="1"/>
              <a:t>动作：护士：前进</a:t>
            </a:r>
            <a:r>
              <a:rPr dirty="0"/>
              <a:t> x2】- </a:t>
            </a:r>
            <a:r>
              <a:rPr dirty="0" err="1"/>
              <a:t>重复动作标记</a:t>
            </a:r>
            <a:endParaRPr dirty="0"/>
          </a:p>
          <a:p>
            <a:pPr algn="l">
              <a:defRPr sz="1000">
                <a:solidFill>
                  <a:srgbClr val="F0F0F0"/>
                </a:solidFill>
                <a:latin typeface="Arial"/>
              </a:defRPr>
            </a:pPr>
            <a:r>
              <a:rPr dirty="0"/>
              <a:t>• </a:t>
            </a:r>
            <a:r>
              <a:rPr dirty="0" err="1"/>
              <a:t>这种格式可直接映射为机器人JSON指令</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Unity JSON剧本结构</a:t>
            </a:r>
          </a:p>
        </p:txBody>
      </p:sp>
      <p:sp>
        <p:nvSpPr>
          <p:cNvPr id="3" name="TextBox 2"/>
          <p:cNvSpPr txBox="1"/>
          <p:nvPr/>
        </p:nvSpPr>
        <p:spPr>
          <a:xfrm>
            <a:off x="457200" y="914400"/>
            <a:ext cx="8229600" cy="457200"/>
          </a:xfrm>
          <a:prstGeom prst="rect">
            <a:avLst/>
          </a:prstGeom>
          <a:noFill/>
        </p:spPr>
        <p:txBody>
          <a:bodyPr wrap="none">
            <a:spAutoFit/>
          </a:bodyPr>
          <a:lstStyle/>
          <a:p>
            <a:pPr>
              <a:defRPr sz="1300">
                <a:solidFill>
                  <a:srgbClr val="F0F0F0"/>
                </a:solidFill>
              </a:defRPr>
            </a:pPr>
            <a:r>
              <a:t>统一JSON剧本格式实现创作到执行的桥接，支持直接导出给Unity或机器人控制系统：</a:t>
            </a:r>
          </a:p>
        </p:txBody>
      </p:sp>
      <p:graphicFrame>
        <p:nvGraphicFramePr>
          <p:cNvPr id="4" name="Table 3"/>
          <p:cNvGraphicFramePr>
            <a:graphicFrameLocks noGrp="1"/>
          </p:cNvGraphicFramePr>
          <p:nvPr>
            <p:extLst>
              <p:ext uri="{D42A27DB-BD31-4B8C-83A1-F6EECF244321}">
                <p14:modId xmlns:p14="http://schemas.microsoft.com/office/powerpoint/2010/main" val="265085504"/>
              </p:ext>
            </p:extLst>
          </p:nvPr>
        </p:nvGraphicFramePr>
        <p:xfrm>
          <a:off x="457200" y="1371600"/>
          <a:ext cx="8229600" cy="2301239"/>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20039">
                <a:tc>
                  <a:txBody>
                    <a:bodyPr/>
                    <a:lstStyle/>
                    <a:p>
                      <a:pPr algn="ctr">
                        <a:defRPr sz="1000" b="1">
                          <a:solidFill>
                            <a:srgbClr val="FFFFFF"/>
                          </a:solidFill>
                        </a:defRPr>
                      </a:pPr>
                      <a:r>
                        <a:t>顶层字段</a:t>
                      </a:r>
                    </a:p>
                  </a:txBody>
                  <a:tcPr>
                    <a:solidFill>
                      <a:srgbClr val="065A82"/>
                    </a:solidFill>
                  </a:tcPr>
                </a:tc>
                <a:tc>
                  <a:txBody>
                    <a:bodyPr/>
                    <a:lstStyle/>
                    <a:p>
                      <a:pPr algn="ctr">
                        <a:defRPr sz="1000" b="1">
                          <a:solidFill>
                            <a:srgbClr val="FFFFFF"/>
                          </a:solidFill>
                        </a:defRPr>
                      </a:pPr>
                      <a:r>
                        <a:t>字段说明</a:t>
                      </a:r>
                    </a:p>
                  </a:txBody>
                  <a:tcPr>
                    <a:solidFill>
                      <a:srgbClr val="065A82"/>
                    </a:solidFill>
                  </a:tcPr>
                </a:tc>
                <a:tc>
                  <a:txBody>
                    <a:bodyPr/>
                    <a:lstStyle/>
                    <a:p>
                      <a:pPr algn="ctr">
                        <a:defRPr sz="1000" b="1">
                          <a:solidFill>
                            <a:srgbClr val="FFFFFF"/>
                          </a:solidFill>
                        </a:defRPr>
                      </a:pPr>
                      <a:r>
                        <a:t>示例值</a:t>
                      </a:r>
                    </a:p>
                  </a:txBody>
                  <a:tcPr>
                    <a:solidFill>
                      <a:srgbClr val="065A82"/>
                    </a:solidFill>
                  </a:tcPr>
                </a:tc>
                <a:extLst>
                  <a:ext uri="{0D108BD9-81ED-4DB2-BD59-A6C34878D82A}">
                    <a16:rowId xmlns:a16="http://schemas.microsoft.com/office/drawing/2014/main" val="10000"/>
                  </a:ext>
                </a:extLst>
              </a:tr>
              <a:tr h="320039">
                <a:tc>
                  <a:txBody>
                    <a:bodyPr/>
                    <a:lstStyle/>
                    <a:p>
                      <a:pPr algn="ctr">
                        <a:defRPr sz="1000" b="0">
                          <a:solidFill>
                            <a:srgbClr val="F0F0F0"/>
                          </a:solidFill>
                        </a:defRPr>
                      </a:pPr>
                      <a:r>
                        <a:rPr dirty="0">
                          <a:solidFill>
                            <a:schemeClr val="tx1"/>
                          </a:solidFill>
                        </a:rPr>
                        <a:t>project</a:t>
                      </a:r>
                    </a:p>
                  </a:txBody>
                  <a:tcPr/>
                </a:tc>
                <a:tc>
                  <a:txBody>
                    <a:bodyPr/>
                    <a:lstStyle/>
                    <a:p>
                      <a:pPr algn="ctr">
                        <a:defRPr sz="1000" b="0">
                          <a:solidFill>
                            <a:srgbClr val="F0F0F0"/>
                          </a:solidFill>
                        </a:defRPr>
                      </a:pPr>
                      <a:r>
                        <a:rPr>
                          <a:solidFill>
                            <a:schemeClr val="tx1"/>
                          </a:solidFill>
                        </a:rPr>
                        <a:t>项目名、剧集信息、导出时间、版本、目标引擎</a:t>
                      </a:r>
                    </a:p>
                  </a:txBody>
                  <a:tcPr/>
                </a:tc>
                <a:tc>
                  <a:txBody>
                    <a:bodyPr/>
                    <a:lstStyle/>
                    <a:p>
                      <a:pPr algn="ctr">
                        <a:defRPr sz="1000" b="0">
                          <a:solidFill>
                            <a:srgbClr val="F0F0F0"/>
                          </a:solidFill>
                        </a:defRPr>
                      </a:pPr>
                      <a:r>
                        <a:rPr>
                          <a:solidFill>
                            <a:schemeClr val="tx1"/>
                          </a:solidFill>
                        </a:rPr>
                        <a:t>{"name":"微境剧场","episode":1,"engine":"Unity 2022.3"}</a:t>
                      </a:r>
                    </a:p>
                  </a:txBody>
                  <a:tcPr/>
                </a:tc>
                <a:extLst>
                  <a:ext uri="{0D108BD9-81ED-4DB2-BD59-A6C34878D82A}">
                    <a16:rowId xmlns:a16="http://schemas.microsoft.com/office/drawing/2014/main" val="10001"/>
                  </a:ext>
                </a:extLst>
              </a:tr>
              <a:tr h="320039">
                <a:tc>
                  <a:txBody>
                    <a:bodyPr/>
                    <a:lstStyle/>
                    <a:p>
                      <a:pPr algn="ctr">
                        <a:defRPr sz="1000" b="0">
                          <a:solidFill>
                            <a:srgbClr val="F0F0F0"/>
                          </a:solidFill>
                        </a:defRPr>
                      </a:pPr>
                      <a:r>
                        <a:rPr dirty="0">
                          <a:solidFill>
                            <a:schemeClr val="tx1"/>
                          </a:solidFill>
                        </a:rPr>
                        <a:t>characters</a:t>
                      </a:r>
                    </a:p>
                  </a:txBody>
                  <a:tcPr/>
                </a:tc>
                <a:tc>
                  <a:txBody>
                    <a:bodyPr/>
                    <a:lstStyle/>
                    <a:p>
                      <a:pPr algn="ctr">
                        <a:defRPr sz="1000" b="0">
                          <a:solidFill>
                            <a:srgbClr val="F0F0F0"/>
                          </a:solidFill>
                        </a:defRPr>
                      </a:pPr>
                      <a:r>
                        <a:rPr dirty="0" err="1">
                          <a:solidFill>
                            <a:schemeClr val="tx1"/>
                          </a:solidFill>
                        </a:rPr>
                        <a:t>角色ID、名称、性别、定位、外观、性格、头像、音色</a:t>
                      </a:r>
                      <a:endParaRPr dirty="0">
                        <a:solidFill>
                          <a:schemeClr val="tx1"/>
                        </a:solidFill>
                      </a:endParaRPr>
                    </a:p>
                  </a:txBody>
                  <a:tcPr/>
                </a:tc>
                <a:tc>
                  <a:txBody>
                    <a:bodyPr/>
                    <a:lstStyle/>
                    <a:p>
                      <a:pPr algn="ctr">
                        <a:defRPr sz="1000" b="0">
                          <a:solidFill>
                            <a:srgbClr val="F0F0F0"/>
                          </a:solidFill>
                        </a:defRPr>
                      </a:pPr>
                      <a:r>
                        <a:rPr>
                          <a:solidFill>
                            <a:schemeClr val="tx1"/>
                          </a:solidFill>
                        </a:rPr>
                        <a:t>{"id":"doctor_01","name":"医生","voice_id":"female_youth"}</a:t>
                      </a:r>
                    </a:p>
                  </a:txBody>
                  <a:tcPr/>
                </a:tc>
                <a:extLst>
                  <a:ext uri="{0D108BD9-81ED-4DB2-BD59-A6C34878D82A}">
                    <a16:rowId xmlns:a16="http://schemas.microsoft.com/office/drawing/2014/main" val="10002"/>
                  </a:ext>
                </a:extLst>
              </a:tr>
              <a:tr h="320039">
                <a:tc>
                  <a:txBody>
                    <a:bodyPr/>
                    <a:lstStyle/>
                    <a:p>
                      <a:pPr algn="ctr">
                        <a:defRPr sz="1000" b="0">
                          <a:solidFill>
                            <a:srgbClr val="F0F0F0"/>
                          </a:solidFill>
                        </a:defRPr>
                      </a:pPr>
                      <a:r>
                        <a:rPr>
                          <a:solidFill>
                            <a:schemeClr val="tx1"/>
                          </a:solidFill>
                        </a:rPr>
                        <a:t>scenes</a:t>
                      </a:r>
                    </a:p>
                  </a:txBody>
                  <a:tcPr/>
                </a:tc>
                <a:tc>
                  <a:txBody>
                    <a:bodyPr/>
                    <a:lstStyle/>
                    <a:p>
                      <a:pPr algn="ctr">
                        <a:defRPr sz="1000" b="0">
                          <a:solidFill>
                            <a:srgbClr val="F0F0F0"/>
                          </a:solidFill>
                        </a:defRPr>
                      </a:pPr>
                      <a:r>
                        <a:rPr dirty="0" err="1">
                          <a:solidFill>
                            <a:schemeClr val="tx1"/>
                          </a:solidFill>
                        </a:rPr>
                        <a:t>场景ID、名称、地点、时间段、灯光、氛围、背景图</a:t>
                      </a:r>
                      <a:endParaRPr dirty="0">
                        <a:solidFill>
                          <a:schemeClr val="tx1"/>
                        </a:solidFill>
                      </a:endParaRPr>
                    </a:p>
                  </a:txBody>
                  <a:tcPr/>
                </a:tc>
                <a:tc>
                  <a:txBody>
                    <a:bodyPr/>
                    <a:lstStyle/>
                    <a:p>
                      <a:pPr algn="ctr">
                        <a:defRPr sz="1000" b="0">
                          <a:solidFill>
                            <a:srgbClr val="F0F0F0"/>
                          </a:solidFill>
                        </a:defRPr>
                      </a:pPr>
                      <a:r>
                        <a:rPr dirty="0">
                          <a:solidFill>
                            <a:schemeClr val="tx1"/>
                          </a:solidFill>
                        </a:rPr>
                        <a:t>{"id":"scene_01","location":"诊室","time":"白天"}</a:t>
                      </a:r>
                    </a:p>
                  </a:txBody>
                  <a:tcPr/>
                </a:tc>
                <a:extLst>
                  <a:ext uri="{0D108BD9-81ED-4DB2-BD59-A6C34878D82A}">
                    <a16:rowId xmlns:a16="http://schemas.microsoft.com/office/drawing/2014/main" val="10003"/>
                  </a:ext>
                </a:extLst>
              </a:tr>
              <a:tr h="320039">
                <a:tc>
                  <a:txBody>
                    <a:bodyPr/>
                    <a:lstStyle/>
                    <a:p>
                      <a:pPr algn="ctr">
                        <a:defRPr sz="1000" b="0">
                          <a:solidFill>
                            <a:srgbClr val="F0F0F0"/>
                          </a:solidFill>
                        </a:defRPr>
                      </a:pPr>
                      <a:r>
                        <a:rPr>
                          <a:solidFill>
                            <a:schemeClr val="tx1"/>
                          </a:solidFill>
                        </a:rPr>
                        <a:t>storyboards</a:t>
                      </a:r>
                    </a:p>
                  </a:txBody>
                  <a:tcPr/>
                </a:tc>
                <a:tc>
                  <a:txBody>
                    <a:bodyPr/>
                    <a:lstStyle/>
                    <a:p>
                      <a:pPr algn="ctr">
                        <a:defRPr sz="1000" b="0">
                          <a:solidFill>
                            <a:srgbClr val="F0F0F0"/>
                          </a:solidFill>
                        </a:defRPr>
                      </a:pPr>
                      <a:r>
                        <a:rPr>
                          <a:solidFill>
                            <a:schemeClr val="tx1"/>
                          </a:solidFill>
                        </a:rPr>
                        <a:t>镜头编号、标题、叙事、对白、动作、景别、运镜、时长</a:t>
                      </a:r>
                    </a:p>
                  </a:txBody>
                  <a:tcPr/>
                </a:tc>
                <a:tc>
                  <a:txBody>
                    <a:bodyPr/>
                    <a:lstStyle/>
                    <a:p>
                      <a:pPr algn="ctr">
                        <a:defRPr sz="1000" b="0">
                          <a:solidFill>
                            <a:srgbClr val="F0F0F0"/>
                          </a:solidFill>
                        </a:defRPr>
                      </a:pPr>
                      <a:r>
                        <a:rPr dirty="0">
                          <a:solidFill>
                            <a:schemeClr val="tx1"/>
                          </a:solidFill>
                        </a:rPr>
                        <a:t>{"shot":"A1","action":"医生：说话","duration":5}</a:t>
                      </a:r>
                    </a:p>
                  </a:txBody>
                  <a:tcPr/>
                </a:tc>
                <a:extLst>
                  <a:ext uri="{0D108BD9-81ED-4DB2-BD59-A6C34878D82A}">
                    <a16:rowId xmlns:a16="http://schemas.microsoft.com/office/drawing/2014/main" val="10004"/>
                  </a:ext>
                </a:extLst>
              </a:tr>
              <a:tr h="320044">
                <a:tc>
                  <a:txBody>
                    <a:bodyPr/>
                    <a:lstStyle/>
                    <a:p>
                      <a:pPr algn="ctr">
                        <a:defRPr sz="1000" b="0">
                          <a:solidFill>
                            <a:srgbClr val="F0F0F0"/>
                          </a:solidFill>
                        </a:defRPr>
                      </a:pPr>
                      <a:r>
                        <a:rPr>
                          <a:solidFill>
                            <a:schemeClr val="tx1"/>
                          </a:solidFill>
                        </a:rPr>
                        <a:t>timeline</a:t>
                      </a:r>
                    </a:p>
                  </a:txBody>
                  <a:tcPr/>
                </a:tc>
                <a:tc>
                  <a:txBody>
                    <a:bodyPr/>
                    <a:lstStyle/>
                    <a:p>
                      <a:pPr algn="ctr">
                        <a:defRPr sz="1000" b="0">
                          <a:solidFill>
                            <a:srgbClr val="F0F0F0"/>
                          </a:solidFill>
                        </a:defRPr>
                      </a:pPr>
                      <a:r>
                        <a:rPr>
                          <a:solidFill>
                            <a:schemeClr val="tx1"/>
                          </a:solidFill>
                        </a:rPr>
                        <a:t>镜头总数、总时长、帧率等整体调度信息</a:t>
                      </a:r>
                    </a:p>
                  </a:txBody>
                  <a:tcPr/>
                </a:tc>
                <a:tc>
                  <a:txBody>
                    <a:bodyPr/>
                    <a:lstStyle/>
                    <a:p>
                      <a:pPr algn="ctr">
                        <a:defRPr sz="1000" b="0">
                          <a:solidFill>
                            <a:srgbClr val="F0F0F0"/>
                          </a:solidFill>
                        </a:defRPr>
                      </a:pPr>
                      <a:r>
                        <a:rPr dirty="0">
                          <a:solidFill>
                            <a:schemeClr val="tx1"/>
                          </a:solidFill>
                        </a:rPr>
                        <a:t>{"total_shots":20,"total_duration":120,"fps":30}</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371341" y="3718559"/>
            <a:ext cx="3657600" cy="365760"/>
          </a:xfrm>
          <a:prstGeom prst="rect">
            <a:avLst/>
          </a:prstGeom>
          <a:noFill/>
        </p:spPr>
        <p:txBody>
          <a:bodyPr wrap="none">
            <a:spAutoFit/>
          </a:bodyPr>
          <a:lstStyle/>
          <a:p>
            <a:pPr>
              <a:defRPr sz="1600" b="1">
                <a:solidFill>
                  <a:srgbClr val="1C7293"/>
                </a:solidFill>
              </a:defRPr>
            </a:pPr>
            <a:r>
              <a:rPr dirty="0" err="1"/>
              <a:t>Unity对接流程</a:t>
            </a:r>
            <a:endParaRPr dirty="0"/>
          </a:p>
        </p:txBody>
      </p:sp>
      <p:sp>
        <p:nvSpPr>
          <p:cNvPr id="6" name="TextBox 5"/>
          <p:cNvSpPr txBox="1"/>
          <p:nvPr/>
        </p:nvSpPr>
        <p:spPr>
          <a:xfrm>
            <a:off x="1818068" y="3799481"/>
            <a:ext cx="4572000" cy="1188720"/>
          </a:xfrm>
          <a:prstGeom prst="rect">
            <a:avLst/>
          </a:prstGeom>
          <a:noFill/>
        </p:spPr>
        <p:txBody>
          <a:bodyPr wrap="square">
            <a:spAutoFit/>
          </a:bodyPr>
          <a:lstStyle/>
          <a:p>
            <a:pPr algn="l">
              <a:defRPr sz="1100">
                <a:solidFill>
                  <a:srgbClr val="F0F0F0"/>
                </a:solidFill>
                <a:latin typeface="Arial"/>
              </a:defRPr>
            </a:pPr>
            <a:r>
              <a:rPr dirty="0"/>
              <a:t>• 1. </a:t>
            </a:r>
            <a:r>
              <a:rPr dirty="0" err="1"/>
              <a:t>汇总角色、场景、分镜、图片、音频等结构化资产</a:t>
            </a:r>
            <a:endParaRPr dirty="0"/>
          </a:p>
          <a:p>
            <a:pPr algn="l">
              <a:defRPr sz="1100">
                <a:solidFill>
                  <a:srgbClr val="F0F0F0"/>
                </a:solidFill>
                <a:latin typeface="Arial"/>
              </a:defRPr>
            </a:pPr>
            <a:r>
              <a:rPr dirty="0"/>
              <a:t>• 2. </a:t>
            </a:r>
            <a:r>
              <a:rPr dirty="0" err="1"/>
              <a:t>组装成Unity可直接消费的统一JSON剧本对象</a:t>
            </a:r>
            <a:endParaRPr dirty="0"/>
          </a:p>
          <a:p>
            <a:pPr algn="l">
              <a:defRPr sz="1100">
                <a:solidFill>
                  <a:srgbClr val="F0F0F0"/>
                </a:solidFill>
                <a:latin typeface="Arial"/>
              </a:defRPr>
            </a:pPr>
            <a:r>
              <a:rPr dirty="0"/>
              <a:t>• 3. </a:t>
            </a:r>
            <a:r>
              <a:rPr dirty="0" err="1"/>
              <a:t>通过约定端口把JSON脚本发送给Unity监听程序</a:t>
            </a:r>
            <a:endParaRPr dirty="0"/>
          </a:p>
          <a:p>
            <a:pPr algn="l">
              <a:defRPr sz="1100">
                <a:solidFill>
                  <a:srgbClr val="F0F0F0"/>
                </a:solidFill>
                <a:latin typeface="Arial"/>
              </a:defRPr>
            </a:pPr>
            <a:r>
              <a:rPr dirty="0"/>
              <a:t>• 4. </a:t>
            </a:r>
            <a:r>
              <a:rPr dirty="0" err="1"/>
              <a:t>Unity自动脚本解析器读取JSON并完成场景实例化、角色调度、镜头推进</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lgn="l">
              <a:defRPr sz="3600" b="1">
                <a:solidFill>
                  <a:srgbClr val="FFFFFF"/>
                </a:solidFill>
                <a:latin typeface="Arial"/>
              </a:defRPr>
            </a:pPr>
            <a:r>
              <a:t>技术可行性与创新总结</a:t>
            </a:r>
          </a:p>
        </p:txBody>
      </p:sp>
      <p:sp>
        <p:nvSpPr>
          <p:cNvPr id="3" name="TextBox 2"/>
          <p:cNvSpPr txBox="1"/>
          <p:nvPr/>
        </p:nvSpPr>
        <p:spPr>
          <a:xfrm>
            <a:off x="457200" y="914400"/>
            <a:ext cx="3657600" cy="365760"/>
          </a:xfrm>
          <a:prstGeom prst="rect">
            <a:avLst/>
          </a:prstGeom>
          <a:noFill/>
        </p:spPr>
        <p:txBody>
          <a:bodyPr wrap="none">
            <a:spAutoFit/>
          </a:bodyPr>
          <a:lstStyle/>
          <a:p>
            <a:pPr>
              <a:defRPr sz="1800" b="1">
                <a:solidFill>
                  <a:srgbClr val="1C7293"/>
                </a:solidFill>
              </a:defRPr>
            </a:pPr>
            <a:r>
              <a:t>核心技术指标</a:t>
            </a:r>
          </a:p>
        </p:txBody>
      </p:sp>
      <p:sp>
        <p:nvSpPr>
          <p:cNvPr id="4" name="TextBox 3"/>
          <p:cNvSpPr txBox="1"/>
          <p:nvPr/>
        </p:nvSpPr>
        <p:spPr>
          <a:xfrm>
            <a:off x="457200" y="1325880"/>
            <a:ext cx="4572000" cy="1463040"/>
          </a:xfrm>
          <a:prstGeom prst="rect">
            <a:avLst/>
          </a:prstGeom>
          <a:noFill/>
        </p:spPr>
        <p:txBody>
          <a:bodyPr wrap="square">
            <a:spAutoFit/>
          </a:bodyPr>
          <a:lstStyle/>
          <a:p>
            <a:pPr algn="l">
              <a:defRPr sz="1200">
                <a:solidFill>
                  <a:srgbClr val="F0F0F0"/>
                </a:solidFill>
                <a:latin typeface="Arial"/>
              </a:defRPr>
            </a:pPr>
            <a:r>
              <a:t>• 运动能力: 前进、后退、左转、右转、跳跃、鞠躬等15+种预定义动作</a:t>
            </a:r>
          </a:p>
          <a:p>
            <a:pPr algn="l">
              <a:defRPr sz="1200">
                <a:solidFill>
                  <a:srgbClr val="F0F0F0"/>
                </a:solidFill>
                <a:latin typeface="Arial"/>
              </a:defRPr>
            </a:pPr>
            <a:r>
              <a:t>• 实时角度控制: 支持，可通过HTTP接口实时查询/设置4个舵机角度(0-180度)</a:t>
            </a:r>
          </a:p>
          <a:p>
            <a:pPr algn="l">
              <a:defRPr sz="1200">
                <a:solidFill>
                  <a:srgbClr val="F0F0F0"/>
                </a:solidFill>
                <a:latin typeface="Arial"/>
              </a:defRPr>
            </a:pPr>
            <a:r>
              <a:t>• 通信方式: WiFi 802.11 b/g/n (2.4GHz)，局域网内延迟&lt;50ms</a:t>
            </a:r>
          </a:p>
          <a:p>
            <a:pPr algn="l">
              <a:defRPr sz="1200">
                <a:solidFill>
                  <a:srgbClr val="F0F0F0"/>
                </a:solidFill>
                <a:latin typeface="Arial"/>
              </a:defRPr>
            </a:pPr>
            <a:r>
              <a:t>• 主控芯片: ESP32-C3 (RISC-V架构, 240MHz主频, 内置WiFi)</a:t>
            </a:r>
          </a:p>
          <a:p>
            <a:pPr algn="l">
              <a:defRPr sz="1200">
                <a:solidFill>
                  <a:srgbClr val="F0F0F0"/>
                </a:solidFill>
                <a:latin typeface="Arial"/>
              </a:defRPr>
            </a:pPr>
            <a:r>
              <a:t>• 3D打印材料: PLA/ABS，单件成本5-20元，环保经济</a:t>
            </a:r>
          </a:p>
        </p:txBody>
      </p:sp>
      <p:sp>
        <p:nvSpPr>
          <p:cNvPr id="5" name="TextBox 4"/>
          <p:cNvSpPr txBox="1"/>
          <p:nvPr/>
        </p:nvSpPr>
        <p:spPr>
          <a:xfrm>
            <a:off x="457200" y="2834640"/>
            <a:ext cx="3657600" cy="365760"/>
          </a:xfrm>
          <a:prstGeom prst="rect">
            <a:avLst/>
          </a:prstGeom>
          <a:noFill/>
        </p:spPr>
        <p:txBody>
          <a:bodyPr wrap="none">
            <a:spAutoFit/>
          </a:bodyPr>
          <a:lstStyle/>
          <a:p>
            <a:pPr>
              <a:defRPr sz="1800" b="1">
                <a:solidFill>
                  <a:srgbClr val="1C7293"/>
                </a:solidFill>
              </a:defRPr>
            </a:pPr>
            <a:r>
              <a:t>技术栈概览</a:t>
            </a:r>
          </a:p>
        </p:txBody>
      </p:sp>
      <p:sp>
        <p:nvSpPr>
          <p:cNvPr id="6" name="TextBox 5"/>
          <p:cNvSpPr txBox="1"/>
          <p:nvPr/>
        </p:nvSpPr>
        <p:spPr>
          <a:xfrm>
            <a:off x="457200" y="3246120"/>
            <a:ext cx="4389120" cy="1554480"/>
          </a:xfrm>
          <a:prstGeom prst="rect">
            <a:avLst/>
          </a:prstGeom>
          <a:noFill/>
        </p:spPr>
        <p:txBody>
          <a:bodyPr wrap="square">
            <a:spAutoFit/>
          </a:bodyPr>
          <a:lstStyle/>
          <a:p>
            <a:pPr algn="l">
              <a:defRPr sz="1100">
                <a:solidFill>
                  <a:srgbClr val="F0F0F0"/>
                </a:solidFill>
                <a:latin typeface="Arial"/>
              </a:defRPr>
            </a:pPr>
            <a:r>
              <a:t>• 嵌入式: ESP32-C3, FreeRTOS, LEDC PWM, RISC-V</a:t>
            </a:r>
          </a:p>
          <a:p>
            <a:pPr algn="l">
              <a:defRPr sz="1100">
                <a:solidFill>
                  <a:srgbClr val="F0F0F0"/>
                </a:solidFill>
                <a:latin typeface="Arial"/>
              </a:defRPr>
            </a:pPr>
            <a:r>
              <a:t>• 通信: TCP/IP, HTTP/1.1, UDP, mDNS服务发现</a:t>
            </a:r>
          </a:p>
          <a:p>
            <a:pPr algn="l">
              <a:defRPr sz="1100">
                <a:solidFill>
                  <a:srgbClr val="F0F0F0"/>
                </a:solidFill>
                <a:latin typeface="Arial"/>
              </a:defRPr>
            </a:pPr>
            <a:r>
              <a:t>• 3D打印: CAD建模, STL格式, 切片软件, FDM工艺</a:t>
            </a:r>
          </a:p>
          <a:p>
            <a:pPr algn="l">
              <a:defRPr sz="1100">
                <a:solidFill>
                  <a:srgbClr val="F0F0F0"/>
                </a:solidFill>
                <a:latin typeface="Arial"/>
              </a:defRPr>
            </a:pPr>
            <a:r>
              <a:t>• 机器人学: 步态算法, 逆运动学, 舵机控制, PID控制</a:t>
            </a:r>
          </a:p>
          <a:p>
            <a:pPr algn="l">
              <a:defRPr sz="1100">
                <a:solidFill>
                  <a:srgbClr val="F0F0F0"/>
                </a:solidFill>
                <a:latin typeface="Arial"/>
              </a:defRPr>
            </a:pPr>
            <a:r>
              <a:t>• 软件开发: C, Python, JavaScript, JSON, REST API</a:t>
            </a:r>
          </a:p>
          <a:p>
            <a:pPr algn="l">
              <a:defRPr sz="1100">
                <a:solidFill>
                  <a:srgbClr val="F0F0F0"/>
                </a:solidFill>
                <a:latin typeface="Arial"/>
              </a:defRPr>
            </a:pPr>
            <a:r>
              <a:t>• LLM编排: LangChain, 多Agent协作, 结构化输出, 向量检索</a:t>
            </a:r>
          </a:p>
        </p:txBody>
      </p:sp>
      <p:sp>
        <p:nvSpPr>
          <p:cNvPr id="7" name="TextBox 6"/>
          <p:cNvSpPr txBox="1"/>
          <p:nvPr/>
        </p:nvSpPr>
        <p:spPr>
          <a:xfrm>
            <a:off x="5029200" y="914400"/>
            <a:ext cx="3657600" cy="365760"/>
          </a:xfrm>
          <a:prstGeom prst="rect">
            <a:avLst/>
          </a:prstGeom>
          <a:noFill/>
        </p:spPr>
        <p:txBody>
          <a:bodyPr wrap="none">
            <a:spAutoFit/>
          </a:bodyPr>
          <a:lstStyle/>
          <a:p>
            <a:pPr>
              <a:defRPr sz="1800" b="1">
                <a:solidFill>
                  <a:srgbClr val="1C7293"/>
                </a:solidFill>
              </a:defRPr>
            </a:pPr>
            <a:r>
              <a:t>5大核心创新点</a:t>
            </a:r>
          </a:p>
        </p:txBody>
      </p:sp>
      <p:sp>
        <p:nvSpPr>
          <p:cNvPr id="8" name="TextBox 7"/>
          <p:cNvSpPr txBox="1"/>
          <p:nvPr/>
        </p:nvSpPr>
        <p:spPr>
          <a:xfrm>
            <a:off x="5029200" y="1325880"/>
            <a:ext cx="3657600" cy="1554480"/>
          </a:xfrm>
          <a:prstGeom prst="rect">
            <a:avLst/>
          </a:prstGeom>
          <a:noFill/>
        </p:spPr>
        <p:txBody>
          <a:bodyPr wrap="square">
            <a:spAutoFit/>
          </a:bodyPr>
          <a:lstStyle/>
          <a:p>
            <a:pPr algn="l">
              <a:defRPr sz="1100">
                <a:solidFill>
                  <a:srgbClr val="F0F0F0"/>
                </a:solidFill>
                <a:latin typeface="Arial"/>
              </a:defRPr>
            </a:pPr>
            <a:r>
              <a:rPr dirty="0"/>
              <a:t>• </a:t>
            </a:r>
            <a:r>
              <a:rPr dirty="0" err="1"/>
              <a:t>实时角度传输控制</a:t>
            </a:r>
            <a:r>
              <a:rPr dirty="0"/>
              <a:t> - HTTP接口实现4个舵机角度实时查询与设置</a:t>
            </a:r>
          </a:p>
          <a:p>
            <a:pPr algn="l">
              <a:defRPr sz="1100">
                <a:solidFill>
                  <a:srgbClr val="F0F0F0"/>
                </a:solidFill>
                <a:latin typeface="Arial"/>
              </a:defRPr>
            </a:pPr>
            <a:r>
              <a:rPr dirty="0"/>
              <a:t>• </a:t>
            </a:r>
            <a:r>
              <a:rPr dirty="0" err="1"/>
              <a:t>角度跟踪机制</a:t>
            </a:r>
            <a:r>
              <a:rPr dirty="0"/>
              <a:t> - </a:t>
            </a:r>
            <a:r>
              <a:rPr dirty="0" err="1"/>
              <a:t>系统实时记录每个舵机当前角度，支持状态反馈</a:t>
            </a:r>
            <a:endParaRPr dirty="0"/>
          </a:p>
          <a:p>
            <a:pPr algn="l">
              <a:defRPr sz="1100">
                <a:solidFill>
                  <a:srgbClr val="F0F0F0"/>
                </a:solidFill>
                <a:latin typeface="Arial"/>
              </a:defRPr>
            </a:pPr>
            <a:r>
              <a:rPr dirty="0"/>
              <a:t>• </a:t>
            </a:r>
            <a:r>
              <a:rPr dirty="0" err="1"/>
              <a:t>双模式控制</a:t>
            </a:r>
            <a:r>
              <a:rPr dirty="0"/>
              <a:t> - </a:t>
            </a:r>
            <a:r>
              <a:rPr dirty="0" err="1"/>
              <a:t>既支持预设动作指令，也支持实时角度直传</a:t>
            </a:r>
            <a:endParaRPr dirty="0"/>
          </a:p>
          <a:p>
            <a:pPr algn="l">
              <a:defRPr sz="1100">
                <a:solidFill>
                  <a:srgbClr val="F0F0F0"/>
                </a:solidFill>
                <a:latin typeface="Arial"/>
              </a:defRPr>
            </a:pPr>
            <a:r>
              <a:rPr dirty="0"/>
              <a:t>• 3D打印快速原型 - 利用3D打印技术实现硬件的快速迭代开发</a:t>
            </a:r>
          </a:p>
          <a:p>
            <a:pPr algn="l">
              <a:defRPr sz="1100">
                <a:solidFill>
                  <a:srgbClr val="F0F0F0"/>
                </a:solidFill>
                <a:latin typeface="Arial"/>
              </a:defRPr>
            </a:pPr>
            <a:r>
              <a:rPr dirty="0"/>
              <a:t>• </a:t>
            </a:r>
            <a:r>
              <a:rPr dirty="0" err="1"/>
              <a:t>动作语义剧本</a:t>
            </a:r>
            <a:r>
              <a:rPr dirty="0"/>
              <a:t> -&gt; Unity JSON - </a:t>
            </a:r>
            <a:r>
              <a:rPr dirty="0" err="1"/>
              <a:t>将含动作语义的剧本直接映射为可执行指令</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2230</Words>
  <Application>Microsoft Office PowerPoint</Application>
  <PresentationFormat>全屏显示(16:9)</PresentationFormat>
  <Paragraphs>376</Paragraphs>
  <Slides>17</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等线</vt:lpstr>
      <vt:lpstr>Microsoft YaHei</vt:lpstr>
      <vt:lpstr>Arial</vt:lpstr>
      <vt:lpstr>Calibri</vt:lpstr>
      <vt:lpstr>Consolas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QY Z</cp:lastModifiedBy>
  <cp:revision>44</cp:revision>
  <dcterms:created xsi:type="dcterms:W3CDTF">2013-01-27T09:14:16Z</dcterms:created>
  <dcterms:modified xsi:type="dcterms:W3CDTF">2026-04-22T06:32:29Z</dcterms:modified>
  <cp:category/>
</cp:coreProperties>
</file>